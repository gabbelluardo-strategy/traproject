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8"/>
  </p:notesMasterIdLst>
  <p:sldIdLst>
    <p:sldId id="1093" r:id="rId2"/>
    <p:sldId id="1094" r:id="rId3"/>
    <p:sldId id="1115" r:id="rId5"/>
    <p:sldId id="1120" r:id="rId16"/>
    <p:sldId id="1117" r:id="rId13"/>
    <p:sldId id="1121" r:id="rId17"/>
    <p:sldId id="1122" r:id="rId18"/>
    <p:sldId id="1123" r:id="rId19"/>
    <p:sldId id="1124" r:id="rId20"/>
    <p:sldId id="1125" r:id="rId21"/>
    <p:sldId id="1126" r:id="rId22"/>
    <p:sldId id="1118" r:id="rId14"/>
    <p:sldId id="1119" r:id="rId15"/>
    <p:sldId id="1127" r:id="rId23"/>
    <p:sldId id="1128" r:id="rId24"/>
    <p:sldId id="1116"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76"/>
  </p:normalViewPr>
  <p:slideViewPr>
    <p:cSldViewPr snapToGrid="0">
      <p:cViewPr varScale="1">
        <p:scale>
          <a:sx n="102" d="100"/>
          <a:sy n="102" d="100"/>
        </p:scale>
        <p:origin x="192" y="3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4.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FFDD16-F13B-A44B-8DF9-99A422E2EC0F}" type="datetimeFigureOut">
              <a:rPr lang="en-GB" smtClean="0"/>
              <a:t>14/10/2026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3043EA-61BB-5748-A937-A87EBBDAB119}" type="slidenum">
              <a:rPr lang="en-GB" smtClean="0"/>
              <a:t>‹#›</a:t>
            </a:fld>
            <a:endParaRPr lang="en-GB"/>
          </a:p>
        </p:txBody>
      </p:sp>
    </p:spTree>
    <p:extLst>
      <p:ext uri="{BB962C8B-B14F-4D97-AF65-F5344CB8AC3E}">
        <p14:creationId xmlns:p14="http://schemas.microsoft.com/office/powerpoint/2010/main" val="3937969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4B176-FF3E-C91B-9DB1-10BF8E99F7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032B6D-2627-077E-40E3-DC3BDF3884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D84573-1FBD-88B8-E67B-3EDE6B2C6CD9}"/>
              </a:ext>
            </a:extLst>
          </p:cNvPr>
          <p:cNvSpPr>
            <a:spLocks noGrp="1"/>
          </p:cNvSpPr>
          <p:nvPr>
            <p:ph type="body" idx="1"/>
          </p:nvPr>
        </p:nvSpPr>
        <p:spPr/>
        <p:txBody>
          <a:bodyPr/>
          <a:lstStyle/>
          <a:p>
            <a:r>
              <a:t>One research area, recalibrated on four narrative territories. The sub-items are the sections of the deck.</a:t>
            </a:r>
          </a:p>
        </p:txBody>
      </p:sp>
      <p:sp>
        <p:nvSpPr>
          <p:cNvPr id="4" name="Slide Number Placeholder 3">
            <a:extLst>
              <a:ext uri="{FF2B5EF4-FFF2-40B4-BE49-F238E27FC236}">
                <a16:creationId xmlns:a16="http://schemas.microsoft.com/office/drawing/2014/main" id="{60BDCCC4-CF54-E0A6-CA53-086967F257C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13C8274-9BE6-C443-AB18-1D7E1CA168A4}"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9975868"/>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Recalibrated benchmark: the global sustainability narrative read through four narrative territories (Fair Transition, Customer Trust, Environmental Transformation, Transparency &amp; Accountability). For each player: which activities, and how they tell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Players analysed: Volkswagen, Mercedes-Benz, BMW, Renault, Volvo Cars, Polestar, Toyota, Hyundai/Kia, BYD; beyond automotive: Schneider Electric, Microsoft, Patagonia, Apple, IKEA, Enel, Holcim. Plus Stellantis today.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Players that stay on value claims (“multi-pathway”, “affordable” without an orderable price, “avoided” emissions) get challenged. Since 27 September 2026 the EU Empowering Consumers Directive also requires proof behind generic and future claims.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Strong = quantified proof points and a recognisable format. Medium = partial or contradicted. Weak = mainly value claims or contested. Where the report used an intermediate level (e.g. medium-strong) the map shows the first term; nuances are in the written report. Renault Transparency set to Weak on a single signal (external ratings table on its site).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Readings from the positioning map. They frame why Fair Transition should lead the Stellantis story and why Transparency &amp; Accountability is an open space.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merges two lenses: overall corporate storytelling (organising idea, hub architecture, consistency over time) and the four ESG narrative territories (Fair Transition, Customer Trust, Environmental Transformation, Transparency &amp; Accountability).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VW: progress figures (Decarbonization Index 46.3 t CO2e per vehicle in 2025) from secondary sources; hub visuals not verified. Mercedes: six areas are hard to remember and Ambition 2039 is built on a date. BMW: pay split (about 37%/3%) to re-check. Visuals: volkswagen-group.com/en/sustainability-15772; group.mercedes-benz.com/sustainability; BMW Neue Klasse press materials.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Renault: Re-Factory figures dated 2021-22; no independent test of the “minutes instead of hours” fire claim; Transparency is its weakest territory. Volvo: 55m+ reach of E.V.A. is self-reported. Toyota: 2026 global hub not verified; NGO criticism of multi-pathway from Greenpeace and InfluenceMap.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Polestar figures self-reported. Hyundai/Kia: battery warranty data from secondary sources; IONIQ Forest engagement metrics not published. BYD: Blade Battery nail test dated and not independently replicated; BYD hub not verified.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Microsoft: the only hub read directly (October 2026); criticism over a gas deal with Chevron. Schneider: weight in bonuses not verified. Patagonia: figures self-reported; candour works only when backed by an act. Counter-example: Unilever's quiet 2024 target cuts.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Enel caveat: redeployment share fell to about 30% in 2023, the rest retired; figures dated. Miele figures self-reported. Holcim figures self-reported. Transparency &amp; Accountability remarkable cases are on the storytelling slide (Microsoft, Schneider, Patagonia).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Qualitative reading by the research team, not a rating; based on the sources collected (mostly company-reported). Intermediate levels in the report (medium-strong) are shown as Medium: Mercedes Environmental, BMW Transparency, Volvo Environmental and Transparency. Renault Transparency set to Weak on a single signal (external ratings table). Miele was researched only for Customer Trust, so its other cells mean not analysed. Stellantis row shown for reference and not counted in the totals. Readings: Renault is the most complete carmaker (3 strong); Schneider and Patagonia are the most complete overall; Customer Trust and Environmental Transformation are the most contested territories; Fair Transition and Transparency have the fewest strong players, which is where Stellantis has room.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Sensitive items to present factually: the Texas attorney general's January 2025 suit is against Allstate and its subsidiary Arity and alleges data purchases from several carmakers including Stellantis brands; Stellantis is not a defendant and the outcome is unverified. Italian competition authority (AGCM) probes on Stellantis, Tesla, BYD and VW closed in late 2025 with binding commitments and no fines. Stellantis replied to the Indonesian NGOs that it has no joint venture or formal collaboration on the smelter.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promise is our proposal, to be validated with the ESG and HR Communication teams. Shares to Win participation and conditions need internal verification (the ~11% figure is secondary).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client use, verify: US recall and J.D. Power figures, status of the Texas case, AGCM commitments, Indonesian nickel position, live 2038 pages, SUSTAINera 2025 revenues, reskilling and Shares to Win KPIs, ESG pay metrics, ESG content of the FaSTLAne Investor Day deck, and capture the visuals by hand.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hapter">
    <p:bg>
      <p:bgPr>
        <a:solidFill>
          <a:schemeClr val="accent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2A69F4A-E475-F0B7-1FFB-258074F920B5}"/>
              </a:ext>
            </a:extLst>
          </p:cNvPr>
          <p:cNvSpPr/>
          <p:nvPr userDrawn="1"/>
        </p:nvSpPr>
        <p:spPr>
          <a:xfrm>
            <a:off x="-4172" y="-3176"/>
            <a:ext cx="12196171" cy="6861175"/>
          </a:xfrm>
          <a:prstGeom prst="rect">
            <a:avLst/>
          </a:prstGeom>
          <a:gradFill>
            <a:gsLst>
              <a:gs pos="20000">
                <a:srgbClr val="011845">
                  <a:alpha val="80000"/>
                </a:srgbClr>
              </a:gs>
              <a:gs pos="0">
                <a:srgbClr val="011845"/>
              </a:gs>
              <a:gs pos="100000">
                <a:schemeClr val="accent1">
                  <a:alpha val="0"/>
                </a:schemeClr>
              </a:gs>
            </a:gsLst>
            <a:lin ang="15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buClrTx/>
              <a:defRPr/>
            </a:pPr>
            <a:endParaRPr lang="fr-FR" sz="1800" kern="1200">
              <a:solidFill>
                <a:prstClr val="white"/>
              </a:solidFill>
              <a:latin typeface="Encode Sans ExpandedLight"/>
            </a:endParaRPr>
          </a:p>
        </p:txBody>
      </p:sp>
      <p:sp>
        <p:nvSpPr>
          <p:cNvPr id="4" name="Parallelogram 22">
            <a:extLst>
              <a:ext uri="{FF2B5EF4-FFF2-40B4-BE49-F238E27FC236}">
                <a16:creationId xmlns:a16="http://schemas.microsoft.com/office/drawing/2014/main" id="{2DFE77F4-468B-D729-08D3-5500FA4A0C9F}"/>
              </a:ext>
            </a:extLst>
          </p:cNvPr>
          <p:cNvSpPr/>
          <p:nvPr userDrawn="1"/>
        </p:nvSpPr>
        <p:spPr>
          <a:xfrm>
            <a:off x="-4171" y="-3176"/>
            <a:ext cx="5967314" cy="6867365"/>
          </a:xfrm>
          <a:custGeom>
            <a:avLst/>
            <a:gdLst>
              <a:gd name="connsiteX0" fmla="*/ 0 w 8345097"/>
              <a:gd name="connsiteY0" fmla="*/ 7086360 h 7086360"/>
              <a:gd name="connsiteX1" fmla="*/ 4731137 w 8345097"/>
              <a:gd name="connsiteY1" fmla="*/ 0 h 7086360"/>
              <a:gd name="connsiteX2" fmla="*/ 8345097 w 8345097"/>
              <a:gd name="connsiteY2" fmla="*/ 0 h 7086360"/>
              <a:gd name="connsiteX3" fmla="*/ 3613960 w 8345097"/>
              <a:gd name="connsiteY3" fmla="*/ 7086360 h 7086360"/>
              <a:gd name="connsiteX4" fmla="*/ 0 w 8345097"/>
              <a:gd name="connsiteY4" fmla="*/ 7086360 h 7086360"/>
              <a:gd name="connsiteX0" fmla="*/ 0 w 8345097"/>
              <a:gd name="connsiteY0" fmla="*/ 7097935 h 7097935"/>
              <a:gd name="connsiteX1" fmla="*/ 2381476 w 8345097"/>
              <a:gd name="connsiteY1" fmla="*/ 0 h 7097935"/>
              <a:gd name="connsiteX2" fmla="*/ 8345097 w 8345097"/>
              <a:gd name="connsiteY2" fmla="*/ 11575 h 7097935"/>
              <a:gd name="connsiteX3" fmla="*/ 3613960 w 8345097"/>
              <a:gd name="connsiteY3" fmla="*/ 7097935 h 7097935"/>
              <a:gd name="connsiteX4" fmla="*/ 0 w 8345097"/>
              <a:gd name="connsiteY4" fmla="*/ 7097935 h 7097935"/>
              <a:gd name="connsiteX0" fmla="*/ 0 w 8345097"/>
              <a:gd name="connsiteY0" fmla="*/ 7097935 h 7097935"/>
              <a:gd name="connsiteX1" fmla="*/ 2381476 w 8345097"/>
              <a:gd name="connsiteY1" fmla="*/ 0 h 7097935"/>
              <a:gd name="connsiteX2" fmla="*/ 8345097 w 8345097"/>
              <a:gd name="connsiteY2" fmla="*/ 11575 h 7097935"/>
              <a:gd name="connsiteX3" fmla="*/ 3752856 w 8345097"/>
              <a:gd name="connsiteY3" fmla="*/ 6889590 h 7097935"/>
              <a:gd name="connsiteX4" fmla="*/ 0 w 8345097"/>
              <a:gd name="connsiteY4" fmla="*/ 7097935 h 7097935"/>
              <a:gd name="connsiteX0" fmla="*/ 49207 w 5963621"/>
              <a:gd name="connsiteY0" fmla="*/ 6415028 h 6889590"/>
              <a:gd name="connsiteX1" fmla="*/ 0 w 5963621"/>
              <a:gd name="connsiteY1" fmla="*/ 0 h 6889590"/>
              <a:gd name="connsiteX2" fmla="*/ 5963621 w 5963621"/>
              <a:gd name="connsiteY2" fmla="*/ 11575 h 6889590"/>
              <a:gd name="connsiteX3" fmla="*/ 1371380 w 5963621"/>
              <a:gd name="connsiteY3" fmla="*/ 6889590 h 6889590"/>
              <a:gd name="connsiteX4" fmla="*/ 49207 w 5963621"/>
              <a:gd name="connsiteY4" fmla="*/ 6415028 h 6889590"/>
              <a:gd name="connsiteX0" fmla="*/ 2909 w 5963621"/>
              <a:gd name="connsiteY0" fmla="*/ 6866441 h 6889590"/>
              <a:gd name="connsiteX1" fmla="*/ 0 w 5963621"/>
              <a:gd name="connsiteY1" fmla="*/ 0 h 6889590"/>
              <a:gd name="connsiteX2" fmla="*/ 5963621 w 5963621"/>
              <a:gd name="connsiteY2" fmla="*/ 11575 h 6889590"/>
              <a:gd name="connsiteX3" fmla="*/ 1371380 w 5963621"/>
              <a:gd name="connsiteY3" fmla="*/ 6889590 h 6889590"/>
              <a:gd name="connsiteX4" fmla="*/ 2909 w 5963621"/>
              <a:gd name="connsiteY4" fmla="*/ 6866441 h 6889590"/>
              <a:gd name="connsiteX0" fmla="*/ 3 w 5960715"/>
              <a:gd name="connsiteY0" fmla="*/ 6854866 h 6878015"/>
              <a:gd name="connsiteX1" fmla="*/ 330469 w 5960715"/>
              <a:gd name="connsiteY1" fmla="*/ 321800 h 6878015"/>
              <a:gd name="connsiteX2" fmla="*/ 5960715 w 5960715"/>
              <a:gd name="connsiteY2" fmla="*/ 0 h 6878015"/>
              <a:gd name="connsiteX3" fmla="*/ 1368474 w 5960715"/>
              <a:gd name="connsiteY3" fmla="*/ 6878015 h 6878015"/>
              <a:gd name="connsiteX4" fmla="*/ 3 w 5960715"/>
              <a:gd name="connsiteY4" fmla="*/ 6854866 h 6878015"/>
              <a:gd name="connsiteX0" fmla="*/ 2909 w 5963621"/>
              <a:gd name="connsiteY0" fmla="*/ 6856916 h 6880065"/>
              <a:gd name="connsiteX1" fmla="*/ 0 w 5963621"/>
              <a:gd name="connsiteY1" fmla="*/ 0 h 6880065"/>
              <a:gd name="connsiteX2" fmla="*/ 5963621 w 5963621"/>
              <a:gd name="connsiteY2" fmla="*/ 2050 h 6880065"/>
              <a:gd name="connsiteX3" fmla="*/ 1371380 w 5963621"/>
              <a:gd name="connsiteY3" fmla="*/ 6880065 h 6880065"/>
              <a:gd name="connsiteX4" fmla="*/ 2909 w 5963621"/>
              <a:gd name="connsiteY4" fmla="*/ 6856916 h 6880065"/>
              <a:gd name="connsiteX0" fmla="*/ 215634 w 5963621"/>
              <a:gd name="connsiteY0" fmla="*/ 6682291 h 6880065"/>
              <a:gd name="connsiteX1" fmla="*/ 0 w 5963621"/>
              <a:gd name="connsiteY1" fmla="*/ 0 h 6880065"/>
              <a:gd name="connsiteX2" fmla="*/ 5963621 w 5963621"/>
              <a:gd name="connsiteY2" fmla="*/ 2050 h 6880065"/>
              <a:gd name="connsiteX3" fmla="*/ 1371380 w 5963621"/>
              <a:gd name="connsiteY3" fmla="*/ 6880065 h 6880065"/>
              <a:gd name="connsiteX4" fmla="*/ 215634 w 5963621"/>
              <a:gd name="connsiteY4" fmla="*/ 6682291 h 6880065"/>
              <a:gd name="connsiteX0" fmla="*/ 94984 w 5963621"/>
              <a:gd name="connsiteY0" fmla="*/ 6758491 h 6880065"/>
              <a:gd name="connsiteX1" fmla="*/ 0 w 5963621"/>
              <a:gd name="connsiteY1" fmla="*/ 0 h 6880065"/>
              <a:gd name="connsiteX2" fmla="*/ 5963621 w 5963621"/>
              <a:gd name="connsiteY2" fmla="*/ 2050 h 6880065"/>
              <a:gd name="connsiteX3" fmla="*/ 1371380 w 5963621"/>
              <a:gd name="connsiteY3" fmla="*/ 6880065 h 6880065"/>
              <a:gd name="connsiteX4" fmla="*/ 94984 w 5963621"/>
              <a:gd name="connsiteY4" fmla="*/ 6758491 h 6880065"/>
              <a:gd name="connsiteX0" fmla="*/ 252 w 5964139"/>
              <a:gd name="connsiteY0" fmla="*/ 6856916 h 6880065"/>
              <a:gd name="connsiteX1" fmla="*/ 518 w 5964139"/>
              <a:gd name="connsiteY1" fmla="*/ 0 h 6880065"/>
              <a:gd name="connsiteX2" fmla="*/ 5964139 w 5964139"/>
              <a:gd name="connsiteY2" fmla="*/ 2050 h 6880065"/>
              <a:gd name="connsiteX3" fmla="*/ 1371898 w 5964139"/>
              <a:gd name="connsiteY3" fmla="*/ 6880065 h 6880065"/>
              <a:gd name="connsiteX4" fmla="*/ 252 w 5964139"/>
              <a:gd name="connsiteY4" fmla="*/ 6856916 h 6880065"/>
              <a:gd name="connsiteX0" fmla="*/ 252 w 5964139"/>
              <a:gd name="connsiteY0" fmla="*/ 6856916 h 6864190"/>
              <a:gd name="connsiteX1" fmla="*/ 518 w 5964139"/>
              <a:gd name="connsiteY1" fmla="*/ 0 h 6864190"/>
              <a:gd name="connsiteX2" fmla="*/ 5964139 w 5964139"/>
              <a:gd name="connsiteY2" fmla="*/ 2050 h 6864190"/>
              <a:gd name="connsiteX3" fmla="*/ 1381423 w 5964139"/>
              <a:gd name="connsiteY3" fmla="*/ 6864190 h 6864190"/>
              <a:gd name="connsiteX4" fmla="*/ 252 w 5964139"/>
              <a:gd name="connsiteY4" fmla="*/ 6856916 h 6864190"/>
              <a:gd name="connsiteX0" fmla="*/ 117 w 5967179"/>
              <a:gd name="connsiteY0" fmla="*/ 6856916 h 6864190"/>
              <a:gd name="connsiteX1" fmla="*/ 3558 w 5967179"/>
              <a:gd name="connsiteY1" fmla="*/ 0 h 6864190"/>
              <a:gd name="connsiteX2" fmla="*/ 5967179 w 5967179"/>
              <a:gd name="connsiteY2" fmla="*/ 2050 h 6864190"/>
              <a:gd name="connsiteX3" fmla="*/ 1384463 w 5967179"/>
              <a:gd name="connsiteY3" fmla="*/ 6864190 h 6864190"/>
              <a:gd name="connsiteX4" fmla="*/ 117 w 5967179"/>
              <a:gd name="connsiteY4" fmla="*/ 6856916 h 6864190"/>
              <a:gd name="connsiteX0" fmla="*/ 117 w 5967179"/>
              <a:gd name="connsiteY0" fmla="*/ 6863266 h 6864190"/>
              <a:gd name="connsiteX1" fmla="*/ 3558 w 5967179"/>
              <a:gd name="connsiteY1" fmla="*/ 0 h 6864190"/>
              <a:gd name="connsiteX2" fmla="*/ 5967179 w 5967179"/>
              <a:gd name="connsiteY2" fmla="*/ 2050 h 6864190"/>
              <a:gd name="connsiteX3" fmla="*/ 1384463 w 5967179"/>
              <a:gd name="connsiteY3" fmla="*/ 6864190 h 6864190"/>
              <a:gd name="connsiteX4" fmla="*/ 117 w 5967179"/>
              <a:gd name="connsiteY4" fmla="*/ 6863266 h 6864190"/>
              <a:gd name="connsiteX0" fmla="*/ 252 w 5967314"/>
              <a:gd name="connsiteY0" fmla="*/ 6866441 h 6867365"/>
              <a:gd name="connsiteX1" fmla="*/ 518 w 5967314"/>
              <a:gd name="connsiteY1" fmla="*/ 0 h 6867365"/>
              <a:gd name="connsiteX2" fmla="*/ 5967314 w 5967314"/>
              <a:gd name="connsiteY2" fmla="*/ 5225 h 6867365"/>
              <a:gd name="connsiteX3" fmla="*/ 1384598 w 5967314"/>
              <a:gd name="connsiteY3" fmla="*/ 6867365 h 6867365"/>
              <a:gd name="connsiteX4" fmla="*/ 252 w 5967314"/>
              <a:gd name="connsiteY4" fmla="*/ 6866441 h 6867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314" h="6867365">
                <a:moveTo>
                  <a:pt x="252" y="6866441"/>
                </a:moveTo>
                <a:cubicBezTo>
                  <a:pt x="-718" y="4577627"/>
                  <a:pt x="1488" y="2288814"/>
                  <a:pt x="518" y="0"/>
                </a:cubicBezTo>
                <a:lnTo>
                  <a:pt x="5967314" y="5225"/>
                </a:lnTo>
                <a:lnTo>
                  <a:pt x="1384598" y="6867365"/>
                </a:lnTo>
                <a:lnTo>
                  <a:pt x="252" y="6866441"/>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defTabSz="914377">
              <a:defRPr/>
            </a:pPr>
            <a:endParaRPr lang="ru-RU" sz="2489" kern="1200"/>
          </a:p>
        </p:txBody>
      </p:sp>
      <p:pic>
        <p:nvPicPr>
          <p:cNvPr id="10" name="Image 1">
            <a:extLst>
              <a:ext uri="{FF2B5EF4-FFF2-40B4-BE49-F238E27FC236}">
                <a16:creationId xmlns:a16="http://schemas.microsoft.com/office/drawing/2014/main" id="{2AB36124-2255-AEF0-B398-493EE7C60DD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06335" y="619184"/>
            <a:ext cx="3882500" cy="1019671"/>
          </a:xfrm>
          <a:prstGeom prst="rect">
            <a:avLst/>
          </a:prstGeom>
          <a:noFill/>
          <a:ln>
            <a:noFill/>
          </a:ln>
        </p:spPr>
      </p:pic>
      <p:sp>
        <p:nvSpPr>
          <p:cNvPr id="2" name="Titre 1">
            <a:extLst>
              <a:ext uri="{FF2B5EF4-FFF2-40B4-BE49-F238E27FC236}">
                <a16:creationId xmlns:a16="http://schemas.microsoft.com/office/drawing/2014/main" id="{8934B7DA-FA75-4149-8676-64791F4D66D2}"/>
              </a:ext>
            </a:extLst>
          </p:cNvPr>
          <p:cNvSpPr>
            <a:spLocks noGrp="1"/>
          </p:cNvSpPr>
          <p:nvPr>
            <p:ph type="title" hasCustomPrompt="1"/>
          </p:nvPr>
        </p:nvSpPr>
        <p:spPr>
          <a:xfrm>
            <a:off x="1131889" y="2090899"/>
            <a:ext cx="10440000" cy="1548000"/>
          </a:xfrm>
        </p:spPr>
        <p:txBody>
          <a:bodyPr anchor="b"/>
          <a:lstStyle>
            <a:lvl1pPr>
              <a:defRPr sz="5000" b="0">
                <a:solidFill>
                  <a:schemeClr val="bg1"/>
                </a:solidFill>
                <a:latin typeface="+mn-lt"/>
              </a:defRPr>
            </a:lvl1pPr>
          </a:lstStyle>
          <a:p>
            <a:r>
              <a:rPr lang="en-US" noProof="0"/>
              <a:t>Click to edit Master title style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1131889" y="3709352"/>
            <a:ext cx="10440000" cy="792000"/>
          </a:xfrm>
        </p:spPr>
        <p:txBody>
          <a:bodyPr/>
          <a:lstStyle>
            <a:lvl1pPr>
              <a:defRPr sz="2900" b="0">
                <a:solidFill>
                  <a:schemeClr val="bg1"/>
                </a:solidFill>
                <a:latin typeface="+mn-lt"/>
              </a:defRPr>
            </a:lvl1pPr>
            <a:lvl2pPr>
              <a:defRPr sz="2500">
                <a:latin typeface="Encode Sans ExpandedLight" pitchFamily="2" charset="0"/>
              </a:defRPr>
            </a:lvl2pPr>
            <a:lvl3pPr>
              <a:defRPr sz="2500">
                <a:latin typeface="Encode Sans ExpandedLight" pitchFamily="2" charset="0"/>
              </a:defRPr>
            </a:lvl3pPr>
            <a:lvl4pPr>
              <a:defRPr sz="2500">
                <a:latin typeface="Encode Sans ExpandedLight" pitchFamily="2" charset="0"/>
              </a:defRPr>
            </a:lvl4pPr>
            <a:lvl5pPr>
              <a:defRPr sz="2500">
                <a:latin typeface="Encode Sans ExpandedLight" pitchFamily="2" charset="0"/>
              </a:defRPr>
            </a:lvl5pPr>
          </a:lstStyle>
          <a:p>
            <a:pPr lvl="0"/>
            <a:r>
              <a:rPr lang="en-US" noProof="0"/>
              <a:t>Click to edit master subtitle style</a:t>
            </a:r>
          </a:p>
        </p:txBody>
      </p:sp>
    </p:spTree>
    <p:extLst>
      <p:ext uri="{BB962C8B-B14F-4D97-AF65-F5344CB8AC3E}">
        <p14:creationId xmlns:p14="http://schemas.microsoft.com/office/powerpoint/2010/main" val="836800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 columns with a photo">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56" y="1440919"/>
            <a:ext cx="5472000" cy="1836000"/>
          </a:xfrm>
        </p:spPr>
        <p:txBody>
          <a:bodyPr/>
          <a:lstStyle>
            <a:lvl1pP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3" name="Espace réservé du texte 10">
            <a:extLst>
              <a:ext uri="{FF2B5EF4-FFF2-40B4-BE49-F238E27FC236}">
                <a16:creationId xmlns:a16="http://schemas.microsoft.com/office/drawing/2014/main" id="{C616F341-424E-4ECC-B11D-0008CB10FA11}"/>
              </a:ext>
            </a:extLst>
          </p:cNvPr>
          <p:cNvSpPr>
            <a:spLocks noGrp="1"/>
          </p:cNvSpPr>
          <p:nvPr>
            <p:ph type="body" sz="quarter" idx="18" hasCustomPrompt="1"/>
          </p:nvPr>
        </p:nvSpPr>
        <p:spPr>
          <a:xfrm>
            <a:off x="6262805" y="1440919"/>
            <a:ext cx="5472000" cy="1836000"/>
          </a:xfrm>
        </p:spPr>
        <p:txBody>
          <a:bodyPr/>
          <a:lstStyle>
            <a:lvl1pP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Espace réservé pour une image  33">
            <a:extLst>
              <a:ext uri="{FF2B5EF4-FFF2-40B4-BE49-F238E27FC236}">
                <a16:creationId xmlns:a16="http://schemas.microsoft.com/office/drawing/2014/main" id="{4DCA1355-34B5-49FC-BA6B-273A843D5348}"/>
              </a:ext>
            </a:extLst>
          </p:cNvPr>
          <p:cNvSpPr>
            <a:spLocks noGrp="1"/>
          </p:cNvSpPr>
          <p:nvPr>
            <p:ph type="pic" idx="14" hasCustomPrompt="1"/>
          </p:nvPr>
        </p:nvSpPr>
        <p:spPr>
          <a:xfrm>
            <a:off x="642938" y="3425825"/>
            <a:ext cx="10906128" cy="2916609"/>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2" name="Espace réservé du texte 16">
            <a:extLst>
              <a:ext uri="{FF2B5EF4-FFF2-40B4-BE49-F238E27FC236}">
                <a16:creationId xmlns:a16="http://schemas.microsoft.com/office/drawing/2014/main" id="{3BBE2E00-CF31-C8D9-48EA-8017A8D9990D}"/>
              </a:ext>
            </a:extLst>
          </p:cNvPr>
          <p:cNvSpPr>
            <a:spLocks noGrp="1"/>
          </p:cNvSpPr>
          <p:nvPr>
            <p:ph type="body" idx="19"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2306170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2624400"/>
            <a:ext cx="10800000" cy="360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0" name="Titre 9">
            <a:extLst>
              <a:ext uri="{FF2B5EF4-FFF2-40B4-BE49-F238E27FC236}">
                <a16:creationId xmlns:a16="http://schemas.microsoft.com/office/drawing/2014/main" id="{E51F8B3E-14FB-4855-BA2B-DAC0E96F2123}"/>
              </a:ext>
            </a:extLst>
          </p:cNvPr>
          <p:cNvSpPr>
            <a:spLocks noGrp="1"/>
          </p:cNvSpPr>
          <p:nvPr>
            <p:ph type="title" hasCustomPrompt="1"/>
          </p:nvPr>
        </p:nvSpPr>
        <p:spPr>
          <a:xfrm>
            <a:off x="536400" y="1535088"/>
            <a:ext cx="10800000" cy="864000"/>
          </a:xfrm>
        </p:spPr>
        <p:txBody>
          <a:bodyPr/>
          <a:lstStyle/>
          <a:p>
            <a:r>
              <a:rPr lang="en-US" noProof="0"/>
              <a:t>Click to edit Master title style</a:t>
            </a:r>
          </a:p>
        </p:txBody>
      </p:sp>
      <p:sp>
        <p:nvSpPr>
          <p:cNvPr id="2" name="Espace réservé du texte 16">
            <a:extLst>
              <a:ext uri="{FF2B5EF4-FFF2-40B4-BE49-F238E27FC236}">
                <a16:creationId xmlns:a16="http://schemas.microsoft.com/office/drawing/2014/main" id="{8CEB9FB4-F871-B6D2-0CE7-A4E25AE2A245}"/>
              </a:ext>
            </a:extLst>
          </p:cNvPr>
          <p:cNvSpPr>
            <a:spLocks noGrp="1"/>
          </p:cNvSpPr>
          <p:nvPr>
            <p:ph type="body" idx="18"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3407559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with a photo">
    <p:spTree>
      <p:nvGrpSpPr>
        <p:cNvPr id="1" name=""/>
        <p:cNvGrpSpPr/>
        <p:nvPr/>
      </p:nvGrpSpPr>
      <p:grpSpPr>
        <a:xfrm>
          <a:off x="0" y="0"/>
          <a:ext cx="0" cy="0"/>
          <a:chOff x="0" y="0"/>
          <a:chExt cx="0" cy="0"/>
        </a:xfrm>
      </p:grpSpPr>
      <p:sp>
        <p:nvSpPr>
          <p:cNvPr id="3" name="Google Shape;97;p18">
            <a:extLst>
              <a:ext uri="{FF2B5EF4-FFF2-40B4-BE49-F238E27FC236}">
                <a16:creationId xmlns:a16="http://schemas.microsoft.com/office/drawing/2014/main" id="{AC926F41-199E-5813-86A7-D60C7A20C1CF}"/>
              </a:ext>
            </a:extLst>
          </p:cNvPr>
          <p:cNvSpPr/>
          <p:nvPr userDrawn="1"/>
        </p:nvSpPr>
        <p:spPr>
          <a:xfrm>
            <a:off x="9138483" y="0"/>
            <a:ext cx="3067543" cy="6869574"/>
          </a:xfrm>
          <a:custGeom>
            <a:avLst/>
            <a:gdLst>
              <a:gd name="connsiteX0" fmla="*/ 0 w 7111431"/>
              <a:gd name="connsiteY0" fmla="*/ 6858000 h 6858000"/>
              <a:gd name="connsiteX1" fmla="*/ 3060040 w 7111431"/>
              <a:gd name="connsiteY1" fmla="*/ 0 h 6858000"/>
              <a:gd name="connsiteX2" fmla="*/ 7111431 w 7111431"/>
              <a:gd name="connsiteY2" fmla="*/ 0 h 6858000"/>
              <a:gd name="connsiteX3" fmla="*/ 4051391 w 7111431"/>
              <a:gd name="connsiteY3" fmla="*/ 6858000 h 6858000"/>
              <a:gd name="connsiteX4" fmla="*/ 0 w 7111431"/>
              <a:gd name="connsiteY4" fmla="*/ 6858000 h 6858000"/>
              <a:gd name="connsiteX0" fmla="*/ 0 w 4051391"/>
              <a:gd name="connsiteY0" fmla="*/ 6858000 h 6858000"/>
              <a:gd name="connsiteX1" fmla="*/ 3060040 w 4051391"/>
              <a:gd name="connsiteY1" fmla="*/ 0 h 6858000"/>
              <a:gd name="connsiteX2" fmla="*/ 4051391 w 4051391"/>
              <a:gd name="connsiteY2" fmla="*/ 6858000 h 6858000"/>
              <a:gd name="connsiteX3" fmla="*/ 0 w 4051391"/>
              <a:gd name="connsiteY3" fmla="*/ 6858000 h 6858000"/>
              <a:gd name="connsiteX0" fmla="*/ 0 w 3067543"/>
              <a:gd name="connsiteY0" fmla="*/ 6858000 h 6869574"/>
              <a:gd name="connsiteX1" fmla="*/ 3060040 w 3067543"/>
              <a:gd name="connsiteY1" fmla="*/ 0 h 6869574"/>
              <a:gd name="connsiteX2" fmla="*/ 3067543 w 3067543"/>
              <a:gd name="connsiteY2" fmla="*/ 6869574 h 6869574"/>
              <a:gd name="connsiteX3" fmla="*/ 0 w 3067543"/>
              <a:gd name="connsiteY3" fmla="*/ 6858000 h 6869574"/>
            </a:gdLst>
            <a:ahLst/>
            <a:cxnLst>
              <a:cxn ang="0">
                <a:pos x="connsiteX0" y="connsiteY0"/>
              </a:cxn>
              <a:cxn ang="0">
                <a:pos x="connsiteX1" y="connsiteY1"/>
              </a:cxn>
              <a:cxn ang="0">
                <a:pos x="connsiteX2" y="connsiteY2"/>
              </a:cxn>
              <a:cxn ang="0">
                <a:pos x="connsiteX3" y="connsiteY3"/>
              </a:cxn>
            </a:cxnLst>
            <a:rect l="l" t="t" r="r" b="b"/>
            <a:pathLst>
              <a:path w="3067543" h="6869574">
                <a:moveTo>
                  <a:pt x="0" y="6858000"/>
                </a:moveTo>
                <a:lnTo>
                  <a:pt x="3060040" y="0"/>
                </a:lnTo>
                <a:lnTo>
                  <a:pt x="3067543" y="6869574"/>
                </a:lnTo>
                <a:lnTo>
                  <a:pt x="0" y="6858000"/>
                </a:lnTo>
                <a:close/>
              </a:path>
            </a:pathLst>
          </a:custGeom>
          <a:solidFill>
            <a:schemeClr val="accent2"/>
          </a:solidFill>
          <a:ln>
            <a:noFill/>
          </a:ln>
        </p:spPr>
        <p:txBody>
          <a:bodyPr spcFirstLastPara="1" wrap="square" lIns="121900" tIns="121900" rIns="121900" bIns="121900" anchor="ctr" anchorCtr="0">
            <a:noAutofit/>
          </a:bodyPr>
          <a:lstStyle/>
          <a:p>
            <a:pPr algn="ctr"/>
            <a:endParaRPr sz="2489"/>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2927612"/>
            <a:ext cx="7206312" cy="3240000"/>
          </a:xfrm>
        </p:spPr>
        <p:txBody>
          <a:bodyPr/>
          <a:lstStyle>
            <a:lvl1pPr>
              <a:defRPr sz="1900"/>
            </a:lvl1pPr>
            <a:lvl2pPr>
              <a:defRPr sz="19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10" name="Titre 9">
            <a:extLst>
              <a:ext uri="{FF2B5EF4-FFF2-40B4-BE49-F238E27FC236}">
                <a16:creationId xmlns:a16="http://schemas.microsoft.com/office/drawing/2014/main" id="{E51F8B3E-14FB-4855-BA2B-DAC0E96F2123}"/>
              </a:ext>
            </a:extLst>
          </p:cNvPr>
          <p:cNvSpPr>
            <a:spLocks noGrp="1"/>
          </p:cNvSpPr>
          <p:nvPr>
            <p:ph type="title" hasCustomPrompt="1"/>
          </p:nvPr>
        </p:nvSpPr>
        <p:spPr>
          <a:xfrm>
            <a:off x="536400" y="1635098"/>
            <a:ext cx="7206312" cy="1224000"/>
          </a:xfrm>
        </p:spPr>
        <p:txBody>
          <a:bodyPr/>
          <a:lstStyle>
            <a:lvl1pPr>
              <a:defRPr>
                <a:latin typeface="+mj-lt"/>
              </a:defRPr>
            </a:lvl1pPr>
          </a:lstStyle>
          <a:p>
            <a:r>
              <a:rPr lang="en-US" noProof="0"/>
              <a:t>Click to edit Master title style</a:t>
            </a:r>
          </a:p>
        </p:txBody>
      </p:sp>
      <p:sp>
        <p:nvSpPr>
          <p:cNvPr id="12" name="Espace réservé pour une image  33">
            <a:extLst>
              <a:ext uri="{FF2B5EF4-FFF2-40B4-BE49-F238E27FC236}">
                <a16:creationId xmlns:a16="http://schemas.microsoft.com/office/drawing/2014/main" id="{895E04EA-65C6-4AA2-8F1E-9A4E11C6614A}"/>
              </a:ext>
            </a:extLst>
          </p:cNvPr>
          <p:cNvSpPr>
            <a:spLocks noGrp="1"/>
          </p:cNvSpPr>
          <p:nvPr>
            <p:ph type="pic" idx="14" hasCustomPrompt="1"/>
          </p:nvPr>
        </p:nvSpPr>
        <p:spPr>
          <a:xfrm>
            <a:off x="8019936" y="1357932"/>
            <a:ext cx="3575434" cy="4809680"/>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2" name="Espace réservé du texte 16">
            <a:extLst>
              <a:ext uri="{FF2B5EF4-FFF2-40B4-BE49-F238E27FC236}">
                <a16:creationId xmlns:a16="http://schemas.microsoft.com/office/drawing/2014/main" id="{923D940D-6189-0632-C553-784DD079DE80}"/>
              </a:ext>
            </a:extLst>
          </p:cNvPr>
          <p:cNvSpPr>
            <a:spLocks noGrp="1"/>
          </p:cNvSpPr>
          <p:nvPr>
            <p:ph type="body" idx="1"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1029439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with a small photo">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2927612"/>
            <a:ext cx="7206312" cy="3240000"/>
          </a:xfrm>
        </p:spPr>
        <p:txBody>
          <a:bodyPr/>
          <a:lstStyle>
            <a:lvl1pPr>
              <a:defRPr sz="1900"/>
            </a:lvl1pPr>
            <a:lvl2pPr>
              <a:defRPr sz="19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0" name="Titre 9">
            <a:extLst>
              <a:ext uri="{FF2B5EF4-FFF2-40B4-BE49-F238E27FC236}">
                <a16:creationId xmlns:a16="http://schemas.microsoft.com/office/drawing/2014/main" id="{E51F8B3E-14FB-4855-BA2B-DAC0E96F2123}"/>
              </a:ext>
            </a:extLst>
          </p:cNvPr>
          <p:cNvSpPr>
            <a:spLocks noGrp="1"/>
          </p:cNvSpPr>
          <p:nvPr>
            <p:ph type="title" hasCustomPrompt="1"/>
          </p:nvPr>
        </p:nvSpPr>
        <p:spPr>
          <a:xfrm>
            <a:off x="536400" y="1635098"/>
            <a:ext cx="7206312" cy="1224000"/>
          </a:xfrm>
        </p:spPr>
        <p:txBody>
          <a:bodyPr/>
          <a:lstStyle>
            <a:lvl1pPr>
              <a:defRPr>
                <a:latin typeface="+mj-lt"/>
              </a:defRPr>
            </a:lvl1pPr>
          </a:lstStyle>
          <a:p>
            <a:r>
              <a:rPr lang="en-US" noProof="0"/>
              <a:t>Click to edit Master title style</a:t>
            </a:r>
          </a:p>
        </p:txBody>
      </p:sp>
      <p:sp>
        <p:nvSpPr>
          <p:cNvPr id="12" name="Espace réservé pour une image  33">
            <a:extLst>
              <a:ext uri="{FF2B5EF4-FFF2-40B4-BE49-F238E27FC236}">
                <a16:creationId xmlns:a16="http://schemas.microsoft.com/office/drawing/2014/main" id="{895E04EA-65C6-4AA2-8F1E-9A4E11C6614A}"/>
              </a:ext>
            </a:extLst>
          </p:cNvPr>
          <p:cNvSpPr>
            <a:spLocks noGrp="1"/>
          </p:cNvSpPr>
          <p:nvPr>
            <p:ph type="pic" idx="14" hasCustomPrompt="1"/>
          </p:nvPr>
        </p:nvSpPr>
        <p:spPr>
          <a:xfrm>
            <a:off x="8718825" y="1091196"/>
            <a:ext cx="4917367" cy="5772030"/>
          </a:xfrm>
          <a:custGeom>
            <a:avLst/>
            <a:gdLst>
              <a:gd name="connsiteX0" fmla="*/ 0 w 4901492"/>
              <a:gd name="connsiteY0" fmla="*/ 0 h 5769980"/>
              <a:gd name="connsiteX1" fmla="*/ 4901492 w 4901492"/>
              <a:gd name="connsiteY1" fmla="*/ 0 h 5769980"/>
              <a:gd name="connsiteX2" fmla="*/ 4901492 w 4901492"/>
              <a:gd name="connsiteY2" fmla="*/ 5769980 h 5769980"/>
              <a:gd name="connsiteX3" fmla="*/ 0 w 4901492"/>
              <a:gd name="connsiteY3" fmla="*/ 5769980 h 5769980"/>
              <a:gd name="connsiteX4" fmla="*/ 0 w 4901492"/>
              <a:gd name="connsiteY4" fmla="*/ 0 h 5769980"/>
              <a:gd name="connsiteX0" fmla="*/ 0 w 4901492"/>
              <a:gd name="connsiteY0" fmla="*/ 0 h 5781555"/>
              <a:gd name="connsiteX1" fmla="*/ 4901492 w 4901492"/>
              <a:gd name="connsiteY1" fmla="*/ 0 h 5781555"/>
              <a:gd name="connsiteX2" fmla="*/ 2459233 w 4901492"/>
              <a:gd name="connsiteY2" fmla="*/ 5781555 h 5781555"/>
              <a:gd name="connsiteX3" fmla="*/ 0 w 4901492"/>
              <a:gd name="connsiteY3" fmla="*/ 5769980 h 5781555"/>
              <a:gd name="connsiteX4" fmla="*/ 0 w 4901492"/>
              <a:gd name="connsiteY4" fmla="*/ 0 h 5781555"/>
              <a:gd name="connsiteX0" fmla="*/ 2152891 w 4901492"/>
              <a:gd name="connsiteY0" fmla="*/ 0 h 5781555"/>
              <a:gd name="connsiteX1" fmla="*/ 4901492 w 4901492"/>
              <a:gd name="connsiteY1" fmla="*/ 0 h 5781555"/>
              <a:gd name="connsiteX2" fmla="*/ 2459233 w 4901492"/>
              <a:gd name="connsiteY2" fmla="*/ 5781555 h 5781555"/>
              <a:gd name="connsiteX3" fmla="*/ 0 w 4901492"/>
              <a:gd name="connsiteY3" fmla="*/ 5769980 h 5781555"/>
              <a:gd name="connsiteX4" fmla="*/ 2152891 w 4901492"/>
              <a:gd name="connsiteY4" fmla="*/ 0 h 5781555"/>
              <a:gd name="connsiteX0" fmla="*/ 2419108 w 4901492"/>
              <a:gd name="connsiteY0" fmla="*/ 0 h 5781555"/>
              <a:gd name="connsiteX1" fmla="*/ 4901492 w 4901492"/>
              <a:gd name="connsiteY1" fmla="*/ 0 h 5781555"/>
              <a:gd name="connsiteX2" fmla="*/ 2459233 w 4901492"/>
              <a:gd name="connsiteY2" fmla="*/ 5781555 h 5781555"/>
              <a:gd name="connsiteX3" fmla="*/ 0 w 4901492"/>
              <a:gd name="connsiteY3" fmla="*/ 5769980 h 5781555"/>
              <a:gd name="connsiteX4" fmla="*/ 2419108 w 4901492"/>
              <a:gd name="connsiteY4" fmla="*/ 0 h 5781555"/>
              <a:gd name="connsiteX0" fmla="*/ 2641358 w 4901492"/>
              <a:gd name="connsiteY0" fmla="*/ 3175 h 5781555"/>
              <a:gd name="connsiteX1" fmla="*/ 4901492 w 4901492"/>
              <a:gd name="connsiteY1" fmla="*/ 0 h 5781555"/>
              <a:gd name="connsiteX2" fmla="*/ 2459233 w 4901492"/>
              <a:gd name="connsiteY2" fmla="*/ 5781555 h 5781555"/>
              <a:gd name="connsiteX3" fmla="*/ 0 w 4901492"/>
              <a:gd name="connsiteY3" fmla="*/ 5769980 h 5781555"/>
              <a:gd name="connsiteX4" fmla="*/ 2641358 w 4901492"/>
              <a:gd name="connsiteY4" fmla="*/ 3175 h 5781555"/>
              <a:gd name="connsiteX0" fmla="*/ 2441333 w 4901492"/>
              <a:gd name="connsiteY0" fmla="*/ 3175 h 5781555"/>
              <a:gd name="connsiteX1" fmla="*/ 4901492 w 4901492"/>
              <a:gd name="connsiteY1" fmla="*/ 0 h 5781555"/>
              <a:gd name="connsiteX2" fmla="*/ 2459233 w 4901492"/>
              <a:gd name="connsiteY2" fmla="*/ 5781555 h 5781555"/>
              <a:gd name="connsiteX3" fmla="*/ 0 w 4901492"/>
              <a:gd name="connsiteY3" fmla="*/ 5769980 h 5781555"/>
              <a:gd name="connsiteX4" fmla="*/ 2441333 w 4901492"/>
              <a:gd name="connsiteY4" fmla="*/ 3175 h 5781555"/>
              <a:gd name="connsiteX0" fmla="*/ 2441333 w 4901492"/>
              <a:gd name="connsiteY0" fmla="*/ 3175 h 5769980"/>
              <a:gd name="connsiteX1" fmla="*/ 4901492 w 4901492"/>
              <a:gd name="connsiteY1" fmla="*/ 0 h 5769980"/>
              <a:gd name="connsiteX2" fmla="*/ 2344933 w 4901492"/>
              <a:gd name="connsiteY2" fmla="*/ 5743455 h 5769980"/>
              <a:gd name="connsiteX3" fmla="*/ 0 w 4901492"/>
              <a:gd name="connsiteY3" fmla="*/ 5769980 h 5769980"/>
              <a:gd name="connsiteX4" fmla="*/ 2441333 w 4901492"/>
              <a:gd name="connsiteY4" fmla="*/ 3175 h 5769980"/>
              <a:gd name="connsiteX0" fmla="*/ 2441333 w 4901492"/>
              <a:gd name="connsiteY0" fmla="*/ 3175 h 5775205"/>
              <a:gd name="connsiteX1" fmla="*/ 4901492 w 4901492"/>
              <a:gd name="connsiteY1" fmla="*/ 0 h 5775205"/>
              <a:gd name="connsiteX2" fmla="*/ 2446533 w 4901492"/>
              <a:gd name="connsiteY2" fmla="*/ 5775205 h 5775205"/>
              <a:gd name="connsiteX3" fmla="*/ 0 w 4901492"/>
              <a:gd name="connsiteY3" fmla="*/ 5769980 h 5775205"/>
              <a:gd name="connsiteX4" fmla="*/ 2441333 w 4901492"/>
              <a:gd name="connsiteY4" fmla="*/ 3175 h 5775205"/>
              <a:gd name="connsiteX0" fmla="*/ 2441333 w 4917367"/>
              <a:gd name="connsiteY0" fmla="*/ 0 h 5772030"/>
              <a:gd name="connsiteX1" fmla="*/ 4917367 w 4917367"/>
              <a:gd name="connsiteY1" fmla="*/ 0 h 5772030"/>
              <a:gd name="connsiteX2" fmla="*/ 2446533 w 4917367"/>
              <a:gd name="connsiteY2" fmla="*/ 5772030 h 5772030"/>
              <a:gd name="connsiteX3" fmla="*/ 0 w 4917367"/>
              <a:gd name="connsiteY3" fmla="*/ 5766805 h 5772030"/>
              <a:gd name="connsiteX4" fmla="*/ 2441333 w 4917367"/>
              <a:gd name="connsiteY4" fmla="*/ 0 h 57720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7367" h="5772030">
                <a:moveTo>
                  <a:pt x="2441333" y="0"/>
                </a:moveTo>
                <a:lnTo>
                  <a:pt x="4917367" y="0"/>
                </a:lnTo>
                <a:lnTo>
                  <a:pt x="2446533" y="5772030"/>
                </a:lnTo>
                <a:lnTo>
                  <a:pt x="0" y="5766805"/>
                </a:lnTo>
                <a:lnTo>
                  <a:pt x="2441333" y="0"/>
                </a:lnTo>
                <a:close/>
              </a:path>
            </a:pathLst>
          </a:cu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2" name="Espace réservé du texte 16">
            <a:extLst>
              <a:ext uri="{FF2B5EF4-FFF2-40B4-BE49-F238E27FC236}">
                <a16:creationId xmlns:a16="http://schemas.microsoft.com/office/drawing/2014/main" id="{923D940D-6189-0632-C553-784DD079DE80}"/>
              </a:ext>
            </a:extLst>
          </p:cNvPr>
          <p:cNvSpPr>
            <a:spLocks noGrp="1"/>
          </p:cNvSpPr>
          <p:nvPr>
            <p:ph type="body" idx="1"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
        <p:nvSpPr>
          <p:cNvPr id="13" name="Rectangle 7">
            <a:extLst>
              <a:ext uri="{FF2B5EF4-FFF2-40B4-BE49-F238E27FC236}">
                <a16:creationId xmlns:a16="http://schemas.microsoft.com/office/drawing/2014/main" id="{F5406160-AFD8-CAB4-BD34-E0159F65C63C}"/>
              </a:ext>
            </a:extLst>
          </p:cNvPr>
          <p:cNvSpPr/>
          <p:nvPr userDrawn="1"/>
        </p:nvSpPr>
        <p:spPr>
          <a:xfrm>
            <a:off x="11157996" y="4445448"/>
            <a:ext cx="1034004" cy="2412552"/>
          </a:xfrm>
          <a:custGeom>
            <a:avLst/>
            <a:gdLst>
              <a:gd name="connsiteX0" fmla="*/ 0 w 1034004"/>
              <a:gd name="connsiteY0" fmla="*/ 0 h 2412552"/>
              <a:gd name="connsiteX1" fmla="*/ 1034004 w 1034004"/>
              <a:gd name="connsiteY1" fmla="*/ 0 h 2412552"/>
              <a:gd name="connsiteX2" fmla="*/ 1034004 w 1034004"/>
              <a:gd name="connsiteY2" fmla="*/ 2412552 h 2412552"/>
              <a:gd name="connsiteX3" fmla="*/ 0 w 1034004"/>
              <a:gd name="connsiteY3" fmla="*/ 2412552 h 2412552"/>
              <a:gd name="connsiteX4" fmla="*/ 0 w 1034004"/>
              <a:gd name="connsiteY4" fmla="*/ 0 h 2412552"/>
              <a:gd name="connsiteX0" fmla="*/ 0 w 1034004"/>
              <a:gd name="connsiteY0" fmla="*/ 2412552 h 2412552"/>
              <a:gd name="connsiteX1" fmla="*/ 1034004 w 1034004"/>
              <a:gd name="connsiteY1" fmla="*/ 0 h 2412552"/>
              <a:gd name="connsiteX2" fmla="*/ 1034004 w 1034004"/>
              <a:gd name="connsiteY2" fmla="*/ 2412552 h 2412552"/>
              <a:gd name="connsiteX3" fmla="*/ 0 w 1034004"/>
              <a:gd name="connsiteY3" fmla="*/ 2412552 h 2412552"/>
            </a:gdLst>
            <a:ahLst/>
            <a:cxnLst>
              <a:cxn ang="0">
                <a:pos x="connsiteX0" y="connsiteY0"/>
              </a:cxn>
              <a:cxn ang="0">
                <a:pos x="connsiteX1" y="connsiteY1"/>
              </a:cxn>
              <a:cxn ang="0">
                <a:pos x="connsiteX2" y="connsiteY2"/>
              </a:cxn>
              <a:cxn ang="0">
                <a:pos x="connsiteX3" y="connsiteY3"/>
              </a:cxn>
            </a:cxnLst>
            <a:rect l="l" t="t" r="r" b="b"/>
            <a:pathLst>
              <a:path w="1034004" h="2412552">
                <a:moveTo>
                  <a:pt x="0" y="2412552"/>
                </a:moveTo>
                <a:lnTo>
                  <a:pt x="1034004" y="0"/>
                </a:lnTo>
                <a:lnTo>
                  <a:pt x="1034004" y="2412552"/>
                </a:lnTo>
                <a:lnTo>
                  <a:pt x="0" y="241255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669712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white with a photo">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2" name="Espace réservé pour une image  33">
            <a:extLst>
              <a:ext uri="{FF2B5EF4-FFF2-40B4-BE49-F238E27FC236}">
                <a16:creationId xmlns:a16="http://schemas.microsoft.com/office/drawing/2014/main" id="{895E04EA-65C6-4AA2-8F1E-9A4E11C6614A}"/>
              </a:ext>
            </a:extLst>
          </p:cNvPr>
          <p:cNvSpPr>
            <a:spLocks noGrp="1"/>
          </p:cNvSpPr>
          <p:nvPr>
            <p:ph type="pic" idx="14" hasCustomPrompt="1"/>
          </p:nvPr>
        </p:nvSpPr>
        <p:spPr>
          <a:xfrm>
            <a:off x="6096000" y="1128410"/>
            <a:ext cx="5499370" cy="5039202"/>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14" name="Titre 13">
            <a:extLst>
              <a:ext uri="{FF2B5EF4-FFF2-40B4-BE49-F238E27FC236}">
                <a16:creationId xmlns:a16="http://schemas.microsoft.com/office/drawing/2014/main" id="{8038BA85-2084-4869-B223-D5D52B6CE45D}"/>
              </a:ext>
            </a:extLst>
          </p:cNvPr>
          <p:cNvSpPr>
            <a:spLocks noGrp="1"/>
          </p:cNvSpPr>
          <p:nvPr>
            <p:ph type="title" hasCustomPrompt="1"/>
          </p:nvPr>
        </p:nvSpPr>
        <p:spPr>
          <a:xfrm>
            <a:off x="643890" y="1128410"/>
            <a:ext cx="5452110" cy="5039202"/>
          </a:xfrm>
          <a:custGeom>
            <a:avLst/>
            <a:gdLst>
              <a:gd name="connsiteX0" fmla="*/ 0 w 5452110"/>
              <a:gd name="connsiteY0" fmla="*/ 0 h 5039202"/>
              <a:gd name="connsiteX1" fmla="*/ 5452110 w 5452110"/>
              <a:gd name="connsiteY1" fmla="*/ 0 h 5039202"/>
              <a:gd name="connsiteX2" fmla="*/ 5452110 w 5452110"/>
              <a:gd name="connsiteY2" fmla="*/ 5039202 h 5039202"/>
              <a:gd name="connsiteX3" fmla="*/ 0 w 545211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452110" h="5039202">
                <a:moveTo>
                  <a:pt x="0" y="0"/>
                </a:moveTo>
                <a:lnTo>
                  <a:pt x="5452110" y="0"/>
                </a:lnTo>
                <a:lnTo>
                  <a:pt x="5452110" y="5039202"/>
                </a:lnTo>
                <a:lnTo>
                  <a:pt x="0" y="5039202"/>
                </a:lnTo>
                <a:close/>
              </a:path>
            </a:pathLst>
          </a:custGeom>
          <a:solidFill>
            <a:schemeClr val="tx2"/>
          </a:solidFill>
        </p:spPr>
        <p:txBody>
          <a:bodyPr wrap="square" lIns="360000" tIns="540000" rIns="360000" bIns="360000">
            <a:noAutofit/>
          </a:bodyPr>
          <a:lstStyle>
            <a:lvl1pPr>
              <a:defRPr>
                <a:solidFill>
                  <a:schemeClr val="bg1"/>
                </a:solidFill>
              </a:defRPr>
            </a:lvl1pPr>
          </a:lstStyle>
          <a:p>
            <a:r>
              <a:rPr lang="en-US" noProof="0"/>
              <a:t>Click to edit Master title style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912536" y="2927612"/>
            <a:ext cx="4932000" cy="2880000"/>
          </a:xfrm>
        </p:spPr>
        <p:txBody>
          <a:bodyPr/>
          <a:lstStyle>
            <a:lvl1pPr>
              <a:defRPr sz="1900">
                <a:solidFill>
                  <a:schemeClr val="bg1"/>
                </a:solidFill>
              </a:defRPr>
            </a:lvl1pPr>
            <a:lvl2pPr>
              <a:defRPr sz="19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Espace réservé du texte 16">
            <a:extLst>
              <a:ext uri="{FF2B5EF4-FFF2-40B4-BE49-F238E27FC236}">
                <a16:creationId xmlns:a16="http://schemas.microsoft.com/office/drawing/2014/main" id="{4DFCB1D7-DA62-A3FE-87CB-3CA04AA3E6F3}"/>
              </a:ext>
            </a:extLst>
          </p:cNvPr>
          <p:cNvSpPr>
            <a:spLocks noGrp="1"/>
          </p:cNvSpPr>
          <p:nvPr>
            <p:ph type="body" idx="19"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343434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with highlighting text">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a:xfrm rot="16200000">
            <a:off x="-997200" y="3898800"/>
            <a:ext cx="2520000" cy="133200"/>
          </a:xfrm>
          <a:prstGeom prst="rect">
            <a:avLst/>
          </a:prstGeom>
        </p:spPr>
        <p:txBody>
          <a:bodyPr/>
          <a:lstStyle/>
          <a:p>
            <a:r>
              <a:rPr lang="en-US" b="0" noProof="0"/>
              <a:t>Talent Acquisition Global</a:t>
            </a:r>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2" name="Espace réservé pour une image  33">
            <a:extLst>
              <a:ext uri="{FF2B5EF4-FFF2-40B4-BE49-F238E27FC236}">
                <a16:creationId xmlns:a16="http://schemas.microsoft.com/office/drawing/2014/main" id="{895E04EA-65C6-4AA2-8F1E-9A4E11C6614A}"/>
              </a:ext>
            </a:extLst>
          </p:cNvPr>
          <p:cNvSpPr>
            <a:spLocks noGrp="1"/>
          </p:cNvSpPr>
          <p:nvPr>
            <p:ph type="pic" idx="14" hasCustomPrompt="1"/>
          </p:nvPr>
        </p:nvSpPr>
        <p:spPr>
          <a:xfrm>
            <a:off x="643890" y="1128410"/>
            <a:ext cx="5454000" cy="5039202"/>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15" name="Titre 14">
            <a:extLst>
              <a:ext uri="{FF2B5EF4-FFF2-40B4-BE49-F238E27FC236}">
                <a16:creationId xmlns:a16="http://schemas.microsoft.com/office/drawing/2014/main" id="{135F8181-64D0-4B6F-93D7-8C10D48D5CD1}"/>
              </a:ext>
            </a:extLst>
          </p:cNvPr>
          <p:cNvSpPr>
            <a:spLocks noGrp="1"/>
          </p:cNvSpPr>
          <p:nvPr>
            <p:ph type="title" hasCustomPrompt="1"/>
          </p:nvPr>
        </p:nvSpPr>
        <p:spPr>
          <a:xfrm>
            <a:off x="6094800" y="1128410"/>
            <a:ext cx="5500800" cy="5039202"/>
          </a:xfrm>
          <a:custGeom>
            <a:avLst/>
            <a:gdLst>
              <a:gd name="connsiteX0" fmla="*/ 0 w 5500800"/>
              <a:gd name="connsiteY0" fmla="*/ 0 h 5039202"/>
              <a:gd name="connsiteX1" fmla="*/ 5500800 w 5500800"/>
              <a:gd name="connsiteY1" fmla="*/ 0 h 5039202"/>
              <a:gd name="connsiteX2" fmla="*/ 5500800 w 5500800"/>
              <a:gd name="connsiteY2" fmla="*/ 5039202 h 5039202"/>
              <a:gd name="connsiteX3" fmla="*/ 0 w 550080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500800" h="5039202">
                <a:moveTo>
                  <a:pt x="0" y="0"/>
                </a:moveTo>
                <a:lnTo>
                  <a:pt x="5500800" y="0"/>
                </a:lnTo>
                <a:lnTo>
                  <a:pt x="5500800" y="5039202"/>
                </a:lnTo>
                <a:lnTo>
                  <a:pt x="0" y="5039202"/>
                </a:lnTo>
                <a:close/>
              </a:path>
            </a:pathLst>
          </a:custGeom>
          <a:solidFill>
            <a:schemeClr val="tx2"/>
          </a:solidFill>
        </p:spPr>
        <p:txBody>
          <a:bodyPr wrap="square" lIns="648000" tIns="360000" rIns="360000" bIns="360000" anchor="ctr">
            <a:noAutofit/>
          </a:bodyPr>
          <a:lstStyle>
            <a:lvl1pPr>
              <a:defRPr sz="2400">
                <a:solidFill>
                  <a:schemeClr val="bg1"/>
                </a:solidFill>
              </a:defRPr>
            </a:lvl1pPr>
          </a:lstStyle>
          <a:p>
            <a:r>
              <a:rPr lang="en-US" noProof="0"/>
              <a:t>Click to edit Master title style</a:t>
            </a:r>
          </a:p>
        </p:txBody>
      </p:sp>
      <p:sp>
        <p:nvSpPr>
          <p:cNvPr id="2" name="Espace réservé du texte 16">
            <a:extLst>
              <a:ext uri="{FF2B5EF4-FFF2-40B4-BE49-F238E27FC236}">
                <a16:creationId xmlns:a16="http://schemas.microsoft.com/office/drawing/2014/main" id="{0B1F49C4-DCB1-96F8-2BE8-EDBF7591D129}"/>
              </a:ext>
            </a:extLst>
          </p:cNvPr>
          <p:cNvSpPr>
            <a:spLocks noGrp="1"/>
          </p:cNvSpPr>
          <p:nvPr>
            <p:ph type="body" idx="19"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2857214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in 2 frames with 2 photos">
    <p:spTree>
      <p:nvGrpSpPr>
        <p:cNvPr id="1" name=""/>
        <p:cNvGrpSpPr/>
        <p:nvPr/>
      </p:nvGrpSpPr>
      <p:grpSpPr>
        <a:xfrm>
          <a:off x="0" y="0"/>
          <a:ext cx="0" cy="0"/>
          <a:chOff x="0" y="0"/>
          <a:chExt cx="0" cy="0"/>
        </a:xfrm>
      </p:grpSpPr>
      <p:sp>
        <p:nvSpPr>
          <p:cNvPr id="20" name="Espace réservé du texte 19">
            <a:extLst>
              <a:ext uri="{FF2B5EF4-FFF2-40B4-BE49-F238E27FC236}">
                <a16:creationId xmlns:a16="http://schemas.microsoft.com/office/drawing/2014/main" id="{230AACEC-8150-4E58-B999-2C8E63E1A3E0}"/>
              </a:ext>
            </a:extLst>
          </p:cNvPr>
          <p:cNvSpPr>
            <a:spLocks noGrp="1"/>
          </p:cNvSpPr>
          <p:nvPr>
            <p:ph type="body" sz="quarter" idx="13" hasCustomPrompt="1"/>
          </p:nvPr>
        </p:nvSpPr>
        <p:spPr>
          <a:xfrm>
            <a:off x="643890" y="1128409"/>
            <a:ext cx="5292090" cy="5039202"/>
          </a:xfrm>
          <a:custGeom>
            <a:avLst/>
            <a:gdLst>
              <a:gd name="connsiteX0" fmla="*/ 0 w 5292090"/>
              <a:gd name="connsiteY0" fmla="*/ 0 h 5039202"/>
              <a:gd name="connsiteX1" fmla="*/ 5292090 w 5292090"/>
              <a:gd name="connsiteY1" fmla="*/ 0 h 5039202"/>
              <a:gd name="connsiteX2" fmla="*/ 5292090 w 5292090"/>
              <a:gd name="connsiteY2" fmla="*/ 5039202 h 5039202"/>
              <a:gd name="connsiteX3" fmla="*/ 0 w 529209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292090" h="5039202">
                <a:moveTo>
                  <a:pt x="0" y="0"/>
                </a:moveTo>
                <a:lnTo>
                  <a:pt x="5292090" y="0"/>
                </a:lnTo>
                <a:lnTo>
                  <a:pt x="5292090" y="5039202"/>
                </a:lnTo>
                <a:lnTo>
                  <a:pt x="0" y="5039202"/>
                </a:lnTo>
                <a:close/>
              </a:path>
            </a:pathLst>
          </a:custGeom>
          <a:solidFill>
            <a:schemeClr val="tx2"/>
          </a:solidFill>
        </p:spPr>
        <p:txBody>
          <a:bodyPr wrap="square" lIns="360000" tIns="216000" rIns="360000" bIns="360000">
            <a:noAutofit/>
          </a:bodyPr>
          <a:lstStyle>
            <a:lvl1pPr>
              <a:defRPr sz="1900">
                <a:solidFill>
                  <a:schemeClr val="bg1"/>
                </a:solidFill>
              </a:defRPr>
            </a:lvl1pPr>
            <a:lvl2pPr>
              <a:defRPr sz="19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10" name="Espace réservé pour une image  33">
            <a:extLst>
              <a:ext uri="{FF2B5EF4-FFF2-40B4-BE49-F238E27FC236}">
                <a16:creationId xmlns:a16="http://schemas.microsoft.com/office/drawing/2014/main" id="{EB38C0A6-0F71-4D15-A062-D159A2D723C4}"/>
              </a:ext>
            </a:extLst>
          </p:cNvPr>
          <p:cNvSpPr>
            <a:spLocks noGrp="1"/>
          </p:cNvSpPr>
          <p:nvPr>
            <p:ph type="pic" idx="14" hasCustomPrompt="1"/>
          </p:nvPr>
        </p:nvSpPr>
        <p:spPr>
          <a:xfrm>
            <a:off x="796868" y="2838450"/>
            <a:ext cx="4986135" cy="3160273"/>
          </a:xfrm>
          <a:prstGeom prst="rect">
            <a:avLst/>
          </a:prstGeom>
          <a:noFill/>
          <a:ln w="3175">
            <a:noFill/>
          </a:ln>
        </p:spPr>
        <p:txBody>
          <a:bodyPr wrap="square" anchor="ctr">
            <a:noAutofit/>
          </a:bodyPr>
          <a:lstStyle>
            <a:lvl1pPr marL="0" indent="0" algn="ctr">
              <a:buNone/>
              <a:defRPr sz="1200" b="0" cap="none" baseline="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21" name="Espace réservé du texte 20">
            <a:extLst>
              <a:ext uri="{FF2B5EF4-FFF2-40B4-BE49-F238E27FC236}">
                <a16:creationId xmlns:a16="http://schemas.microsoft.com/office/drawing/2014/main" id="{BF34C298-6747-4F09-827E-E3C9685ACC9F}"/>
              </a:ext>
            </a:extLst>
          </p:cNvPr>
          <p:cNvSpPr>
            <a:spLocks noGrp="1"/>
          </p:cNvSpPr>
          <p:nvPr>
            <p:ph type="body" sz="quarter" idx="18" hasCustomPrompt="1"/>
          </p:nvPr>
        </p:nvSpPr>
        <p:spPr>
          <a:xfrm>
            <a:off x="6256022" y="1128409"/>
            <a:ext cx="5292090" cy="5039202"/>
          </a:xfrm>
          <a:custGeom>
            <a:avLst/>
            <a:gdLst>
              <a:gd name="connsiteX0" fmla="*/ 0 w 5292090"/>
              <a:gd name="connsiteY0" fmla="*/ 0 h 5039202"/>
              <a:gd name="connsiteX1" fmla="*/ 5292090 w 5292090"/>
              <a:gd name="connsiteY1" fmla="*/ 0 h 5039202"/>
              <a:gd name="connsiteX2" fmla="*/ 5292090 w 5292090"/>
              <a:gd name="connsiteY2" fmla="*/ 5039202 h 5039202"/>
              <a:gd name="connsiteX3" fmla="*/ 0 w 529209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292090" h="5039202">
                <a:moveTo>
                  <a:pt x="0" y="0"/>
                </a:moveTo>
                <a:lnTo>
                  <a:pt x="5292090" y="0"/>
                </a:lnTo>
                <a:lnTo>
                  <a:pt x="5292090" y="5039202"/>
                </a:lnTo>
                <a:lnTo>
                  <a:pt x="0" y="5039202"/>
                </a:lnTo>
                <a:close/>
              </a:path>
            </a:pathLst>
          </a:custGeom>
          <a:solidFill>
            <a:schemeClr val="tx2"/>
          </a:solidFill>
        </p:spPr>
        <p:txBody>
          <a:bodyPr wrap="square" lIns="360000" tIns="216000" rIns="360000" bIns="360000">
            <a:noAutofit/>
          </a:bodyPr>
          <a:lstStyle>
            <a:lvl1pPr>
              <a:defRPr sz="1900">
                <a:solidFill>
                  <a:schemeClr val="bg1"/>
                </a:solidFill>
              </a:defRPr>
            </a:lvl1pPr>
            <a:lvl2pPr>
              <a:defRPr sz="19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Espace réservé pour une image  33">
            <a:extLst>
              <a:ext uri="{FF2B5EF4-FFF2-40B4-BE49-F238E27FC236}">
                <a16:creationId xmlns:a16="http://schemas.microsoft.com/office/drawing/2014/main" id="{F597D9F1-2155-4D83-9236-EC04A593F8AA}"/>
              </a:ext>
            </a:extLst>
          </p:cNvPr>
          <p:cNvSpPr>
            <a:spLocks noGrp="1"/>
          </p:cNvSpPr>
          <p:nvPr>
            <p:ph type="pic" idx="19" hasCustomPrompt="1"/>
          </p:nvPr>
        </p:nvSpPr>
        <p:spPr>
          <a:xfrm>
            <a:off x="6409000" y="2838450"/>
            <a:ext cx="4986135" cy="3160273"/>
          </a:xfrm>
          <a:prstGeom prst="rect">
            <a:avLst/>
          </a:prstGeom>
          <a:noFill/>
          <a:ln w="3175">
            <a:noFill/>
          </a:ln>
        </p:spPr>
        <p:txBody>
          <a:bodyPr wrap="square" anchor="ctr">
            <a:noAutofit/>
          </a:bodyPr>
          <a:lstStyle>
            <a:lvl1pPr marL="0" indent="0" algn="ctr">
              <a:buNone/>
              <a:defRPr sz="1200" b="0" cap="none" baseline="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2" name="Espace réservé du texte 16">
            <a:extLst>
              <a:ext uri="{FF2B5EF4-FFF2-40B4-BE49-F238E27FC236}">
                <a16:creationId xmlns:a16="http://schemas.microsoft.com/office/drawing/2014/main" id="{20F472E6-E78E-1155-4F89-819AD2E61E7E}"/>
              </a:ext>
            </a:extLst>
          </p:cNvPr>
          <p:cNvSpPr>
            <a:spLocks noGrp="1"/>
          </p:cNvSpPr>
          <p:nvPr>
            <p:ph type="body" idx="20"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
        <p:nvSpPr>
          <p:cNvPr id="3" name="Espace réservé du numéro de diapositive 7">
            <a:extLst>
              <a:ext uri="{FF2B5EF4-FFF2-40B4-BE49-F238E27FC236}">
                <a16:creationId xmlns:a16="http://schemas.microsoft.com/office/drawing/2014/main" id="{3D75D980-E4C1-70A5-D305-99DEF2F7D675}"/>
              </a:ext>
            </a:extLst>
          </p:cNvPr>
          <p:cNvSpPr>
            <a:spLocks noGrp="1"/>
          </p:cNvSpPr>
          <p:nvPr>
            <p:ph type="sldNum" sz="quarter" idx="17"/>
          </p:nvPr>
        </p:nvSpPr>
        <p:spPr>
          <a:xfrm>
            <a:off x="11328548" y="6397368"/>
            <a:ext cx="541454" cy="184666"/>
          </a:xfrm>
        </p:spPr>
        <p:txBody>
          <a:bodyPr/>
          <a:lstStyle/>
          <a:p>
            <a:fld id="{975A587B-5814-4D9B-9598-FE9CB954CB01}" type="slidenum">
              <a:rPr lang="en-US" noProof="0" smtClean="0"/>
              <a:pPr/>
              <a:t>‹#›</a:t>
            </a:fld>
            <a:endParaRPr lang="en-US" b="0" noProof="0"/>
          </a:p>
        </p:txBody>
      </p:sp>
    </p:spTree>
    <p:extLst>
      <p:ext uri="{BB962C8B-B14F-4D97-AF65-F5344CB8AC3E}">
        <p14:creationId xmlns:p14="http://schemas.microsoft.com/office/powerpoint/2010/main" val="3139935267"/>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with 2 graphs">
    <p:spTree>
      <p:nvGrpSpPr>
        <p:cNvPr id="1" name=""/>
        <p:cNvGrpSpPr/>
        <p:nvPr/>
      </p:nvGrpSpPr>
      <p:grpSpPr>
        <a:xfrm>
          <a:off x="0" y="0"/>
          <a:ext cx="0" cy="0"/>
          <a:chOff x="0" y="0"/>
          <a:chExt cx="0" cy="0"/>
        </a:xfrm>
      </p:grpSpPr>
      <p:sp>
        <p:nvSpPr>
          <p:cNvPr id="23" name="Espace réservé du texte 22">
            <a:extLst>
              <a:ext uri="{FF2B5EF4-FFF2-40B4-BE49-F238E27FC236}">
                <a16:creationId xmlns:a16="http://schemas.microsoft.com/office/drawing/2014/main" id="{E81FFD1A-90DF-48A1-9716-E41ABD43762E}"/>
              </a:ext>
            </a:extLst>
          </p:cNvPr>
          <p:cNvSpPr>
            <a:spLocks noGrp="1"/>
          </p:cNvSpPr>
          <p:nvPr>
            <p:ph type="body" sz="quarter" idx="18" hasCustomPrompt="1"/>
          </p:nvPr>
        </p:nvSpPr>
        <p:spPr>
          <a:xfrm>
            <a:off x="6126319" y="1128407"/>
            <a:ext cx="5462565" cy="5256000"/>
          </a:xfrm>
          <a:custGeom>
            <a:avLst/>
            <a:gdLst>
              <a:gd name="connsiteX0" fmla="*/ 0 w 5462565"/>
              <a:gd name="connsiteY0" fmla="*/ 0 h 5256000"/>
              <a:gd name="connsiteX1" fmla="*/ 5462565 w 5462565"/>
              <a:gd name="connsiteY1" fmla="*/ 0 h 5256000"/>
              <a:gd name="connsiteX2" fmla="*/ 5462565 w 5462565"/>
              <a:gd name="connsiteY2" fmla="*/ 5256000 h 5256000"/>
              <a:gd name="connsiteX3" fmla="*/ 0 w 5462565"/>
              <a:gd name="connsiteY3" fmla="*/ 5256000 h 5256000"/>
            </a:gdLst>
            <a:ahLst/>
            <a:cxnLst>
              <a:cxn ang="0">
                <a:pos x="connsiteX0" y="connsiteY0"/>
              </a:cxn>
              <a:cxn ang="0">
                <a:pos x="connsiteX1" y="connsiteY1"/>
              </a:cxn>
              <a:cxn ang="0">
                <a:pos x="connsiteX2" y="connsiteY2"/>
              </a:cxn>
              <a:cxn ang="0">
                <a:pos x="connsiteX3" y="connsiteY3"/>
              </a:cxn>
            </a:cxnLst>
            <a:rect l="l" t="t" r="r" b="b"/>
            <a:pathLst>
              <a:path w="5462565" h="5256000">
                <a:moveTo>
                  <a:pt x="0" y="0"/>
                </a:moveTo>
                <a:lnTo>
                  <a:pt x="5462565" y="0"/>
                </a:lnTo>
                <a:lnTo>
                  <a:pt x="5462565" y="5256000"/>
                </a:lnTo>
                <a:lnTo>
                  <a:pt x="0" y="5256000"/>
                </a:lnTo>
                <a:close/>
              </a:path>
            </a:pathLst>
          </a:custGeom>
          <a:solidFill>
            <a:schemeClr val="tx1">
              <a:lumMod val="10000"/>
              <a:lumOff val="90000"/>
            </a:schemeClr>
          </a:solidFill>
        </p:spPr>
        <p:txBody>
          <a:bodyPr wrap="square" lIns="216000" tIns="216000" rIns="216000" bIns="216000">
            <a:noAutofit/>
          </a:bodyPr>
          <a:lstStyle>
            <a:lvl1pPr>
              <a:defRPr sz="1900"/>
            </a:lvl1pPr>
            <a:lvl2pPr>
              <a:defRPr sz="17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536400" y="2556822"/>
            <a:ext cx="5076000" cy="3636000"/>
          </a:xfrm>
          <a:noFill/>
        </p:spPr>
        <p:txBody>
          <a:bodyPr anchor="ctr"/>
          <a:lstStyle>
            <a:lvl1pPr algn="ctr">
              <a:defRPr sz="1200" b="0"/>
            </a:lvl1pPr>
          </a:lstStyle>
          <a:p>
            <a:r>
              <a:rPr lang="en-US" noProof="0"/>
              <a:t>Graph</a:t>
            </a:r>
          </a:p>
        </p:txBody>
      </p:sp>
      <p:sp>
        <p:nvSpPr>
          <p:cNvPr id="21" name="Espace réservé du graphique 2">
            <a:extLst>
              <a:ext uri="{FF2B5EF4-FFF2-40B4-BE49-F238E27FC236}">
                <a16:creationId xmlns:a16="http://schemas.microsoft.com/office/drawing/2014/main" id="{EBA46C1A-FD0D-44CC-9BA2-F8724E59CBE7}"/>
              </a:ext>
            </a:extLst>
          </p:cNvPr>
          <p:cNvSpPr>
            <a:spLocks noGrp="1"/>
          </p:cNvSpPr>
          <p:nvPr>
            <p:ph type="chart" sz="quarter" idx="21" hasCustomPrompt="1"/>
          </p:nvPr>
        </p:nvSpPr>
        <p:spPr>
          <a:xfrm>
            <a:off x="6321428" y="2556822"/>
            <a:ext cx="5076000" cy="3636000"/>
          </a:xfrm>
          <a:noFill/>
        </p:spPr>
        <p:txBody>
          <a:bodyPr anchor="ctr"/>
          <a:lstStyle>
            <a:lvl1pPr algn="ctr">
              <a:defRPr sz="1200" b="0"/>
            </a:lvl1pPr>
          </a:lstStyle>
          <a:p>
            <a:r>
              <a:rPr lang="en-US" noProof="0"/>
              <a:t>Graph</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1304733"/>
            <a:ext cx="5076000" cy="1707159"/>
          </a:xfrm>
        </p:spPr>
        <p:txBody>
          <a:bodyPr/>
          <a:lstStyle>
            <a:lvl1pPr>
              <a:defRPr sz="1900"/>
            </a:lvl1pPr>
            <a:lvl2pPr>
              <a:defRPr sz="17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Espace réservé du texte 16">
            <a:extLst>
              <a:ext uri="{FF2B5EF4-FFF2-40B4-BE49-F238E27FC236}">
                <a16:creationId xmlns:a16="http://schemas.microsoft.com/office/drawing/2014/main" id="{47F0136F-2D64-433D-A5B2-DB1BA419C0CC}"/>
              </a:ext>
            </a:extLst>
          </p:cNvPr>
          <p:cNvSpPr>
            <a:spLocks noGrp="1"/>
          </p:cNvSpPr>
          <p:nvPr>
            <p:ph type="body" idx="22"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3578259526"/>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with a graph">
    <p:spTree>
      <p:nvGrpSpPr>
        <p:cNvPr id="1" name=""/>
        <p:cNvGrpSpPr/>
        <p:nvPr/>
      </p:nvGrpSpPr>
      <p:grpSpPr>
        <a:xfrm>
          <a:off x="0" y="0"/>
          <a:ext cx="0" cy="0"/>
          <a:chOff x="0" y="0"/>
          <a:chExt cx="0" cy="0"/>
        </a:xfrm>
      </p:grpSpPr>
      <p:sp>
        <p:nvSpPr>
          <p:cNvPr id="3" name="Google Shape;97;p18">
            <a:extLst>
              <a:ext uri="{FF2B5EF4-FFF2-40B4-BE49-F238E27FC236}">
                <a16:creationId xmlns:a16="http://schemas.microsoft.com/office/drawing/2014/main" id="{2DFB32D6-DA7A-B5AB-6F9C-0D80D5E3B3DF}"/>
              </a:ext>
            </a:extLst>
          </p:cNvPr>
          <p:cNvSpPr/>
          <p:nvPr userDrawn="1"/>
        </p:nvSpPr>
        <p:spPr>
          <a:xfrm>
            <a:off x="9138483" y="0"/>
            <a:ext cx="3067543" cy="6869574"/>
          </a:xfrm>
          <a:custGeom>
            <a:avLst/>
            <a:gdLst>
              <a:gd name="connsiteX0" fmla="*/ 0 w 7111431"/>
              <a:gd name="connsiteY0" fmla="*/ 6858000 h 6858000"/>
              <a:gd name="connsiteX1" fmla="*/ 3060040 w 7111431"/>
              <a:gd name="connsiteY1" fmla="*/ 0 h 6858000"/>
              <a:gd name="connsiteX2" fmla="*/ 7111431 w 7111431"/>
              <a:gd name="connsiteY2" fmla="*/ 0 h 6858000"/>
              <a:gd name="connsiteX3" fmla="*/ 4051391 w 7111431"/>
              <a:gd name="connsiteY3" fmla="*/ 6858000 h 6858000"/>
              <a:gd name="connsiteX4" fmla="*/ 0 w 7111431"/>
              <a:gd name="connsiteY4" fmla="*/ 6858000 h 6858000"/>
              <a:gd name="connsiteX0" fmla="*/ 0 w 4051391"/>
              <a:gd name="connsiteY0" fmla="*/ 6858000 h 6858000"/>
              <a:gd name="connsiteX1" fmla="*/ 3060040 w 4051391"/>
              <a:gd name="connsiteY1" fmla="*/ 0 h 6858000"/>
              <a:gd name="connsiteX2" fmla="*/ 4051391 w 4051391"/>
              <a:gd name="connsiteY2" fmla="*/ 6858000 h 6858000"/>
              <a:gd name="connsiteX3" fmla="*/ 0 w 4051391"/>
              <a:gd name="connsiteY3" fmla="*/ 6858000 h 6858000"/>
              <a:gd name="connsiteX0" fmla="*/ 0 w 3067543"/>
              <a:gd name="connsiteY0" fmla="*/ 6858000 h 6869574"/>
              <a:gd name="connsiteX1" fmla="*/ 3060040 w 3067543"/>
              <a:gd name="connsiteY1" fmla="*/ 0 h 6869574"/>
              <a:gd name="connsiteX2" fmla="*/ 3067543 w 3067543"/>
              <a:gd name="connsiteY2" fmla="*/ 6869574 h 6869574"/>
              <a:gd name="connsiteX3" fmla="*/ 0 w 3067543"/>
              <a:gd name="connsiteY3" fmla="*/ 6858000 h 6869574"/>
            </a:gdLst>
            <a:ahLst/>
            <a:cxnLst>
              <a:cxn ang="0">
                <a:pos x="connsiteX0" y="connsiteY0"/>
              </a:cxn>
              <a:cxn ang="0">
                <a:pos x="connsiteX1" y="connsiteY1"/>
              </a:cxn>
              <a:cxn ang="0">
                <a:pos x="connsiteX2" y="connsiteY2"/>
              </a:cxn>
              <a:cxn ang="0">
                <a:pos x="connsiteX3" y="connsiteY3"/>
              </a:cxn>
            </a:cxnLst>
            <a:rect l="l" t="t" r="r" b="b"/>
            <a:pathLst>
              <a:path w="3067543" h="6869574">
                <a:moveTo>
                  <a:pt x="0" y="6858000"/>
                </a:moveTo>
                <a:lnTo>
                  <a:pt x="3060040" y="0"/>
                </a:lnTo>
                <a:lnTo>
                  <a:pt x="3067543" y="6869574"/>
                </a:lnTo>
                <a:lnTo>
                  <a:pt x="0" y="6858000"/>
                </a:lnTo>
                <a:close/>
              </a:path>
            </a:pathLst>
          </a:custGeom>
          <a:solidFill>
            <a:schemeClr val="tx2">
              <a:lumMod val="20000"/>
              <a:lumOff val="80000"/>
              <a:alpha val="50000"/>
            </a:schemeClr>
          </a:solidFill>
          <a:ln>
            <a:noFill/>
          </a:ln>
        </p:spPr>
        <p:txBody>
          <a:bodyPr spcFirstLastPara="1" wrap="square" lIns="121900" tIns="121900" rIns="121900" bIns="121900" anchor="ctr" anchorCtr="0">
            <a:noAutofit/>
          </a:bodyPr>
          <a:lstStyle/>
          <a:p>
            <a:pPr algn="ctr"/>
            <a:endParaRPr sz="2489"/>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536400" y="2556822"/>
            <a:ext cx="11052484" cy="3744000"/>
          </a:xfrm>
          <a:noFill/>
        </p:spPr>
        <p:txBody>
          <a:bodyPr anchor="ctr"/>
          <a:lstStyle>
            <a:lvl1pPr algn="ctr">
              <a:defRPr sz="1200" b="0"/>
            </a:lvl1pPr>
          </a:lstStyle>
          <a:p>
            <a:r>
              <a:rPr lang="en-US" noProof="0"/>
              <a:t>Graph</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1337159"/>
            <a:ext cx="11052484" cy="1707159"/>
          </a:xfrm>
        </p:spPr>
        <p:txBody>
          <a:bodyPr/>
          <a:lstStyle>
            <a:lvl1pPr>
              <a:defRPr sz="2400"/>
            </a:lvl1pPr>
            <a:lvl2pPr>
              <a:defRPr sz="24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Espace réservé du texte 16">
            <a:extLst>
              <a:ext uri="{FF2B5EF4-FFF2-40B4-BE49-F238E27FC236}">
                <a16:creationId xmlns:a16="http://schemas.microsoft.com/office/drawing/2014/main" id="{B419FC59-E72A-9E22-FA92-D938437A06E6}"/>
              </a:ext>
            </a:extLst>
          </p:cNvPr>
          <p:cNvSpPr>
            <a:spLocks noGrp="1"/>
          </p:cNvSpPr>
          <p:nvPr>
            <p:ph type="body" idx="21"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1807780601"/>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with a graph and a frame ">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536400" y="2556822"/>
            <a:ext cx="7019999" cy="3600138"/>
          </a:xfrm>
          <a:noFill/>
        </p:spPr>
        <p:txBody>
          <a:bodyPr anchor="ctr"/>
          <a:lstStyle>
            <a:lvl1pPr algn="ctr">
              <a:defRPr sz="1200" b="0"/>
            </a:lvl1pPr>
          </a:lstStyle>
          <a:p>
            <a:r>
              <a:rPr lang="en-US" noProof="0"/>
              <a:t>Graph</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399" y="1337159"/>
            <a:ext cx="7020000" cy="1707159"/>
          </a:xfrm>
        </p:spPr>
        <p:txBody>
          <a:bodyPr/>
          <a:lstStyle>
            <a:lvl1pPr>
              <a:defRPr sz="2400"/>
            </a:lvl1pPr>
            <a:lvl2pPr>
              <a:defRPr sz="24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Espace réservé du texte 12">
            <a:extLst>
              <a:ext uri="{FF2B5EF4-FFF2-40B4-BE49-F238E27FC236}">
                <a16:creationId xmlns:a16="http://schemas.microsoft.com/office/drawing/2014/main" id="{718BF0D1-2051-4CDC-8776-6ACE284695A6}"/>
              </a:ext>
            </a:extLst>
          </p:cNvPr>
          <p:cNvSpPr>
            <a:spLocks noGrp="1"/>
          </p:cNvSpPr>
          <p:nvPr>
            <p:ph type="body" sz="quarter" idx="18" hasCustomPrompt="1"/>
          </p:nvPr>
        </p:nvSpPr>
        <p:spPr>
          <a:xfrm>
            <a:off x="7917908" y="1288067"/>
            <a:ext cx="3656872" cy="4868893"/>
          </a:xfrm>
          <a:custGeom>
            <a:avLst/>
            <a:gdLst>
              <a:gd name="connsiteX0" fmla="*/ 0 w 3656872"/>
              <a:gd name="connsiteY0" fmla="*/ 0 h 4868893"/>
              <a:gd name="connsiteX1" fmla="*/ 3656872 w 3656872"/>
              <a:gd name="connsiteY1" fmla="*/ 0 h 4868893"/>
              <a:gd name="connsiteX2" fmla="*/ 3656872 w 3656872"/>
              <a:gd name="connsiteY2" fmla="*/ 4868893 h 4868893"/>
              <a:gd name="connsiteX3" fmla="*/ 0 w 3656872"/>
              <a:gd name="connsiteY3" fmla="*/ 4868893 h 4868893"/>
            </a:gdLst>
            <a:ahLst/>
            <a:cxnLst>
              <a:cxn ang="0">
                <a:pos x="connsiteX0" y="connsiteY0"/>
              </a:cxn>
              <a:cxn ang="0">
                <a:pos x="connsiteX1" y="connsiteY1"/>
              </a:cxn>
              <a:cxn ang="0">
                <a:pos x="connsiteX2" y="connsiteY2"/>
              </a:cxn>
              <a:cxn ang="0">
                <a:pos x="connsiteX3" y="connsiteY3"/>
              </a:cxn>
            </a:cxnLst>
            <a:rect l="l" t="t" r="r" b="b"/>
            <a:pathLst>
              <a:path w="3656872" h="4868893">
                <a:moveTo>
                  <a:pt x="0" y="0"/>
                </a:moveTo>
                <a:lnTo>
                  <a:pt x="3656872" y="0"/>
                </a:lnTo>
                <a:lnTo>
                  <a:pt x="3656872" y="4868893"/>
                </a:lnTo>
                <a:lnTo>
                  <a:pt x="0" y="4868893"/>
                </a:lnTo>
                <a:close/>
              </a:path>
            </a:pathLst>
          </a:custGeom>
          <a:solidFill>
            <a:schemeClr val="tx2"/>
          </a:solidFill>
        </p:spPr>
        <p:txBody>
          <a:bodyPr wrap="square" lIns="288000" tIns="288000" rIns="288000" bIns="288000">
            <a:noAutofit/>
          </a:bodyPr>
          <a:lstStyle>
            <a:lvl1pPr>
              <a:defRPr sz="1900">
                <a:solidFill>
                  <a:schemeClr val="bg1"/>
                </a:solidFill>
              </a:defRPr>
            </a:lvl1pPr>
            <a:lvl2pPr>
              <a:defRPr sz="19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Espace réservé du texte 16">
            <a:extLst>
              <a:ext uri="{FF2B5EF4-FFF2-40B4-BE49-F238E27FC236}">
                <a16:creationId xmlns:a16="http://schemas.microsoft.com/office/drawing/2014/main" id="{BE6F09B7-3337-9809-7A66-378FD8DD802E}"/>
              </a:ext>
            </a:extLst>
          </p:cNvPr>
          <p:cNvSpPr>
            <a:spLocks noGrp="1"/>
          </p:cNvSpPr>
          <p:nvPr>
            <p:ph type="body" idx="21"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3442684688"/>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raph with 2 texts in 2 frames">
    <p:spTree>
      <p:nvGrpSpPr>
        <p:cNvPr id="1" name=""/>
        <p:cNvGrpSpPr/>
        <p:nvPr/>
      </p:nvGrpSpPr>
      <p:grpSpPr>
        <a:xfrm>
          <a:off x="0" y="0"/>
          <a:ext cx="0" cy="0"/>
          <a:chOff x="0" y="0"/>
          <a:chExt cx="0" cy="0"/>
        </a:xfrm>
      </p:grpSpPr>
      <p:sp>
        <p:nvSpPr>
          <p:cNvPr id="6" name="Google Shape;97;p18">
            <a:extLst>
              <a:ext uri="{FF2B5EF4-FFF2-40B4-BE49-F238E27FC236}">
                <a16:creationId xmlns:a16="http://schemas.microsoft.com/office/drawing/2014/main" id="{7A71E5F9-2365-0D29-820A-7C151A43798F}"/>
              </a:ext>
            </a:extLst>
          </p:cNvPr>
          <p:cNvSpPr/>
          <p:nvPr userDrawn="1"/>
        </p:nvSpPr>
        <p:spPr>
          <a:xfrm>
            <a:off x="9138483" y="0"/>
            <a:ext cx="3067543" cy="6869574"/>
          </a:xfrm>
          <a:custGeom>
            <a:avLst/>
            <a:gdLst>
              <a:gd name="connsiteX0" fmla="*/ 0 w 7111431"/>
              <a:gd name="connsiteY0" fmla="*/ 6858000 h 6858000"/>
              <a:gd name="connsiteX1" fmla="*/ 3060040 w 7111431"/>
              <a:gd name="connsiteY1" fmla="*/ 0 h 6858000"/>
              <a:gd name="connsiteX2" fmla="*/ 7111431 w 7111431"/>
              <a:gd name="connsiteY2" fmla="*/ 0 h 6858000"/>
              <a:gd name="connsiteX3" fmla="*/ 4051391 w 7111431"/>
              <a:gd name="connsiteY3" fmla="*/ 6858000 h 6858000"/>
              <a:gd name="connsiteX4" fmla="*/ 0 w 7111431"/>
              <a:gd name="connsiteY4" fmla="*/ 6858000 h 6858000"/>
              <a:gd name="connsiteX0" fmla="*/ 0 w 4051391"/>
              <a:gd name="connsiteY0" fmla="*/ 6858000 h 6858000"/>
              <a:gd name="connsiteX1" fmla="*/ 3060040 w 4051391"/>
              <a:gd name="connsiteY1" fmla="*/ 0 h 6858000"/>
              <a:gd name="connsiteX2" fmla="*/ 4051391 w 4051391"/>
              <a:gd name="connsiteY2" fmla="*/ 6858000 h 6858000"/>
              <a:gd name="connsiteX3" fmla="*/ 0 w 4051391"/>
              <a:gd name="connsiteY3" fmla="*/ 6858000 h 6858000"/>
              <a:gd name="connsiteX0" fmla="*/ 0 w 3067543"/>
              <a:gd name="connsiteY0" fmla="*/ 6858000 h 6869574"/>
              <a:gd name="connsiteX1" fmla="*/ 3060040 w 3067543"/>
              <a:gd name="connsiteY1" fmla="*/ 0 h 6869574"/>
              <a:gd name="connsiteX2" fmla="*/ 3067543 w 3067543"/>
              <a:gd name="connsiteY2" fmla="*/ 6869574 h 6869574"/>
              <a:gd name="connsiteX3" fmla="*/ 0 w 3067543"/>
              <a:gd name="connsiteY3" fmla="*/ 6858000 h 6869574"/>
            </a:gdLst>
            <a:ahLst/>
            <a:cxnLst>
              <a:cxn ang="0">
                <a:pos x="connsiteX0" y="connsiteY0"/>
              </a:cxn>
              <a:cxn ang="0">
                <a:pos x="connsiteX1" y="connsiteY1"/>
              </a:cxn>
              <a:cxn ang="0">
                <a:pos x="connsiteX2" y="connsiteY2"/>
              </a:cxn>
              <a:cxn ang="0">
                <a:pos x="connsiteX3" y="connsiteY3"/>
              </a:cxn>
            </a:cxnLst>
            <a:rect l="l" t="t" r="r" b="b"/>
            <a:pathLst>
              <a:path w="3067543" h="6869574">
                <a:moveTo>
                  <a:pt x="0" y="6858000"/>
                </a:moveTo>
                <a:lnTo>
                  <a:pt x="3060040" y="0"/>
                </a:lnTo>
                <a:lnTo>
                  <a:pt x="3067543" y="6869574"/>
                </a:lnTo>
                <a:lnTo>
                  <a:pt x="0" y="6858000"/>
                </a:lnTo>
                <a:close/>
              </a:path>
            </a:pathLst>
          </a:custGeom>
          <a:solidFill>
            <a:schemeClr val="tx2">
              <a:lumMod val="20000"/>
              <a:lumOff val="80000"/>
              <a:alpha val="50000"/>
            </a:schemeClr>
          </a:solidFill>
          <a:ln>
            <a:noFill/>
          </a:ln>
        </p:spPr>
        <p:txBody>
          <a:bodyPr spcFirstLastPara="1" wrap="square" lIns="121900" tIns="121900" rIns="121900" bIns="121900" anchor="ctr" anchorCtr="0">
            <a:noAutofit/>
          </a:bodyPr>
          <a:lstStyle/>
          <a:p>
            <a:pPr algn="ctr"/>
            <a:endParaRPr sz="2489"/>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536401" y="1337159"/>
            <a:ext cx="5400000" cy="4819801"/>
          </a:xfrm>
          <a:noFill/>
        </p:spPr>
        <p:txBody>
          <a:bodyPr anchor="ctr"/>
          <a:lstStyle>
            <a:lvl1pPr algn="ctr">
              <a:defRPr sz="1200" b="0"/>
            </a:lvl1pPr>
          </a:lstStyle>
          <a:p>
            <a:r>
              <a:rPr lang="en-US" noProof="0"/>
              <a:t>Graph</a:t>
            </a:r>
          </a:p>
        </p:txBody>
      </p:sp>
      <p:sp>
        <p:nvSpPr>
          <p:cNvPr id="15" name="Espace réservé du texte 14">
            <a:extLst>
              <a:ext uri="{FF2B5EF4-FFF2-40B4-BE49-F238E27FC236}">
                <a16:creationId xmlns:a16="http://schemas.microsoft.com/office/drawing/2014/main" id="{9F20727D-5E83-4E0E-9FB9-68D69A7B531A}"/>
              </a:ext>
            </a:extLst>
          </p:cNvPr>
          <p:cNvSpPr>
            <a:spLocks noGrp="1"/>
          </p:cNvSpPr>
          <p:nvPr>
            <p:ph type="body" sz="quarter" idx="18" hasCustomPrompt="1"/>
          </p:nvPr>
        </p:nvSpPr>
        <p:spPr>
          <a:xfrm>
            <a:off x="6143028" y="1288067"/>
            <a:ext cx="5470432" cy="2300953"/>
          </a:xfrm>
          <a:custGeom>
            <a:avLst/>
            <a:gdLst>
              <a:gd name="connsiteX0" fmla="*/ 0 w 5470432"/>
              <a:gd name="connsiteY0" fmla="*/ 0 h 2300953"/>
              <a:gd name="connsiteX1" fmla="*/ 5470432 w 5470432"/>
              <a:gd name="connsiteY1" fmla="*/ 0 h 2300953"/>
              <a:gd name="connsiteX2" fmla="*/ 5470432 w 5470432"/>
              <a:gd name="connsiteY2" fmla="*/ 2300953 h 2300953"/>
              <a:gd name="connsiteX3" fmla="*/ 0 w 5470432"/>
              <a:gd name="connsiteY3" fmla="*/ 2300953 h 2300953"/>
            </a:gdLst>
            <a:ahLst/>
            <a:cxnLst>
              <a:cxn ang="0">
                <a:pos x="connsiteX0" y="connsiteY0"/>
              </a:cxn>
              <a:cxn ang="0">
                <a:pos x="connsiteX1" y="connsiteY1"/>
              </a:cxn>
              <a:cxn ang="0">
                <a:pos x="connsiteX2" y="connsiteY2"/>
              </a:cxn>
              <a:cxn ang="0">
                <a:pos x="connsiteX3" y="connsiteY3"/>
              </a:cxn>
            </a:cxnLst>
            <a:rect l="l" t="t" r="r" b="b"/>
            <a:pathLst>
              <a:path w="5470432" h="2300953">
                <a:moveTo>
                  <a:pt x="0" y="0"/>
                </a:moveTo>
                <a:lnTo>
                  <a:pt x="5470432" y="0"/>
                </a:lnTo>
                <a:lnTo>
                  <a:pt x="5470432" y="2300953"/>
                </a:lnTo>
                <a:lnTo>
                  <a:pt x="0" y="2300953"/>
                </a:lnTo>
                <a:close/>
              </a:path>
            </a:pathLst>
          </a:custGeom>
          <a:solidFill>
            <a:schemeClr val="tx2"/>
          </a:solidFill>
        </p:spPr>
        <p:txBody>
          <a:bodyPr wrap="square" lIns="252000" tIns="252000" rIns="252000" bIns="252000">
            <a:noAutofit/>
          </a:bodyPr>
          <a:lstStyle>
            <a:lvl1pPr>
              <a:defRPr sz="1900">
                <a:solidFill>
                  <a:schemeClr val="bg1"/>
                </a:solidFill>
              </a:defRPr>
            </a:lvl1pPr>
            <a:lvl2pPr>
              <a:defRPr sz="19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Espace réservé du texte 15">
            <a:extLst>
              <a:ext uri="{FF2B5EF4-FFF2-40B4-BE49-F238E27FC236}">
                <a16:creationId xmlns:a16="http://schemas.microsoft.com/office/drawing/2014/main" id="{A7196165-27AE-443C-AF47-7B6B0DC59659}"/>
              </a:ext>
            </a:extLst>
          </p:cNvPr>
          <p:cNvSpPr>
            <a:spLocks noGrp="1"/>
          </p:cNvSpPr>
          <p:nvPr>
            <p:ph type="body" sz="quarter" idx="21" hasCustomPrompt="1"/>
          </p:nvPr>
        </p:nvSpPr>
        <p:spPr>
          <a:xfrm>
            <a:off x="6143028" y="3856007"/>
            <a:ext cx="5470432" cy="2300953"/>
          </a:xfrm>
          <a:custGeom>
            <a:avLst/>
            <a:gdLst>
              <a:gd name="connsiteX0" fmla="*/ 0 w 5470432"/>
              <a:gd name="connsiteY0" fmla="*/ 0 h 2300953"/>
              <a:gd name="connsiteX1" fmla="*/ 5470432 w 5470432"/>
              <a:gd name="connsiteY1" fmla="*/ 0 h 2300953"/>
              <a:gd name="connsiteX2" fmla="*/ 5470432 w 5470432"/>
              <a:gd name="connsiteY2" fmla="*/ 2300953 h 2300953"/>
              <a:gd name="connsiteX3" fmla="*/ 0 w 5470432"/>
              <a:gd name="connsiteY3" fmla="*/ 2300953 h 2300953"/>
            </a:gdLst>
            <a:ahLst/>
            <a:cxnLst>
              <a:cxn ang="0">
                <a:pos x="connsiteX0" y="connsiteY0"/>
              </a:cxn>
              <a:cxn ang="0">
                <a:pos x="connsiteX1" y="connsiteY1"/>
              </a:cxn>
              <a:cxn ang="0">
                <a:pos x="connsiteX2" y="connsiteY2"/>
              </a:cxn>
              <a:cxn ang="0">
                <a:pos x="connsiteX3" y="connsiteY3"/>
              </a:cxn>
            </a:cxnLst>
            <a:rect l="l" t="t" r="r" b="b"/>
            <a:pathLst>
              <a:path w="5470432" h="2300953">
                <a:moveTo>
                  <a:pt x="0" y="0"/>
                </a:moveTo>
                <a:lnTo>
                  <a:pt x="5470432" y="0"/>
                </a:lnTo>
                <a:lnTo>
                  <a:pt x="5470432" y="2300953"/>
                </a:lnTo>
                <a:lnTo>
                  <a:pt x="0" y="2300953"/>
                </a:lnTo>
                <a:close/>
              </a:path>
            </a:pathLst>
          </a:custGeom>
          <a:solidFill>
            <a:schemeClr val="tx2"/>
          </a:solidFill>
        </p:spPr>
        <p:txBody>
          <a:bodyPr wrap="square" lIns="252000" tIns="252000" rIns="252000" bIns="252000">
            <a:noAutofit/>
          </a:bodyPr>
          <a:lstStyle>
            <a:lvl1pPr>
              <a:defRPr sz="1900">
                <a:solidFill>
                  <a:schemeClr val="bg1"/>
                </a:solidFill>
              </a:defRPr>
            </a:lvl1pPr>
            <a:lvl2pPr>
              <a:defRPr sz="19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Espace réservé du texte 16">
            <a:extLst>
              <a:ext uri="{FF2B5EF4-FFF2-40B4-BE49-F238E27FC236}">
                <a16:creationId xmlns:a16="http://schemas.microsoft.com/office/drawing/2014/main" id="{BF144683-448B-AEEC-9E1B-EE5A080FBBA5}"/>
              </a:ext>
            </a:extLst>
          </p:cNvPr>
          <p:cNvSpPr>
            <a:spLocks noGrp="1"/>
          </p:cNvSpPr>
          <p:nvPr>
            <p:ph type="body" idx="22"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686383283"/>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with highlighting numbers">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1337159"/>
            <a:ext cx="11052484" cy="1707159"/>
          </a:xfrm>
        </p:spPr>
        <p:txBody>
          <a:bodyPr/>
          <a:lstStyle>
            <a:lvl1pPr>
              <a:defRPr sz="2400"/>
            </a:lvl1pPr>
            <a:lvl2pPr>
              <a:defRPr sz="24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Espace réservé du texte 10">
            <a:extLst>
              <a:ext uri="{FF2B5EF4-FFF2-40B4-BE49-F238E27FC236}">
                <a16:creationId xmlns:a16="http://schemas.microsoft.com/office/drawing/2014/main" id="{429BDA1B-2BC8-40BC-AA30-CF42B5D03C7A}"/>
              </a:ext>
            </a:extLst>
          </p:cNvPr>
          <p:cNvSpPr>
            <a:spLocks noGrp="1"/>
          </p:cNvSpPr>
          <p:nvPr>
            <p:ph type="body" sz="quarter" idx="18" hasCustomPrompt="1"/>
          </p:nvPr>
        </p:nvSpPr>
        <p:spPr>
          <a:xfrm>
            <a:off x="643556" y="3023085"/>
            <a:ext cx="3384000" cy="684000"/>
          </a:xfrm>
          <a:solidFill>
            <a:schemeClr val="tx2"/>
          </a:solidFill>
        </p:spPr>
        <p:txBody>
          <a:bodyPr anchor="ctr"/>
          <a:lstStyle>
            <a:lvl1pPr algn="ctr">
              <a:defRPr sz="4000">
                <a:solidFill>
                  <a:schemeClr val="bg1"/>
                </a:solidFill>
                <a:latin typeface="+mj-lt"/>
              </a:defRPr>
            </a:lvl1pPr>
            <a:lvl2pPr>
              <a:defRPr sz="2400"/>
            </a:lvl2pPr>
            <a:lvl3pPr>
              <a:defRPr sz="1800"/>
            </a:lvl3pPr>
            <a:lvl4pPr>
              <a:defRPr sz="1600"/>
            </a:lvl4pPr>
            <a:lvl5pPr>
              <a:defRPr sz="1600"/>
            </a:lvl5pPr>
          </a:lstStyle>
          <a:p>
            <a:pPr lvl="0"/>
            <a:r>
              <a:rPr lang="en-US" noProof="0"/>
              <a:t>NN</a:t>
            </a:r>
          </a:p>
        </p:txBody>
      </p:sp>
      <p:sp>
        <p:nvSpPr>
          <p:cNvPr id="10" name="Espace réservé du texte 10">
            <a:extLst>
              <a:ext uri="{FF2B5EF4-FFF2-40B4-BE49-F238E27FC236}">
                <a16:creationId xmlns:a16="http://schemas.microsoft.com/office/drawing/2014/main" id="{72106505-DB5F-4F49-8822-4826BDEC7BCF}"/>
              </a:ext>
            </a:extLst>
          </p:cNvPr>
          <p:cNvSpPr>
            <a:spLocks noGrp="1"/>
          </p:cNvSpPr>
          <p:nvPr>
            <p:ph type="body" sz="quarter" idx="19" hasCustomPrompt="1"/>
          </p:nvPr>
        </p:nvSpPr>
        <p:spPr>
          <a:xfrm>
            <a:off x="536398" y="3968439"/>
            <a:ext cx="3491157" cy="2340000"/>
          </a:xfrm>
        </p:spPr>
        <p:txBody>
          <a:bodyPr/>
          <a:lstStyle>
            <a:lvl1pPr>
              <a:defRPr sz="1600"/>
            </a:lvl1pPr>
            <a:lvl2pPr>
              <a:defRPr sz="16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Espace réservé du texte 10">
            <a:extLst>
              <a:ext uri="{FF2B5EF4-FFF2-40B4-BE49-F238E27FC236}">
                <a16:creationId xmlns:a16="http://schemas.microsoft.com/office/drawing/2014/main" id="{73C17576-3818-4DAF-8697-2FBB1139D9DB}"/>
              </a:ext>
            </a:extLst>
          </p:cNvPr>
          <p:cNvSpPr>
            <a:spLocks noGrp="1"/>
          </p:cNvSpPr>
          <p:nvPr>
            <p:ph type="body" sz="quarter" idx="21" hasCustomPrompt="1"/>
          </p:nvPr>
        </p:nvSpPr>
        <p:spPr>
          <a:xfrm>
            <a:off x="4409106" y="3023085"/>
            <a:ext cx="3384000" cy="684000"/>
          </a:xfrm>
          <a:solidFill>
            <a:schemeClr val="tx2"/>
          </a:solidFill>
        </p:spPr>
        <p:txBody>
          <a:bodyPr anchor="ctr"/>
          <a:lstStyle>
            <a:lvl1pPr algn="ctr">
              <a:defRPr sz="4000">
                <a:solidFill>
                  <a:schemeClr val="bg1"/>
                </a:solidFill>
                <a:latin typeface="+mj-lt"/>
              </a:defRPr>
            </a:lvl1pPr>
            <a:lvl2pPr>
              <a:defRPr sz="2400"/>
            </a:lvl2pPr>
            <a:lvl3pPr>
              <a:defRPr sz="1800"/>
            </a:lvl3pPr>
            <a:lvl4pPr>
              <a:defRPr sz="1600"/>
            </a:lvl4pPr>
            <a:lvl5pPr>
              <a:defRPr sz="1600"/>
            </a:lvl5pPr>
          </a:lstStyle>
          <a:p>
            <a:pPr lvl="0"/>
            <a:r>
              <a:rPr lang="en-US" noProof="0"/>
              <a:t>NN</a:t>
            </a:r>
          </a:p>
        </p:txBody>
      </p:sp>
      <p:sp>
        <p:nvSpPr>
          <p:cNvPr id="15" name="Espace réservé du texte 10">
            <a:extLst>
              <a:ext uri="{FF2B5EF4-FFF2-40B4-BE49-F238E27FC236}">
                <a16:creationId xmlns:a16="http://schemas.microsoft.com/office/drawing/2014/main" id="{06D58CD4-C66A-40AB-98B4-535A07E2DB94}"/>
              </a:ext>
            </a:extLst>
          </p:cNvPr>
          <p:cNvSpPr>
            <a:spLocks noGrp="1"/>
          </p:cNvSpPr>
          <p:nvPr>
            <p:ph type="body" sz="quarter" idx="22" hasCustomPrompt="1"/>
          </p:nvPr>
        </p:nvSpPr>
        <p:spPr>
          <a:xfrm>
            <a:off x="4301948" y="3968439"/>
            <a:ext cx="3491157" cy="2340000"/>
          </a:xfrm>
        </p:spPr>
        <p:txBody>
          <a:bodyPr/>
          <a:lstStyle>
            <a:lvl1pPr>
              <a:defRPr sz="1600"/>
            </a:lvl1pPr>
            <a:lvl2pPr>
              <a:defRPr sz="16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Espace réservé du texte 10">
            <a:extLst>
              <a:ext uri="{FF2B5EF4-FFF2-40B4-BE49-F238E27FC236}">
                <a16:creationId xmlns:a16="http://schemas.microsoft.com/office/drawing/2014/main" id="{929A8655-1F53-480F-8591-3D24D79A7B03}"/>
              </a:ext>
            </a:extLst>
          </p:cNvPr>
          <p:cNvSpPr>
            <a:spLocks noGrp="1"/>
          </p:cNvSpPr>
          <p:nvPr>
            <p:ph type="body" sz="quarter" idx="24" hasCustomPrompt="1"/>
          </p:nvPr>
        </p:nvSpPr>
        <p:spPr>
          <a:xfrm>
            <a:off x="8174656" y="3023085"/>
            <a:ext cx="3384000" cy="684000"/>
          </a:xfrm>
          <a:solidFill>
            <a:schemeClr val="tx2"/>
          </a:solidFill>
        </p:spPr>
        <p:txBody>
          <a:bodyPr anchor="ctr"/>
          <a:lstStyle>
            <a:lvl1pPr algn="ctr">
              <a:defRPr sz="4000">
                <a:solidFill>
                  <a:schemeClr val="bg1"/>
                </a:solidFill>
                <a:latin typeface="+mj-lt"/>
              </a:defRPr>
            </a:lvl1pPr>
            <a:lvl2pPr>
              <a:defRPr sz="2400"/>
            </a:lvl2pPr>
            <a:lvl3pPr>
              <a:defRPr sz="1800"/>
            </a:lvl3pPr>
            <a:lvl4pPr>
              <a:defRPr sz="1600"/>
            </a:lvl4pPr>
            <a:lvl5pPr>
              <a:defRPr sz="1600"/>
            </a:lvl5pPr>
          </a:lstStyle>
          <a:p>
            <a:pPr lvl="0"/>
            <a:r>
              <a:rPr lang="en-US" noProof="0"/>
              <a:t>NN</a:t>
            </a:r>
          </a:p>
        </p:txBody>
      </p:sp>
      <p:sp>
        <p:nvSpPr>
          <p:cNvPr id="19" name="Espace réservé du texte 10">
            <a:extLst>
              <a:ext uri="{FF2B5EF4-FFF2-40B4-BE49-F238E27FC236}">
                <a16:creationId xmlns:a16="http://schemas.microsoft.com/office/drawing/2014/main" id="{2B9BEC67-6961-47E7-8313-1489F4F11B5C}"/>
              </a:ext>
            </a:extLst>
          </p:cNvPr>
          <p:cNvSpPr>
            <a:spLocks noGrp="1"/>
          </p:cNvSpPr>
          <p:nvPr>
            <p:ph type="body" sz="quarter" idx="25" hasCustomPrompt="1"/>
          </p:nvPr>
        </p:nvSpPr>
        <p:spPr>
          <a:xfrm>
            <a:off x="8067498" y="3968439"/>
            <a:ext cx="3491157" cy="2340000"/>
          </a:xfrm>
        </p:spPr>
        <p:txBody>
          <a:bodyPr/>
          <a:lstStyle>
            <a:lvl1pPr>
              <a:defRPr sz="1600"/>
            </a:lvl1pPr>
            <a:lvl2pPr>
              <a:defRPr sz="16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Espace réservé du texte 16">
            <a:extLst>
              <a:ext uri="{FF2B5EF4-FFF2-40B4-BE49-F238E27FC236}">
                <a16:creationId xmlns:a16="http://schemas.microsoft.com/office/drawing/2014/main" id="{9FC375D8-754D-F925-D386-C531E063BFA4}"/>
              </a:ext>
            </a:extLst>
          </p:cNvPr>
          <p:cNvSpPr>
            <a:spLocks noGrp="1"/>
          </p:cNvSpPr>
          <p:nvPr>
            <p:ph type="body" idx="27"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4217412181"/>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in 2 columns with a frame">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1337159"/>
            <a:ext cx="7127143" cy="1296000"/>
          </a:xfrm>
        </p:spPr>
        <p:txBody>
          <a:bodyPr/>
          <a:lstStyle>
            <a:lvl1pPr>
              <a:defRPr sz="2400"/>
            </a:lvl1pPr>
            <a:lvl2pPr>
              <a:buNone/>
              <a:defRPr sz="2400"/>
            </a:lvl2pPr>
            <a:lvl3pPr>
              <a:defRPr sz="1800"/>
            </a:lvl3pPr>
            <a:lvl4pPr>
              <a:defRPr sz="1600"/>
            </a:lvl4pPr>
            <a:lvl5pPr>
              <a:defRPr sz="1600"/>
            </a:lvl5pPr>
          </a:lstStyle>
          <a:p>
            <a:pPr lvl="0"/>
            <a:r>
              <a:rPr lang="en-US" noProof="0"/>
              <a:t>Click to edit master text styles</a:t>
            </a:r>
          </a:p>
        </p:txBody>
      </p:sp>
      <p:sp>
        <p:nvSpPr>
          <p:cNvPr id="22" name="Espace réservé du texte 10">
            <a:extLst>
              <a:ext uri="{FF2B5EF4-FFF2-40B4-BE49-F238E27FC236}">
                <a16:creationId xmlns:a16="http://schemas.microsoft.com/office/drawing/2014/main" id="{66ED2081-D062-47AE-9D57-77E330A954EF}"/>
              </a:ext>
            </a:extLst>
          </p:cNvPr>
          <p:cNvSpPr>
            <a:spLocks noGrp="1"/>
          </p:cNvSpPr>
          <p:nvPr>
            <p:ph type="body" sz="quarter" idx="18" hasCustomPrompt="1"/>
          </p:nvPr>
        </p:nvSpPr>
        <p:spPr>
          <a:xfrm>
            <a:off x="536400" y="2690848"/>
            <a:ext cx="3528000" cy="3383381"/>
          </a:xfrm>
        </p:spPr>
        <p:txBody>
          <a:bodyPr/>
          <a:lstStyle>
            <a:lvl1pPr>
              <a:defRPr sz="1900"/>
            </a:lvl1pPr>
            <a:lvl2pPr>
              <a:defRPr sz="19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3" name="Espace réservé du texte 10">
            <a:extLst>
              <a:ext uri="{FF2B5EF4-FFF2-40B4-BE49-F238E27FC236}">
                <a16:creationId xmlns:a16="http://schemas.microsoft.com/office/drawing/2014/main" id="{A24175A2-B90D-4CD9-8997-CD3D3F99148E}"/>
              </a:ext>
            </a:extLst>
          </p:cNvPr>
          <p:cNvSpPr>
            <a:spLocks noGrp="1"/>
          </p:cNvSpPr>
          <p:nvPr>
            <p:ph type="body" sz="quarter" idx="19" hasCustomPrompt="1"/>
          </p:nvPr>
        </p:nvSpPr>
        <p:spPr>
          <a:xfrm>
            <a:off x="4135543" y="2690848"/>
            <a:ext cx="3528000" cy="3383381"/>
          </a:xfrm>
        </p:spPr>
        <p:txBody>
          <a:bodyPr/>
          <a:lstStyle>
            <a:lvl1pPr>
              <a:defRPr sz="1900"/>
            </a:lvl1pPr>
            <a:lvl2pPr>
              <a:defRPr sz="19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 name="Espace réservé du texte 23">
            <a:extLst>
              <a:ext uri="{FF2B5EF4-FFF2-40B4-BE49-F238E27FC236}">
                <a16:creationId xmlns:a16="http://schemas.microsoft.com/office/drawing/2014/main" id="{7EDC22B2-698E-4E5B-A0AD-BAE9A52C79F4}"/>
              </a:ext>
            </a:extLst>
          </p:cNvPr>
          <p:cNvSpPr>
            <a:spLocks noGrp="1"/>
          </p:cNvSpPr>
          <p:nvPr>
            <p:ph type="body" sz="quarter" idx="20" hasCustomPrompt="1"/>
          </p:nvPr>
        </p:nvSpPr>
        <p:spPr>
          <a:xfrm>
            <a:off x="7917908" y="1288067"/>
            <a:ext cx="3656872" cy="4868893"/>
          </a:xfrm>
          <a:custGeom>
            <a:avLst/>
            <a:gdLst>
              <a:gd name="connsiteX0" fmla="*/ 0 w 3656872"/>
              <a:gd name="connsiteY0" fmla="*/ 0 h 4868893"/>
              <a:gd name="connsiteX1" fmla="*/ 3656872 w 3656872"/>
              <a:gd name="connsiteY1" fmla="*/ 0 h 4868893"/>
              <a:gd name="connsiteX2" fmla="*/ 3656872 w 3656872"/>
              <a:gd name="connsiteY2" fmla="*/ 4868893 h 4868893"/>
              <a:gd name="connsiteX3" fmla="*/ 0 w 3656872"/>
              <a:gd name="connsiteY3" fmla="*/ 4868893 h 4868893"/>
            </a:gdLst>
            <a:ahLst/>
            <a:cxnLst>
              <a:cxn ang="0">
                <a:pos x="connsiteX0" y="connsiteY0"/>
              </a:cxn>
              <a:cxn ang="0">
                <a:pos x="connsiteX1" y="connsiteY1"/>
              </a:cxn>
              <a:cxn ang="0">
                <a:pos x="connsiteX2" y="connsiteY2"/>
              </a:cxn>
              <a:cxn ang="0">
                <a:pos x="connsiteX3" y="connsiteY3"/>
              </a:cxn>
            </a:cxnLst>
            <a:rect l="l" t="t" r="r" b="b"/>
            <a:pathLst>
              <a:path w="3656872" h="4868893">
                <a:moveTo>
                  <a:pt x="0" y="0"/>
                </a:moveTo>
                <a:lnTo>
                  <a:pt x="3656872" y="0"/>
                </a:lnTo>
                <a:lnTo>
                  <a:pt x="3656872" y="4868893"/>
                </a:lnTo>
                <a:lnTo>
                  <a:pt x="0" y="4868893"/>
                </a:lnTo>
                <a:close/>
              </a:path>
            </a:pathLst>
          </a:custGeom>
          <a:solidFill>
            <a:schemeClr val="tx2"/>
          </a:solidFill>
        </p:spPr>
        <p:txBody>
          <a:bodyPr wrap="square" lIns="288000" tIns="288000" rIns="288000" bIns="288000">
            <a:noAutofit/>
          </a:bodyPr>
          <a:lstStyle>
            <a:lvl1pPr>
              <a:defRPr sz="1900">
                <a:solidFill>
                  <a:schemeClr val="bg1"/>
                </a:solidFill>
              </a:defRPr>
            </a:lvl1pPr>
            <a:lvl2pPr>
              <a:defRPr sz="19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Espace réservé du texte 16">
            <a:extLst>
              <a:ext uri="{FF2B5EF4-FFF2-40B4-BE49-F238E27FC236}">
                <a16:creationId xmlns:a16="http://schemas.microsoft.com/office/drawing/2014/main" id="{7B4C1293-FFAD-77B0-06A2-4C97EB91E39E}"/>
              </a:ext>
            </a:extLst>
          </p:cNvPr>
          <p:cNvSpPr>
            <a:spLocks noGrp="1"/>
          </p:cNvSpPr>
          <p:nvPr>
            <p:ph type="body" idx="21"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4158461451"/>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 Columns">
    <p:spTree>
      <p:nvGrpSpPr>
        <p:cNvPr id="1" name=""/>
        <p:cNvGrpSpPr/>
        <p:nvPr/>
      </p:nvGrpSpPr>
      <p:grpSpPr>
        <a:xfrm>
          <a:off x="0" y="0"/>
          <a:ext cx="0" cy="0"/>
          <a:chOff x="0" y="0"/>
          <a:chExt cx="0" cy="0"/>
        </a:xfrm>
      </p:grpSpPr>
      <p:sp>
        <p:nvSpPr>
          <p:cNvPr id="2" name="Text Placeholder 15">
            <a:extLst>
              <a:ext uri="{FF2B5EF4-FFF2-40B4-BE49-F238E27FC236}">
                <a16:creationId xmlns:a16="http://schemas.microsoft.com/office/drawing/2014/main" id="{A37B1C57-DE1C-3D55-9AA6-2EC73EA097D5}"/>
              </a:ext>
            </a:extLst>
          </p:cNvPr>
          <p:cNvSpPr>
            <a:spLocks noGrp="1"/>
          </p:cNvSpPr>
          <p:nvPr>
            <p:ph type="body" sz="quarter" idx="10" hasCustomPrompt="1"/>
          </p:nvPr>
        </p:nvSpPr>
        <p:spPr>
          <a:xfrm>
            <a:off x="263526" y="296863"/>
            <a:ext cx="2484438" cy="175577"/>
          </a:xfrm>
        </p:spPr>
        <p:txBody>
          <a:bodyPr/>
          <a:lstStyle>
            <a:lvl1pPr>
              <a:defRPr>
                <a:solidFill>
                  <a:srgbClr val="DA291C"/>
                </a:solidFill>
                <a:latin typeface="Work Sans SemiBold" pitchFamily="2" charset="0"/>
              </a:defRPr>
            </a:lvl1pPr>
          </a:lstStyle>
          <a:p>
            <a:pPr lvl="0"/>
            <a:r>
              <a:rPr lang="en-GB"/>
              <a:t>TAG HERE</a:t>
            </a:r>
          </a:p>
        </p:txBody>
      </p:sp>
    </p:spTree>
    <p:extLst>
      <p:ext uri="{BB962C8B-B14F-4D97-AF65-F5344CB8AC3E}">
        <p14:creationId xmlns:p14="http://schemas.microsoft.com/office/powerpoint/2010/main" val="3733233519"/>
      </p:ext>
    </p:extLst>
  </p:cSld>
  <p:clrMapOvr>
    <a:masterClrMapping/>
  </p:clrMapOvr>
  <p:extLst>
    <p:ext uri="{DCECCB84-F9BA-43D5-87BE-67443E8EF086}">
      <p15:sldGuideLst xmlns:p15="http://schemas.microsoft.com/office/powerpoint/2012/main">
        <p15:guide id="1" pos="1617">
          <p15:clr>
            <a:srgbClr val="000000"/>
          </p15:clr>
        </p15:guide>
        <p15:guide id="2" pos="6063">
          <p15:clr>
            <a:srgbClr val="000000"/>
          </p15:clr>
        </p15:guide>
        <p15:guide id="3" pos="4566">
          <p15:clr>
            <a:srgbClr val="000000"/>
          </p15:clr>
        </p15:guide>
        <p15:guide id="4" pos="3114">
          <p15:clr>
            <a:srgbClr val="000000"/>
          </p15:clr>
        </p15:guide>
        <p15:guide id="5" pos="3069">
          <p15:clr>
            <a:srgbClr val="A4A3A4"/>
          </p15:clr>
        </p15:guide>
        <p15:guide id="6" pos="1663">
          <p15:clr>
            <a:srgbClr val="A4A3A4"/>
          </p15:clr>
        </p15:guide>
        <p15:guide id="7" pos="1572">
          <p15:clr>
            <a:srgbClr val="A4A3A4"/>
          </p15:clr>
        </p15:guide>
        <p15:guide id="8" pos="6108">
          <p15:clr>
            <a:srgbClr val="A4A3A4"/>
          </p15:clr>
        </p15:guide>
        <p15:guide id="9" pos="6017">
          <p15:clr>
            <a:srgbClr val="A4A3A4"/>
          </p15:clr>
        </p15:guide>
        <p15:guide id="10" pos="3160">
          <p15:clr>
            <a:srgbClr val="A4A3A4"/>
          </p15:clr>
        </p15:guide>
        <p15:guide id="11" pos="4611">
          <p15:clr>
            <a:srgbClr val="A4A3A4"/>
          </p15:clr>
        </p15:guide>
        <p15:guide id="12" pos="4520">
          <p15:clr>
            <a:srgbClr val="A4A3A4"/>
          </p15:clr>
        </p15:guide>
        <p15:guide id="13" pos="2842">
          <p15:clr>
            <a:srgbClr val="FBAE40"/>
          </p15:clr>
        </p15:guide>
        <p15:guide id="14" pos="1345">
          <p15:clr>
            <a:srgbClr val="FBAE40"/>
          </p15:clr>
        </p15:guide>
        <p15:guide id="15" pos="4294">
          <p15:clr>
            <a:srgbClr val="FBAE40"/>
          </p15:clr>
        </p15:guide>
        <p15:guide id="16" pos="5790">
          <p15:clr>
            <a:srgbClr val="FBAE40"/>
          </p15:clr>
        </p15:guide>
        <p15:guide id="17" pos="728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Contact">
    <p:bg>
      <p:bgPr>
        <a:solidFill>
          <a:schemeClr val="accent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AFEBD29-A2FA-59FB-FF78-3F8070935093}"/>
              </a:ext>
            </a:extLst>
          </p:cNvPr>
          <p:cNvSpPr/>
          <p:nvPr userDrawn="1"/>
        </p:nvSpPr>
        <p:spPr>
          <a:xfrm>
            <a:off x="-4172" y="-3173"/>
            <a:ext cx="12196171" cy="6861175"/>
          </a:xfrm>
          <a:prstGeom prst="rect">
            <a:avLst/>
          </a:prstGeom>
          <a:gradFill flip="none" rotWithShape="1">
            <a:gsLst>
              <a:gs pos="15000">
                <a:schemeClr val="accent1">
                  <a:lumMod val="50000"/>
                </a:schemeClr>
              </a:gs>
              <a:gs pos="100000">
                <a:schemeClr val="accent1"/>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47788">
              <a:buClrTx/>
              <a:defRPr/>
            </a:pPr>
            <a:endParaRPr lang="fr-FR" sz="1669" kern="1200">
              <a:solidFill>
                <a:prstClr val="white"/>
              </a:solidFill>
              <a:latin typeface="Encode Sans ExpandedLight"/>
            </a:endParaRPr>
          </a:p>
        </p:txBody>
      </p:sp>
      <p:sp>
        <p:nvSpPr>
          <p:cNvPr id="4" name="Parallelogram 22">
            <a:extLst>
              <a:ext uri="{FF2B5EF4-FFF2-40B4-BE49-F238E27FC236}">
                <a16:creationId xmlns:a16="http://schemas.microsoft.com/office/drawing/2014/main" id="{0E3CF52A-2667-3E70-2B15-C411A883EBA1}"/>
              </a:ext>
            </a:extLst>
          </p:cNvPr>
          <p:cNvSpPr/>
          <p:nvPr userDrawn="1"/>
        </p:nvSpPr>
        <p:spPr>
          <a:xfrm>
            <a:off x="-4169" y="-3174"/>
            <a:ext cx="5967314" cy="6867365"/>
          </a:xfrm>
          <a:custGeom>
            <a:avLst/>
            <a:gdLst>
              <a:gd name="connsiteX0" fmla="*/ 0 w 8345097"/>
              <a:gd name="connsiteY0" fmla="*/ 7086360 h 7086360"/>
              <a:gd name="connsiteX1" fmla="*/ 4731137 w 8345097"/>
              <a:gd name="connsiteY1" fmla="*/ 0 h 7086360"/>
              <a:gd name="connsiteX2" fmla="*/ 8345097 w 8345097"/>
              <a:gd name="connsiteY2" fmla="*/ 0 h 7086360"/>
              <a:gd name="connsiteX3" fmla="*/ 3613960 w 8345097"/>
              <a:gd name="connsiteY3" fmla="*/ 7086360 h 7086360"/>
              <a:gd name="connsiteX4" fmla="*/ 0 w 8345097"/>
              <a:gd name="connsiteY4" fmla="*/ 7086360 h 7086360"/>
              <a:gd name="connsiteX0" fmla="*/ 0 w 8345097"/>
              <a:gd name="connsiteY0" fmla="*/ 7097935 h 7097935"/>
              <a:gd name="connsiteX1" fmla="*/ 2381476 w 8345097"/>
              <a:gd name="connsiteY1" fmla="*/ 0 h 7097935"/>
              <a:gd name="connsiteX2" fmla="*/ 8345097 w 8345097"/>
              <a:gd name="connsiteY2" fmla="*/ 11575 h 7097935"/>
              <a:gd name="connsiteX3" fmla="*/ 3613960 w 8345097"/>
              <a:gd name="connsiteY3" fmla="*/ 7097935 h 7097935"/>
              <a:gd name="connsiteX4" fmla="*/ 0 w 8345097"/>
              <a:gd name="connsiteY4" fmla="*/ 7097935 h 7097935"/>
              <a:gd name="connsiteX0" fmla="*/ 0 w 8345097"/>
              <a:gd name="connsiteY0" fmla="*/ 7097935 h 7097935"/>
              <a:gd name="connsiteX1" fmla="*/ 2381476 w 8345097"/>
              <a:gd name="connsiteY1" fmla="*/ 0 h 7097935"/>
              <a:gd name="connsiteX2" fmla="*/ 8345097 w 8345097"/>
              <a:gd name="connsiteY2" fmla="*/ 11575 h 7097935"/>
              <a:gd name="connsiteX3" fmla="*/ 3752856 w 8345097"/>
              <a:gd name="connsiteY3" fmla="*/ 6889590 h 7097935"/>
              <a:gd name="connsiteX4" fmla="*/ 0 w 8345097"/>
              <a:gd name="connsiteY4" fmla="*/ 7097935 h 7097935"/>
              <a:gd name="connsiteX0" fmla="*/ 49207 w 5963621"/>
              <a:gd name="connsiteY0" fmla="*/ 6415028 h 6889590"/>
              <a:gd name="connsiteX1" fmla="*/ 0 w 5963621"/>
              <a:gd name="connsiteY1" fmla="*/ 0 h 6889590"/>
              <a:gd name="connsiteX2" fmla="*/ 5963621 w 5963621"/>
              <a:gd name="connsiteY2" fmla="*/ 11575 h 6889590"/>
              <a:gd name="connsiteX3" fmla="*/ 1371380 w 5963621"/>
              <a:gd name="connsiteY3" fmla="*/ 6889590 h 6889590"/>
              <a:gd name="connsiteX4" fmla="*/ 49207 w 5963621"/>
              <a:gd name="connsiteY4" fmla="*/ 6415028 h 6889590"/>
              <a:gd name="connsiteX0" fmla="*/ 2909 w 5963621"/>
              <a:gd name="connsiteY0" fmla="*/ 6866441 h 6889590"/>
              <a:gd name="connsiteX1" fmla="*/ 0 w 5963621"/>
              <a:gd name="connsiteY1" fmla="*/ 0 h 6889590"/>
              <a:gd name="connsiteX2" fmla="*/ 5963621 w 5963621"/>
              <a:gd name="connsiteY2" fmla="*/ 11575 h 6889590"/>
              <a:gd name="connsiteX3" fmla="*/ 1371380 w 5963621"/>
              <a:gd name="connsiteY3" fmla="*/ 6889590 h 6889590"/>
              <a:gd name="connsiteX4" fmla="*/ 2909 w 5963621"/>
              <a:gd name="connsiteY4" fmla="*/ 6866441 h 6889590"/>
              <a:gd name="connsiteX0" fmla="*/ 3 w 5960715"/>
              <a:gd name="connsiteY0" fmla="*/ 6854866 h 6878015"/>
              <a:gd name="connsiteX1" fmla="*/ 330469 w 5960715"/>
              <a:gd name="connsiteY1" fmla="*/ 321800 h 6878015"/>
              <a:gd name="connsiteX2" fmla="*/ 5960715 w 5960715"/>
              <a:gd name="connsiteY2" fmla="*/ 0 h 6878015"/>
              <a:gd name="connsiteX3" fmla="*/ 1368474 w 5960715"/>
              <a:gd name="connsiteY3" fmla="*/ 6878015 h 6878015"/>
              <a:gd name="connsiteX4" fmla="*/ 3 w 5960715"/>
              <a:gd name="connsiteY4" fmla="*/ 6854866 h 6878015"/>
              <a:gd name="connsiteX0" fmla="*/ 2909 w 5963621"/>
              <a:gd name="connsiteY0" fmla="*/ 6856916 h 6880065"/>
              <a:gd name="connsiteX1" fmla="*/ 0 w 5963621"/>
              <a:gd name="connsiteY1" fmla="*/ 0 h 6880065"/>
              <a:gd name="connsiteX2" fmla="*/ 5963621 w 5963621"/>
              <a:gd name="connsiteY2" fmla="*/ 2050 h 6880065"/>
              <a:gd name="connsiteX3" fmla="*/ 1371380 w 5963621"/>
              <a:gd name="connsiteY3" fmla="*/ 6880065 h 6880065"/>
              <a:gd name="connsiteX4" fmla="*/ 2909 w 5963621"/>
              <a:gd name="connsiteY4" fmla="*/ 6856916 h 6880065"/>
              <a:gd name="connsiteX0" fmla="*/ 215634 w 5963621"/>
              <a:gd name="connsiteY0" fmla="*/ 6682291 h 6880065"/>
              <a:gd name="connsiteX1" fmla="*/ 0 w 5963621"/>
              <a:gd name="connsiteY1" fmla="*/ 0 h 6880065"/>
              <a:gd name="connsiteX2" fmla="*/ 5963621 w 5963621"/>
              <a:gd name="connsiteY2" fmla="*/ 2050 h 6880065"/>
              <a:gd name="connsiteX3" fmla="*/ 1371380 w 5963621"/>
              <a:gd name="connsiteY3" fmla="*/ 6880065 h 6880065"/>
              <a:gd name="connsiteX4" fmla="*/ 215634 w 5963621"/>
              <a:gd name="connsiteY4" fmla="*/ 6682291 h 6880065"/>
              <a:gd name="connsiteX0" fmla="*/ 94984 w 5963621"/>
              <a:gd name="connsiteY0" fmla="*/ 6758491 h 6880065"/>
              <a:gd name="connsiteX1" fmla="*/ 0 w 5963621"/>
              <a:gd name="connsiteY1" fmla="*/ 0 h 6880065"/>
              <a:gd name="connsiteX2" fmla="*/ 5963621 w 5963621"/>
              <a:gd name="connsiteY2" fmla="*/ 2050 h 6880065"/>
              <a:gd name="connsiteX3" fmla="*/ 1371380 w 5963621"/>
              <a:gd name="connsiteY3" fmla="*/ 6880065 h 6880065"/>
              <a:gd name="connsiteX4" fmla="*/ 94984 w 5963621"/>
              <a:gd name="connsiteY4" fmla="*/ 6758491 h 6880065"/>
              <a:gd name="connsiteX0" fmla="*/ 252 w 5964139"/>
              <a:gd name="connsiteY0" fmla="*/ 6856916 h 6880065"/>
              <a:gd name="connsiteX1" fmla="*/ 518 w 5964139"/>
              <a:gd name="connsiteY1" fmla="*/ 0 h 6880065"/>
              <a:gd name="connsiteX2" fmla="*/ 5964139 w 5964139"/>
              <a:gd name="connsiteY2" fmla="*/ 2050 h 6880065"/>
              <a:gd name="connsiteX3" fmla="*/ 1371898 w 5964139"/>
              <a:gd name="connsiteY3" fmla="*/ 6880065 h 6880065"/>
              <a:gd name="connsiteX4" fmla="*/ 252 w 5964139"/>
              <a:gd name="connsiteY4" fmla="*/ 6856916 h 6880065"/>
              <a:gd name="connsiteX0" fmla="*/ 252 w 5964139"/>
              <a:gd name="connsiteY0" fmla="*/ 6856916 h 6864190"/>
              <a:gd name="connsiteX1" fmla="*/ 518 w 5964139"/>
              <a:gd name="connsiteY1" fmla="*/ 0 h 6864190"/>
              <a:gd name="connsiteX2" fmla="*/ 5964139 w 5964139"/>
              <a:gd name="connsiteY2" fmla="*/ 2050 h 6864190"/>
              <a:gd name="connsiteX3" fmla="*/ 1381423 w 5964139"/>
              <a:gd name="connsiteY3" fmla="*/ 6864190 h 6864190"/>
              <a:gd name="connsiteX4" fmla="*/ 252 w 5964139"/>
              <a:gd name="connsiteY4" fmla="*/ 6856916 h 6864190"/>
              <a:gd name="connsiteX0" fmla="*/ 117 w 5967179"/>
              <a:gd name="connsiteY0" fmla="*/ 6856916 h 6864190"/>
              <a:gd name="connsiteX1" fmla="*/ 3558 w 5967179"/>
              <a:gd name="connsiteY1" fmla="*/ 0 h 6864190"/>
              <a:gd name="connsiteX2" fmla="*/ 5967179 w 5967179"/>
              <a:gd name="connsiteY2" fmla="*/ 2050 h 6864190"/>
              <a:gd name="connsiteX3" fmla="*/ 1384463 w 5967179"/>
              <a:gd name="connsiteY3" fmla="*/ 6864190 h 6864190"/>
              <a:gd name="connsiteX4" fmla="*/ 117 w 5967179"/>
              <a:gd name="connsiteY4" fmla="*/ 6856916 h 6864190"/>
              <a:gd name="connsiteX0" fmla="*/ 117 w 5967179"/>
              <a:gd name="connsiteY0" fmla="*/ 6863266 h 6864190"/>
              <a:gd name="connsiteX1" fmla="*/ 3558 w 5967179"/>
              <a:gd name="connsiteY1" fmla="*/ 0 h 6864190"/>
              <a:gd name="connsiteX2" fmla="*/ 5967179 w 5967179"/>
              <a:gd name="connsiteY2" fmla="*/ 2050 h 6864190"/>
              <a:gd name="connsiteX3" fmla="*/ 1384463 w 5967179"/>
              <a:gd name="connsiteY3" fmla="*/ 6864190 h 6864190"/>
              <a:gd name="connsiteX4" fmla="*/ 117 w 5967179"/>
              <a:gd name="connsiteY4" fmla="*/ 6863266 h 6864190"/>
              <a:gd name="connsiteX0" fmla="*/ 252 w 5967314"/>
              <a:gd name="connsiteY0" fmla="*/ 6866441 h 6867365"/>
              <a:gd name="connsiteX1" fmla="*/ 518 w 5967314"/>
              <a:gd name="connsiteY1" fmla="*/ 0 h 6867365"/>
              <a:gd name="connsiteX2" fmla="*/ 5967314 w 5967314"/>
              <a:gd name="connsiteY2" fmla="*/ 5225 h 6867365"/>
              <a:gd name="connsiteX3" fmla="*/ 1384598 w 5967314"/>
              <a:gd name="connsiteY3" fmla="*/ 6867365 h 6867365"/>
              <a:gd name="connsiteX4" fmla="*/ 252 w 5967314"/>
              <a:gd name="connsiteY4" fmla="*/ 6866441 h 6867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314" h="6867365">
                <a:moveTo>
                  <a:pt x="252" y="6866441"/>
                </a:moveTo>
                <a:cubicBezTo>
                  <a:pt x="-718" y="4577627"/>
                  <a:pt x="1488" y="2288814"/>
                  <a:pt x="518" y="0"/>
                </a:cubicBezTo>
                <a:lnTo>
                  <a:pt x="5967314" y="5225"/>
                </a:lnTo>
                <a:lnTo>
                  <a:pt x="1384598" y="6867365"/>
                </a:lnTo>
                <a:lnTo>
                  <a:pt x="252" y="6866441"/>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defTabSz="847788">
              <a:defRPr/>
            </a:pPr>
            <a:endParaRPr lang="ru-RU" sz="2307" kern="1200"/>
          </a:p>
        </p:txBody>
      </p:sp>
      <p:pic>
        <p:nvPicPr>
          <p:cNvPr id="6" name="Image 1">
            <a:extLst>
              <a:ext uri="{FF2B5EF4-FFF2-40B4-BE49-F238E27FC236}">
                <a16:creationId xmlns:a16="http://schemas.microsoft.com/office/drawing/2014/main" id="{48C02172-7393-35AD-4902-73735A5DF48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06335" y="619186"/>
            <a:ext cx="3882500" cy="1019671"/>
          </a:xfrm>
          <a:prstGeom prst="rect">
            <a:avLst/>
          </a:prstGeom>
          <a:noFill/>
          <a:ln>
            <a:noFill/>
          </a:ln>
        </p:spPr>
      </p:pic>
      <p:sp>
        <p:nvSpPr>
          <p:cNvPr id="2" name="Titre 1">
            <a:extLst>
              <a:ext uri="{FF2B5EF4-FFF2-40B4-BE49-F238E27FC236}">
                <a16:creationId xmlns:a16="http://schemas.microsoft.com/office/drawing/2014/main" id="{0AE01D72-D317-48EB-8946-13EE8EFCE25B}"/>
              </a:ext>
            </a:extLst>
          </p:cNvPr>
          <p:cNvSpPr>
            <a:spLocks noGrp="1"/>
          </p:cNvSpPr>
          <p:nvPr>
            <p:ph type="title" hasCustomPrompt="1"/>
          </p:nvPr>
        </p:nvSpPr>
        <p:spPr>
          <a:xfrm>
            <a:off x="3881297" y="2971780"/>
            <a:ext cx="5400000" cy="1799999"/>
          </a:xfrm>
        </p:spPr>
        <p:txBody>
          <a:bodyPr anchor="b"/>
          <a:lstStyle>
            <a:lvl1pPr>
              <a:defRPr sz="3152" b="0">
                <a:solidFill>
                  <a:schemeClr val="bg1"/>
                </a:solidFill>
                <a:latin typeface="+mn-lt"/>
              </a:defRPr>
            </a:lvl1pPr>
          </a:lstStyle>
          <a:p>
            <a:r>
              <a:rPr lang="en-US" noProof="0"/>
              <a:t>Click to edit Master title style</a:t>
            </a:r>
          </a:p>
        </p:txBody>
      </p:sp>
      <p:sp>
        <p:nvSpPr>
          <p:cNvPr id="9" name="Espace réservé du texte 10">
            <a:extLst>
              <a:ext uri="{FF2B5EF4-FFF2-40B4-BE49-F238E27FC236}">
                <a16:creationId xmlns:a16="http://schemas.microsoft.com/office/drawing/2014/main" id="{121B9EDF-81A4-4116-AE20-E6C846380D2A}"/>
              </a:ext>
            </a:extLst>
          </p:cNvPr>
          <p:cNvSpPr>
            <a:spLocks noGrp="1"/>
          </p:cNvSpPr>
          <p:nvPr>
            <p:ph type="body" sz="quarter" idx="13" hasCustomPrompt="1"/>
          </p:nvPr>
        </p:nvSpPr>
        <p:spPr>
          <a:xfrm>
            <a:off x="3881297" y="4838359"/>
            <a:ext cx="5400000" cy="1296000"/>
          </a:xfrm>
        </p:spPr>
        <p:txBody>
          <a:bodyPr/>
          <a:lstStyle>
            <a:lvl1pPr>
              <a:defRPr sz="1113">
                <a:solidFill>
                  <a:schemeClr val="bg1"/>
                </a:solidFill>
                <a:latin typeface="+mj-lt"/>
              </a:defRPr>
            </a:lvl1pPr>
            <a:lvl2pPr marL="0" indent="0">
              <a:spcBef>
                <a:spcPts val="0"/>
              </a:spcBef>
              <a:buNone/>
              <a:defRPr sz="1113">
                <a:solidFill>
                  <a:schemeClr val="bg1"/>
                </a:solidFill>
              </a:defRPr>
            </a:lvl2pPr>
            <a:lvl3pPr>
              <a:defRPr sz="1113">
                <a:solidFill>
                  <a:schemeClr val="bg1"/>
                </a:solidFill>
              </a:defRPr>
            </a:lvl3pPr>
            <a:lvl4pPr>
              <a:defRPr sz="1113">
                <a:solidFill>
                  <a:schemeClr val="bg1"/>
                </a:solidFill>
              </a:defRPr>
            </a:lvl4pPr>
            <a:lvl5pPr>
              <a:defRPr sz="1113">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2069346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Contact">
    <p:bg>
      <p:bgPr>
        <a:solidFill>
          <a:schemeClr val="accent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AFEBD29-A2FA-59FB-FF78-3F8070935093}"/>
              </a:ext>
            </a:extLst>
          </p:cNvPr>
          <p:cNvSpPr/>
          <p:nvPr userDrawn="1"/>
        </p:nvSpPr>
        <p:spPr>
          <a:xfrm>
            <a:off x="-4172" y="-3173"/>
            <a:ext cx="12196171" cy="6861175"/>
          </a:xfrm>
          <a:prstGeom prst="rect">
            <a:avLst/>
          </a:prstGeom>
          <a:gradFill flip="none" rotWithShape="1">
            <a:gsLst>
              <a:gs pos="15000">
                <a:schemeClr val="accent1">
                  <a:lumMod val="50000"/>
                </a:schemeClr>
              </a:gs>
              <a:gs pos="100000">
                <a:schemeClr val="accent1"/>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47788">
              <a:buClrTx/>
              <a:defRPr/>
            </a:pPr>
            <a:endParaRPr lang="fr-FR" sz="1669" kern="1200">
              <a:solidFill>
                <a:prstClr val="white"/>
              </a:solidFill>
              <a:latin typeface="Encode Sans ExpandedLight"/>
            </a:endParaRPr>
          </a:p>
        </p:txBody>
      </p:sp>
      <p:sp>
        <p:nvSpPr>
          <p:cNvPr id="4" name="Parallelogram 22">
            <a:extLst>
              <a:ext uri="{FF2B5EF4-FFF2-40B4-BE49-F238E27FC236}">
                <a16:creationId xmlns:a16="http://schemas.microsoft.com/office/drawing/2014/main" id="{0E3CF52A-2667-3E70-2B15-C411A883EBA1}"/>
              </a:ext>
            </a:extLst>
          </p:cNvPr>
          <p:cNvSpPr/>
          <p:nvPr userDrawn="1"/>
        </p:nvSpPr>
        <p:spPr>
          <a:xfrm>
            <a:off x="-4169" y="-3174"/>
            <a:ext cx="5967314" cy="6867365"/>
          </a:xfrm>
          <a:custGeom>
            <a:avLst/>
            <a:gdLst>
              <a:gd name="connsiteX0" fmla="*/ 0 w 8345097"/>
              <a:gd name="connsiteY0" fmla="*/ 7086360 h 7086360"/>
              <a:gd name="connsiteX1" fmla="*/ 4731137 w 8345097"/>
              <a:gd name="connsiteY1" fmla="*/ 0 h 7086360"/>
              <a:gd name="connsiteX2" fmla="*/ 8345097 w 8345097"/>
              <a:gd name="connsiteY2" fmla="*/ 0 h 7086360"/>
              <a:gd name="connsiteX3" fmla="*/ 3613960 w 8345097"/>
              <a:gd name="connsiteY3" fmla="*/ 7086360 h 7086360"/>
              <a:gd name="connsiteX4" fmla="*/ 0 w 8345097"/>
              <a:gd name="connsiteY4" fmla="*/ 7086360 h 7086360"/>
              <a:gd name="connsiteX0" fmla="*/ 0 w 8345097"/>
              <a:gd name="connsiteY0" fmla="*/ 7097935 h 7097935"/>
              <a:gd name="connsiteX1" fmla="*/ 2381476 w 8345097"/>
              <a:gd name="connsiteY1" fmla="*/ 0 h 7097935"/>
              <a:gd name="connsiteX2" fmla="*/ 8345097 w 8345097"/>
              <a:gd name="connsiteY2" fmla="*/ 11575 h 7097935"/>
              <a:gd name="connsiteX3" fmla="*/ 3613960 w 8345097"/>
              <a:gd name="connsiteY3" fmla="*/ 7097935 h 7097935"/>
              <a:gd name="connsiteX4" fmla="*/ 0 w 8345097"/>
              <a:gd name="connsiteY4" fmla="*/ 7097935 h 7097935"/>
              <a:gd name="connsiteX0" fmla="*/ 0 w 8345097"/>
              <a:gd name="connsiteY0" fmla="*/ 7097935 h 7097935"/>
              <a:gd name="connsiteX1" fmla="*/ 2381476 w 8345097"/>
              <a:gd name="connsiteY1" fmla="*/ 0 h 7097935"/>
              <a:gd name="connsiteX2" fmla="*/ 8345097 w 8345097"/>
              <a:gd name="connsiteY2" fmla="*/ 11575 h 7097935"/>
              <a:gd name="connsiteX3" fmla="*/ 3752856 w 8345097"/>
              <a:gd name="connsiteY3" fmla="*/ 6889590 h 7097935"/>
              <a:gd name="connsiteX4" fmla="*/ 0 w 8345097"/>
              <a:gd name="connsiteY4" fmla="*/ 7097935 h 7097935"/>
              <a:gd name="connsiteX0" fmla="*/ 49207 w 5963621"/>
              <a:gd name="connsiteY0" fmla="*/ 6415028 h 6889590"/>
              <a:gd name="connsiteX1" fmla="*/ 0 w 5963621"/>
              <a:gd name="connsiteY1" fmla="*/ 0 h 6889590"/>
              <a:gd name="connsiteX2" fmla="*/ 5963621 w 5963621"/>
              <a:gd name="connsiteY2" fmla="*/ 11575 h 6889590"/>
              <a:gd name="connsiteX3" fmla="*/ 1371380 w 5963621"/>
              <a:gd name="connsiteY3" fmla="*/ 6889590 h 6889590"/>
              <a:gd name="connsiteX4" fmla="*/ 49207 w 5963621"/>
              <a:gd name="connsiteY4" fmla="*/ 6415028 h 6889590"/>
              <a:gd name="connsiteX0" fmla="*/ 2909 w 5963621"/>
              <a:gd name="connsiteY0" fmla="*/ 6866441 h 6889590"/>
              <a:gd name="connsiteX1" fmla="*/ 0 w 5963621"/>
              <a:gd name="connsiteY1" fmla="*/ 0 h 6889590"/>
              <a:gd name="connsiteX2" fmla="*/ 5963621 w 5963621"/>
              <a:gd name="connsiteY2" fmla="*/ 11575 h 6889590"/>
              <a:gd name="connsiteX3" fmla="*/ 1371380 w 5963621"/>
              <a:gd name="connsiteY3" fmla="*/ 6889590 h 6889590"/>
              <a:gd name="connsiteX4" fmla="*/ 2909 w 5963621"/>
              <a:gd name="connsiteY4" fmla="*/ 6866441 h 6889590"/>
              <a:gd name="connsiteX0" fmla="*/ 3 w 5960715"/>
              <a:gd name="connsiteY0" fmla="*/ 6854866 h 6878015"/>
              <a:gd name="connsiteX1" fmla="*/ 330469 w 5960715"/>
              <a:gd name="connsiteY1" fmla="*/ 321800 h 6878015"/>
              <a:gd name="connsiteX2" fmla="*/ 5960715 w 5960715"/>
              <a:gd name="connsiteY2" fmla="*/ 0 h 6878015"/>
              <a:gd name="connsiteX3" fmla="*/ 1368474 w 5960715"/>
              <a:gd name="connsiteY3" fmla="*/ 6878015 h 6878015"/>
              <a:gd name="connsiteX4" fmla="*/ 3 w 5960715"/>
              <a:gd name="connsiteY4" fmla="*/ 6854866 h 6878015"/>
              <a:gd name="connsiteX0" fmla="*/ 2909 w 5963621"/>
              <a:gd name="connsiteY0" fmla="*/ 6856916 h 6880065"/>
              <a:gd name="connsiteX1" fmla="*/ 0 w 5963621"/>
              <a:gd name="connsiteY1" fmla="*/ 0 h 6880065"/>
              <a:gd name="connsiteX2" fmla="*/ 5963621 w 5963621"/>
              <a:gd name="connsiteY2" fmla="*/ 2050 h 6880065"/>
              <a:gd name="connsiteX3" fmla="*/ 1371380 w 5963621"/>
              <a:gd name="connsiteY3" fmla="*/ 6880065 h 6880065"/>
              <a:gd name="connsiteX4" fmla="*/ 2909 w 5963621"/>
              <a:gd name="connsiteY4" fmla="*/ 6856916 h 6880065"/>
              <a:gd name="connsiteX0" fmla="*/ 215634 w 5963621"/>
              <a:gd name="connsiteY0" fmla="*/ 6682291 h 6880065"/>
              <a:gd name="connsiteX1" fmla="*/ 0 w 5963621"/>
              <a:gd name="connsiteY1" fmla="*/ 0 h 6880065"/>
              <a:gd name="connsiteX2" fmla="*/ 5963621 w 5963621"/>
              <a:gd name="connsiteY2" fmla="*/ 2050 h 6880065"/>
              <a:gd name="connsiteX3" fmla="*/ 1371380 w 5963621"/>
              <a:gd name="connsiteY3" fmla="*/ 6880065 h 6880065"/>
              <a:gd name="connsiteX4" fmla="*/ 215634 w 5963621"/>
              <a:gd name="connsiteY4" fmla="*/ 6682291 h 6880065"/>
              <a:gd name="connsiteX0" fmla="*/ 94984 w 5963621"/>
              <a:gd name="connsiteY0" fmla="*/ 6758491 h 6880065"/>
              <a:gd name="connsiteX1" fmla="*/ 0 w 5963621"/>
              <a:gd name="connsiteY1" fmla="*/ 0 h 6880065"/>
              <a:gd name="connsiteX2" fmla="*/ 5963621 w 5963621"/>
              <a:gd name="connsiteY2" fmla="*/ 2050 h 6880065"/>
              <a:gd name="connsiteX3" fmla="*/ 1371380 w 5963621"/>
              <a:gd name="connsiteY3" fmla="*/ 6880065 h 6880065"/>
              <a:gd name="connsiteX4" fmla="*/ 94984 w 5963621"/>
              <a:gd name="connsiteY4" fmla="*/ 6758491 h 6880065"/>
              <a:gd name="connsiteX0" fmla="*/ 252 w 5964139"/>
              <a:gd name="connsiteY0" fmla="*/ 6856916 h 6880065"/>
              <a:gd name="connsiteX1" fmla="*/ 518 w 5964139"/>
              <a:gd name="connsiteY1" fmla="*/ 0 h 6880065"/>
              <a:gd name="connsiteX2" fmla="*/ 5964139 w 5964139"/>
              <a:gd name="connsiteY2" fmla="*/ 2050 h 6880065"/>
              <a:gd name="connsiteX3" fmla="*/ 1371898 w 5964139"/>
              <a:gd name="connsiteY3" fmla="*/ 6880065 h 6880065"/>
              <a:gd name="connsiteX4" fmla="*/ 252 w 5964139"/>
              <a:gd name="connsiteY4" fmla="*/ 6856916 h 6880065"/>
              <a:gd name="connsiteX0" fmla="*/ 252 w 5964139"/>
              <a:gd name="connsiteY0" fmla="*/ 6856916 h 6864190"/>
              <a:gd name="connsiteX1" fmla="*/ 518 w 5964139"/>
              <a:gd name="connsiteY1" fmla="*/ 0 h 6864190"/>
              <a:gd name="connsiteX2" fmla="*/ 5964139 w 5964139"/>
              <a:gd name="connsiteY2" fmla="*/ 2050 h 6864190"/>
              <a:gd name="connsiteX3" fmla="*/ 1381423 w 5964139"/>
              <a:gd name="connsiteY3" fmla="*/ 6864190 h 6864190"/>
              <a:gd name="connsiteX4" fmla="*/ 252 w 5964139"/>
              <a:gd name="connsiteY4" fmla="*/ 6856916 h 6864190"/>
              <a:gd name="connsiteX0" fmla="*/ 117 w 5967179"/>
              <a:gd name="connsiteY0" fmla="*/ 6856916 h 6864190"/>
              <a:gd name="connsiteX1" fmla="*/ 3558 w 5967179"/>
              <a:gd name="connsiteY1" fmla="*/ 0 h 6864190"/>
              <a:gd name="connsiteX2" fmla="*/ 5967179 w 5967179"/>
              <a:gd name="connsiteY2" fmla="*/ 2050 h 6864190"/>
              <a:gd name="connsiteX3" fmla="*/ 1384463 w 5967179"/>
              <a:gd name="connsiteY3" fmla="*/ 6864190 h 6864190"/>
              <a:gd name="connsiteX4" fmla="*/ 117 w 5967179"/>
              <a:gd name="connsiteY4" fmla="*/ 6856916 h 6864190"/>
              <a:gd name="connsiteX0" fmla="*/ 117 w 5967179"/>
              <a:gd name="connsiteY0" fmla="*/ 6863266 h 6864190"/>
              <a:gd name="connsiteX1" fmla="*/ 3558 w 5967179"/>
              <a:gd name="connsiteY1" fmla="*/ 0 h 6864190"/>
              <a:gd name="connsiteX2" fmla="*/ 5967179 w 5967179"/>
              <a:gd name="connsiteY2" fmla="*/ 2050 h 6864190"/>
              <a:gd name="connsiteX3" fmla="*/ 1384463 w 5967179"/>
              <a:gd name="connsiteY3" fmla="*/ 6864190 h 6864190"/>
              <a:gd name="connsiteX4" fmla="*/ 117 w 5967179"/>
              <a:gd name="connsiteY4" fmla="*/ 6863266 h 6864190"/>
              <a:gd name="connsiteX0" fmla="*/ 252 w 5967314"/>
              <a:gd name="connsiteY0" fmla="*/ 6866441 h 6867365"/>
              <a:gd name="connsiteX1" fmla="*/ 518 w 5967314"/>
              <a:gd name="connsiteY1" fmla="*/ 0 h 6867365"/>
              <a:gd name="connsiteX2" fmla="*/ 5967314 w 5967314"/>
              <a:gd name="connsiteY2" fmla="*/ 5225 h 6867365"/>
              <a:gd name="connsiteX3" fmla="*/ 1384598 w 5967314"/>
              <a:gd name="connsiteY3" fmla="*/ 6867365 h 6867365"/>
              <a:gd name="connsiteX4" fmla="*/ 252 w 5967314"/>
              <a:gd name="connsiteY4" fmla="*/ 6866441 h 6867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314" h="6867365">
                <a:moveTo>
                  <a:pt x="252" y="6866441"/>
                </a:moveTo>
                <a:cubicBezTo>
                  <a:pt x="-718" y="4577627"/>
                  <a:pt x="1488" y="2288814"/>
                  <a:pt x="518" y="0"/>
                </a:cubicBezTo>
                <a:lnTo>
                  <a:pt x="5967314" y="5225"/>
                </a:lnTo>
                <a:lnTo>
                  <a:pt x="1384598" y="6867365"/>
                </a:lnTo>
                <a:lnTo>
                  <a:pt x="252" y="6866441"/>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defTabSz="847788">
              <a:defRPr/>
            </a:pPr>
            <a:endParaRPr lang="ru-RU" sz="2307" kern="1200"/>
          </a:p>
        </p:txBody>
      </p:sp>
    </p:spTree>
    <p:extLst>
      <p:ext uri="{BB962C8B-B14F-4D97-AF65-F5344CB8AC3E}">
        <p14:creationId xmlns:p14="http://schemas.microsoft.com/office/powerpoint/2010/main" val="36597236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ext">
    <p:bg>
      <p:bgPr>
        <a:solidFill>
          <a:schemeClr val="bg1"/>
        </a:solidFill>
        <a:effectLst/>
      </p:bgPr>
    </p:bg>
    <p:spTree>
      <p:nvGrpSpPr>
        <p:cNvPr id="1" name=""/>
        <p:cNvGrpSpPr/>
        <p:nvPr/>
      </p:nvGrpSpPr>
      <p:grpSpPr>
        <a:xfrm>
          <a:off x="0" y="0"/>
          <a:ext cx="0" cy="0"/>
          <a:chOff x="0" y="0"/>
          <a:chExt cx="0" cy="0"/>
        </a:xfrm>
      </p:grpSpPr>
      <p:sp>
        <p:nvSpPr>
          <p:cNvPr id="77" name="Text Placeholder 8">
            <a:extLst>
              <a:ext uri="{FF2B5EF4-FFF2-40B4-BE49-F238E27FC236}">
                <a16:creationId xmlns:a16="http://schemas.microsoft.com/office/drawing/2014/main" id="{1BA5820D-D125-6B36-32C2-883928094B9A}"/>
              </a:ext>
            </a:extLst>
          </p:cNvPr>
          <p:cNvSpPr>
            <a:spLocks noGrp="1"/>
          </p:cNvSpPr>
          <p:nvPr>
            <p:ph type="body" sz="quarter" idx="56"/>
          </p:nvPr>
        </p:nvSpPr>
        <p:spPr>
          <a:xfrm>
            <a:off x="559776" y="1804189"/>
            <a:ext cx="11072450" cy="4262751"/>
          </a:xfrm>
          <a:prstGeom prst="rect">
            <a:avLst/>
          </a:prstGeom>
        </p:spPr>
        <p:txBody>
          <a:bodyPr>
            <a:noAutofit/>
          </a:bodyPr>
          <a:lstStyle>
            <a:lvl1pPr marL="12700" indent="-12700">
              <a:buFont typeface="Arial" panose="020B0604020202020204" pitchFamily="34" charset="0"/>
              <a:buNone/>
              <a:tabLst/>
              <a:defRPr sz="1400" b="0" i="0">
                <a:solidFill>
                  <a:schemeClr val="tx1"/>
                </a:solidFill>
                <a:latin typeface="Encode Sans Expanded Expanded L" pitchFamily="2" charset="77"/>
              </a:defRPr>
            </a:lvl1pPr>
            <a:lvl2pPr>
              <a:defRPr sz="1400" b="1" i="0">
                <a:latin typeface="Encode Sans Expanded Expanded S" pitchFamily="2" charset="77"/>
              </a:defRPr>
            </a:lvl2pPr>
            <a:lvl3pPr>
              <a:defRPr sz="1400" b="1" i="0">
                <a:latin typeface="Encode Sans Expanded Expanded S" pitchFamily="2" charset="77"/>
              </a:defRPr>
            </a:lvl3pPr>
            <a:lvl4pPr>
              <a:defRPr sz="1400" b="1" i="0">
                <a:latin typeface="Encode Sans Expanded Expanded S" pitchFamily="2" charset="77"/>
              </a:defRPr>
            </a:lvl4pPr>
            <a:lvl5pPr>
              <a:defRPr sz="1400" b="1" i="0">
                <a:latin typeface="Encode Sans Expanded Expanded S" pitchFamily="2" charset="77"/>
              </a:defRPr>
            </a:lvl5pPr>
          </a:lstStyle>
          <a:p>
            <a:pPr lvl="0"/>
            <a:r>
              <a:rPr lang="en-US"/>
              <a:t>Click to edit Master text styles</a:t>
            </a:r>
          </a:p>
        </p:txBody>
      </p:sp>
      <p:sp>
        <p:nvSpPr>
          <p:cNvPr id="5" name="Title 1">
            <a:extLst>
              <a:ext uri="{FF2B5EF4-FFF2-40B4-BE49-F238E27FC236}">
                <a16:creationId xmlns:a16="http://schemas.microsoft.com/office/drawing/2014/main" id="{EE6F978A-DD40-416B-1128-C0C86FB2A942}"/>
              </a:ext>
            </a:extLst>
          </p:cNvPr>
          <p:cNvSpPr>
            <a:spLocks noGrp="1"/>
          </p:cNvSpPr>
          <p:nvPr>
            <p:ph type="title" hasCustomPrompt="1"/>
          </p:nvPr>
        </p:nvSpPr>
        <p:spPr>
          <a:xfrm>
            <a:off x="559776" y="312618"/>
            <a:ext cx="9210389" cy="671405"/>
          </a:xfrm>
          <a:prstGeom prst="rect">
            <a:avLst/>
          </a:prstGeom>
        </p:spPr>
        <p:txBody>
          <a:bodyPr anchor="t">
            <a:noAutofit/>
          </a:bodyPr>
          <a:lstStyle>
            <a:lvl1pPr>
              <a:buFont typeface="Arial" panose="020B0604020202020204" pitchFamily="34" charset="0"/>
              <a:buNone/>
              <a:defRPr sz="3600" b="1" i="0" cap="none">
                <a:solidFill>
                  <a:srgbClr val="243782"/>
                </a:solidFill>
                <a:latin typeface="Encode Sans Expanded Expanded S" pitchFamily="2" charset="77"/>
              </a:defRPr>
            </a:lvl1pPr>
          </a:lstStyle>
          <a:p>
            <a:r>
              <a:rPr lang="en-US"/>
              <a:t>Click to edit master title style</a:t>
            </a:r>
          </a:p>
        </p:txBody>
      </p:sp>
      <p:sp>
        <p:nvSpPr>
          <p:cNvPr id="8" name="Text Placeholder 16">
            <a:extLst>
              <a:ext uri="{FF2B5EF4-FFF2-40B4-BE49-F238E27FC236}">
                <a16:creationId xmlns:a16="http://schemas.microsoft.com/office/drawing/2014/main" id="{8367D7C7-224D-7E60-96F4-714E2C6682E6}"/>
              </a:ext>
            </a:extLst>
          </p:cNvPr>
          <p:cNvSpPr>
            <a:spLocks noGrp="1"/>
          </p:cNvSpPr>
          <p:nvPr>
            <p:ph type="body" sz="quarter" idx="11" hasCustomPrompt="1"/>
          </p:nvPr>
        </p:nvSpPr>
        <p:spPr>
          <a:xfrm>
            <a:off x="559775" y="984024"/>
            <a:ext cx="7255267" cy="649283"/>
          </a:xfrm>
          <a:prstGeom prst="rect">
            <a:avLst/>
          </a:prstGeom>
        </p:spPr>
        <p:txBody>
          <a:bodyPr>
            <a:noAutofit/>
          </a:bodyPr>
          <a:lstStyle>
            <a:lvl1pPr marL="12700" indent="-12700">
              <a:buFont typeface="Arial" panose="020B0604020202020204" pitchFamily="34" charset="0"/>
              <a:buNone/>
              <a:tabLst/>
              <a:defRPr sz="1800" b="0" i="0">
                <a:solidFill>
                  <a:srgbClr val="243782"/>
                </a:solidFill>
                <a:latin typeface="Encode Sans Expanded Expanded L" pitchFamily="2" charset="77"/>
              </a:defRPr>
            </a:lvl1pPr>
          </a:lstStyle>
          <a:p>
            <a:pPr lvl="0"/>
            <a:r>
              <a:rPr lang="en-US"/>
              <a:t>Click to edit Master subtitle style</a:t>
            </a:r>
          </a:p>
        </p:txBody>
      </p:sp>
      <p:pic>
        <p:nvPicPr>
          <p:cNvPr id="19" name="Graphic 18">
            <a:extLst>
              <a:ext uri="{FF2B5EF4-FFF2-40B4-BE49-F238E27FC236}">
                <a16:creationId xmlns:a16="http://schemas.microsoft.com/office/drawing/2014/main" id="{6D4DAF9A-CC82-232C-7366-8A2028BD0EE1}"/>
              </a:ext>
            </a:extLst>
          </p:cNvPr>
          <p:cNvPicPr>
            <a:picLocks noChangeAspect="1"/>
          </p:cNvPicPr>
          <p:nvPr userDrawn="1"/>
        </p:nvPicPr>
        <p:blipFill>
          <a:blip>
            <a:extLst>
              <a:ext uri="{96DAC541-7B7A-43D3-8B79-37D633B846F1}">
                <asvg:svgBlip xmlns:asvg="http://schemas.microsoft.com/office/drawing/2016/SVG/main" r:embed="rId2"/>
              </a:ext>
            </a:extLst>
          </a:blip>
          <a:srcRect l="11605" t="14035" r="11222" b="15322"/>
          <a:stretch>
            <a:fillRect/>
          </a:stretch>
        </p:blipFill>
        <p:spPr>
          <a:xfrm>
            <a:off x="10406787" y="471807"/>
            <a:ext cx="1254673" cy="319253"/>
          </a:xfrm>
          <a:prstGeom prst="rect">
            <a:avLst/>
          </a:prstGeom>
        </p:spPr>
      </p:pic>
      <p:sp>
        <p:nvSpPr>
          <p:cNvPr id="2" name="Espace réservé du numéro de diapositive 7">
            <a:extLst>
              <a:ext uri="{FF2B5EF4-FFF2-40B4-BE49-F238E27FC236}">
                <a16:creationId xmlns:a16="http://schemas.microsoft.com/office/drawing/2014/main" id="{7C285708-436C-E0FE-72D1-36BA92287518}"/>
              </a:ext>
            </a:extLst>
          </p:cNvPr>
          <p:cNvSpPr>
            <a:spLocks noGrp="1"/>
          </p:cNvSpPr>
          <p:nvPr>
            <p:ph type="sldNum" sz="quarter" idx="17"/>
          </p:nvPr>
        </p:nvSpPr>
        <p:spPr>
          <a:xfrm>
            <a:off x="11328548" y="6397368"/>
            <a:ext cx="541454" cy="184666"/>
          </a:xfrm>
        </p:spPr>
        <p:txBody>
          <a:bodyPr/>
          <a:lstStyle/>
          <a:p>
            <a:fld id="{975A587B-5814-4D9B-9598-FE9CB954CB01}" type="slidenum">
              <a:rPr lang="en-US" noProof="0" smtClean="0"/>
              <a:pPr/>
              <a:t>‹#›</a:t>
            </a:fld>
            <a:endParaRPr lang="en-US" b="0" noProof="0"/>
          </a:p>
        </p:txBody>
      </p:sp>
    </p:spTree>
    <p:extLst>
      <p:ext uri="{BB962C8B-B14F-4D97-AF65-F5344CB8AC3E}">
        <p14:creationId xmlns:p14="http://schemas.microsoft.com/office/powerpoint/2010/main" val="26972716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309153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theme" Target="../theme/theme1.xml"/><Relationship Id="rId21"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F798E53-107F-468D-A86A-B9E27C8FBA8B}"/>
              </a:ext>
            </a:extLst>
          </p:cNvPr>
          <p:cNvSpPr>
            <a:spLocks noGrp="1"/>
          </p:cNvSpPr>
          <p:nvPr>
            <p:ph type="title"/>
          </p:nvPr>
        </p:nvSpPr>
        <p:spPr>
          <a:xfrm>
            <a:off x="545081" y="1535088"/>
            <a:ext cx="10800000" cy="864000"/>
          </a:xfrm>
          <a:prstGeom prst="rect">
            <a:avLst/>
          </a:prstGeom>
        </p:spPr>
        <p:txBody>
          <a:bodyPr vert="horz" lIns="91440" tIns="45720" rIns="91440" bIns="45720" rtlCol="0" anchor="t">
            <a:noAutofit/>
          </a:bodyPr>
          <a:lstStyle/>
          <a:p>
            <a:r>
              <a:rPr lang="en-US" noProof="0"/>
              <a:t>Click to edit Master title style</a:t>
            </a:r>
          </a:p>
        </p:txBody>
      </p:sp>
      <p:sp>
        <p:nvSpPr>
          <p:cNvPr id="3" name="Espace réservé du texte 2">
            <a:extLst>
              <a:ext uri="{FF2B5EF4-FFF2-40B4-BE49-F238E27FC236}">
                <a16:creationId xmlns:a16="http://schemas.microsoft.com/office/drawing/2014/main" id="{33116353-A2DB-400D-836D-10B770C82C62}"/>
              </a:ext>
            </a:extLst>
          </p:cNvPr>
          <p:cNvSpPr>
            <a:spLocks noGrp="1"/>
          </p:cNvSpPr>
          <p:nvPr>
            <p:ph type="body" idx="1"/>
          </p:nvPr>
        </p:nvSpPr>
        <p:spPr>
          <a:xfrm>
            <a:off x="545081" y="2624771"/>
            <a:ext cx="10800000" cy="3600000"/>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FDD59078-F0EA-4B2B-B92A-CB1D0AA4F88E}"/>
              </a:ext>
            </a:extLst>
          </p:cNvPr>
          <p:cNvSpPr>
            <a:spLocks noGrp="1"/>
          </p:cNvSpPr>
          <p:nvPr>
            <p:ph type="dt" sz="half" idx="2"/>
          </p:nvPr>
        </p:nvSpPr>
        <p:spPr>
          <a:xfrm>
            <a:off x="546100" y="6489701"/>
            <a:ext cx="1056000" cy="216000"/>
          </a:xfrm>
          <a:prstGeom prst="rect">
            <a:avLst/>
          </a:prstGeom>
        </p:spPr>
        <p:txBody>
          <a:bodyPr vert="horz" lIns="91440" tIns="45720" rIns="91440" bIns="45720" rtlCol="0" anchor="ctr">
            <a:noAutofit/>
          </a:bodyPr>
          <a:lstStyle>
            <a:lvl1pPr algn="l">
              <a:defRPr sz="900" b="0">
                <a:solidFill>
                  <a:schemeClr val="tx2"/>
                </a:solidFill>
                <a:latin typeface="+mn-lt"/>
              </a:defRPr>
            </a:lvl1pPr>
          </a:lstStyle>
          <a:p>
            <a:endParaRPr lang="en-US"/>
          </a:p>
        </p:txBody>
      </p:sp>
      <p:sp>
        <p:nvSpPr>
          <p:cNvPr id="6"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1328548" y="6397368"/>
            <a:ext cx="541454" cy="184666"/>
          </a:xfrm>
          <a:prstGeom prst="rect">
            <a:avLst/>
          </a:prstGeom>
        </p:spPr>
        <p:txBody>
          <a:bodyPr vert="horz" lIns="0" tIns="0" rIns="0" bIns="0" rtlCol="0" anchor="ctr">
            <a:spAutoFit/>
          </a:bodyPr>
          <a:lstStyle>
            <a:lvl1pPr algn="ctr">
              <a:defRPr sz="1200" b="0" spc="100" baseline="0">
                <a:solidFill>
                  <a:schemeClr val="tx2"/>
                </a:solidFill>
                <a:latin typeface="+mn-lt"/>
              </a:defRPr>
            </a:lvl1pPr>
          </a:lstStyle>
          <a:p>
            <a:fld id="{975A587B-5814-4D9B-9598-FE9CB954CB01}" type="slidenum">
              <a:rPr lang="en-US" smtClean="0"/>
              <a:pPr/>
              <a:t>‹#›</a:t>
            </a:fld>
            <a:endParaRPr lang="en-US"/>
          </a:p>
        </p:txBody>
      </p:sp>
      <p:pic>
        <p:nvPicPr>
          <p:cNvPr id="16" name="Image 15" descr="Une image contenant texte&#10;&#10;Description générée automatiquement">
            <a:extLst>
              <a:ext uri="{FF2B5EF4-FFF2-40B4-BE49-F238E27FC236}">
                <a16:creationId xmlns:a16="http://schemas.microsoft.com/office/drawing/2014/main" id="{C3BC85E7-A235-4FF4-9B8B-EFEEC472A86F}"/>
              </a:ext>
            </a:extLst>
          </p:cNvPr>
          <p:cNvPicPr>
            <a:picLocks noChangeAspect="1"/>
          </p:cNvPicPr>
          <p:nvPr userDrawn="1"/>
        </p:nvPicPr>
        <p:blipFill rotWithShape="1">
          <a:blip r:embed="rId21">
            <a:extLst>
              <a:ext uri="{28A0092B-C50C-407E-A947-70E740481C1C}">
                <a14:useLocalDpi xmlns:a14="http://schemas.microsoft.com/office/drawing/2010/main" val="0"/>
              </a:ext>
            </a:extLst>
          </a:blip>
          <a:srcRect/>
          <a:stretch/>
        </p:blipFill>
        <p:spPr>
          <a:xfrm>
            <a:off x="9806940" y="350044"/>
            <a:ext cx="1904048" cy="557212"/>
          </a:xfrm>
          <a:prstGeom prst="rect">
            <a:avLst/>
          </a:prstGeom>
        </p:spPr>
      </p:pic>
      <p:sp>
        <p:nvSpPr>
          <p:cNvPr id="12" name="Google Shape;88;p3">
            <a:extLst>
              <a:ext uri="{FF2B5EF4-FFF2-40B4-BE49-F238E27FC236}">
                <a16:creationId xmlns:a16="http://schemas.microsoft.com/office/drawing/2014/main" id="{9CC1F3B9-2D6B-B620-6DC4-E74D7296A69E}"/>
              </a:ext>
            </a:extLst>
          </p:cNvPr>
          <p:cNvSpPr/>
          <p:nvPr userDrawn="1"/>
        </p:nvSpPr>
        <p:spPr>
          <a:xfrm>
            <a:off x="11431928" y="6335801"/>
            <a:ext cx="307800" cy="307800"/>
          </a:xfrm>
          <a:prstGeom prst="ellipse">
            <a:avLst/>
          </a:prstGeom>
          <a:noFill/>
          <a:ln w="9525" cap="flat" cmpd="sng">
            <a:solidFill>
              <a:schemeClr val="tx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43782"/>
              </a:solidFill>
              <a:latin typeface="Arial"/>
              <a:ea typeface="Arial"/>
              <a:cs typeface="Arial"/>
              <a:sym typeface="Arial"/>
            </a:endParaRPr>
          </a:p>
        </p:txBody>
      </p:sp>
    </p:spTree>
    <p:extLst>
      <p:ext uri="{BB962C8B-B14F-4D97-AF65-F5344CB8AC3E}">
        <p14:creationId xmlns:p14="http://schemas.microsoft.com/office/powerpoint/2010/main" val="33811220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hf hdr="0" dt="0"/>
  <p:txStyles>
    <p:titleStyle>
      <a:lvl1pPr algn="l" defTabSz="685800" rtl="0" eaLnBrk="1" latinLnBrk="0" hangingPunct="1">
        <a:lnSpc>
          <a:spcPct val="95000"/>
        </a:lnSpc>
        <a:spcBef>
          <a:spcPct val="0"/>
        </a:spcBef>
        <a:buNone/>
        <a:defRPr sz="2600" b="0" kern="1200" cap="all" baseline="0">
          <a:solidFill>
            <a:schemeClr val="tx2"/>
          </a:solidFill>
          <a:latin typeface="+mj-lt"/>
          <a:ea typeface="+mj-ea"/>
          <a:cs typeface="+mj-cs"/>
        </a:defRPr>
      </a:lvl1pPr>
    </p:titleStyle>
    <p:bodyStyle>
      <a:lvl1pPr marL="0" indent="0" algn="l" defTabSz="685800" rtl="0" eaLnBrk="1" latinLnBrk="0" hangingPunct="1">
        <a:lnSpc>
          <a:spcPct val="105000"/>
        </a:lnSpc>
        <a:spcBef>
          <a:spcPts val="0"/>
        </a:spcBef>
        <a:buFont typeface="Arial" panose="020B0604020202020204" pitchFamily="34" charset="0"/>
        <a:buNone/>
        <a:defRPr sz="1600" b="0" kern="1200">
          <a:solidFill>
            <a:schemeClr val="tx2"/>
          </a:solidFill>
          <a:latin typeface="+mj-lt"/>
          <a:ea typeface="+mn-ea"/>
          <a:cs typeface="+mn-cs"/>
        </a:defRPr>
      </a:lvl1pPr>
      <a:lvl2pPr marL="216000" indent="-216000" algn="l" defTabSz="685800" rtl="0" eaLnBrk="1" latinLnBrk="0" hangingPunct="1">
        <a:lnSpc>
          <a:spcPct val="105000"/>
        </a:lnSpc>
        <a:spcBef>
          <a:spcPts val="700"/>
        </a:spcBef>
        <a:buFont typeface="Arial" panose="020B0604020202020204" pitchFamily="34" charset="0"/>
        <a:buChar char="•"/>
        <a:defRPr sz="1600" kern="1200">
          <a:solidFill>
            <a:schemeClr val="tx2"/>
          </a:solidFill>
          <a:latin typeface="+mn-lt"/>
          <a:ea typeface="+mn-ea"/>
          <a:cs typeface="+mn-cs"/>
        </a:defRPr>
      </a:lvl2pPr>
      <a:lvl3pPr marL="216000" indent="0" algn="l" defTabSz="685800" rtl="0" eaLnBrk="1" latinLnBrk="0" hangingPunct="1">
        <a:lnSpc>
          <a:spcPct val="105000"/>
        </a:lnSpc>
        <a:spcBef>
          <a:spcPts val="700"/>
        </a:spcBef>
        <a:buSzPct val="120000"/>
        <a:buFont typeface="Encode Sans" pitchFamily="2" charset="0"/>
        <a:buNone/>
        <a:defRPr sz="1400" b="0" kern="1200">
          <a:solidFill>
            <a:schemeClr val="accent1"/>
          </a:solidFill>
          <a:latin typeface="+mn-lt"/>
          <a:ea typeface="+mn-ea"/>
          <a:cs typeface="+mn-cs"/>
        </a:defRPr>
      </a:lvl3pPr>
      <a:lvl4pPr marL="216000" indent="0" algn="l" defTabSz="685800" rtl="0" eaLnBrk="1" latinLnBrk="0" hangingPunct="1">
        <a:lnSpc>
          <a:spcPct val="105000"/>
        </a:lnSpc>
        <a:spcBef>
          <a:spcPts val="400"/>
        </a:spcBef>
        <a:buFont typeface="Encode Sans" pitchFamily="2" charset="0"/>
        <a:buNone/>
        <a:defRPr sz="1400" b="0" kern="1200">
          <a:solidFill>
            <a:schemeClr val="accent1"/>
          </a:solidFill>
          <a:latin typeface="+mj-lt"/>
          <a:ea typeface="+mn-ea"/>
          <a:cs typeface="+mn-cs"/>
        </a:defRPr>
      </a:lvl4pPr>
      <a:lvl5pPr marL="360000" indent="-144000" algn="l" defTabSz="685800" rtl="0" eaLnBrk="1" latinLnBrk="0" hangingPunct="1">
        <a:lnSpc>
          <a:spcPct val="105000"/>
        </a:lnSpc>
        <a:spcBef>
          <a:spcPts val="400"/>
        </a:spcBef>
        <a:buFont typeface="Arial" panose="020B0604020202020204" pitchFamily="34" charset="0"/>
        <a:buChar char="•"/>
        <a:defRPr sz="1400" kern="1200">
          <a:solidFill>
            <a:schemeClr val="accent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7ADFE1-BAAD-24CE-8C65-F9C4F87B2FDA}"/>
              </a:ext>
            </a:extLst>
          </p:cNvPr>
          <p:cNvSpPr>
            <a:spLocks noGrp="1"/>
          </p:cNvSpPr>
          <p:nvPr>
            <p:ph type="sldNum" sz="quarter" idx="4294967295"/>
          </p:nvPr>
        </p:nvSpPr>
        <p:spPr>
          <a:xfrm>
            <a:off x="16191" y="1036687"/>
            <a:ext cx="541454" cy="184666"/>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9" name="Titre 1">
            <a:extLst>
              <a:ext uri="{FF2B5EF4-FFF2-40B4-BE49-F238E27FC236}">
                <a16:creationId xmlns:a16="http://schemas.microsoft.com/office/drawing/2014/main" id="{3517677B-B530-7CFC-8687-C401E1E5F987}"/>
              </a:ext>
            </a:extLst>
          </p:cNvPr>
          <p:cNvSpPr txBox="1">
            <a:spLocks/>
          </p:cNvSpPr>
          <p:nvPr/>
        </p:nvSpPr>
        <p:spPr>
          <a:xfrm>
            <a:off x="731727" y="3673502"/>
            <a:ext cx="9113970" cy="1576096"/>
          </a:xfrm>
          <a:prstGeom prst="rect">
            <a:avLst/>
          </a:prstGeom>
        </p:spPr>
        <p:txBody>
          <a:bodyPr vert="horz" lIns="91440" tIns="45720" rIns="91440" bIns="45720" rtlCol="0" anchor="b">
            <a:noAutofit/>
          </a:bodyPr>
          <a:lstStyle>
            <a:lvl1pPr algn="l" defTabSz="685800" rtl="0" eaLnBrk="1" latinLnBrk="0" hangingPunct="1">
              <a:lnSpc>
                <a:spcPct val="95000"/>
              </a:lnSpc>
              <a:spcBef>
                <a:spcPct val="0"/>
              </a:spcBef>
              <a:buNone/>
              <a:defRPr sz="5000" b="0" kern="1200" cap="all" baseline="0">
                <a:solidFill>
                  <a:schemeClr val="bg1"/>
                </a:solidFill>
                <a:latin typeface="+mn-lt"/>
                <a:ea typeface="+mj-ea"/>
                <a:cs typeface="+mj-cs"/>
              </a:defRPr>
            </a:lvl1pPr>
          </a:lstStyle>
          <a:p>
            <a:pPr marL="0" marR="0" lvl="0" indent="0" algn="l" defTabSz="685800" rtl="0" eaLnBrk="1" fontAlgn="auto" latinLnBrk="0" hangingPunct="1">
              <a:lnSpc>
                <a:spcPct val="95000"/>
              </a:lnSpc>
              <a:spcBef>
                <a:spcPct val="0"/>
              </a:spcBef>
              <a:spcAft>
                <a:spcPts val="0"/>
              </a:spcAft>
              <a:buClrTx/>
              <a:buSzTx/>
              <a:buFontTx/>
              <a:buNone/>
              <a:tabLst/>
              <a:defRPr/>
            </a:pPr>
            <a:r>
              <a:rPr kumimoji="0" lang="en-GB" sz="4000" b="1" i="0" u="none" strike="noStrike" kern="1200" cap="all" spc="0" normalizeH="0" baseline="0" noProof="1">
                <a:ln>
                  <a:noFill/>
                </a:ln>
                <a:solidFill>
                  <a:prstClr val="white"/>
                </a:solidFill>
                <a:effectLst/>
                <a:uLnTx/>
                <a:uFillTx/>
                <a:latin typeface="Encode Sans Expanded Expanded"/>
                <a:ea typeface="+mj-ea"/>
                <a:cs typeface="Encode Sans ExpandedLight"/>
              </a:rPr>
              <a:t>ESG</a:t>
            </a:r>
          </a:p>
          <a:p>
            <a:pPr marL="0" marR="0" lvl="0" indent="0" algn="l" defTabSz="685800" rtl="0" eaLnBrk="1" fontAlgn="auto" latinLnBrk="0" hangingPunct="1">
              <a:lnSpc>
                <a:spcPct val="95000"/>
              </a:lnSpc>
              <a:spcBef>
                <a:spcPct val="0"/>
              </a:spcBef>
              <a:spcAft>
                <a:spcPts val="0"/>
              </a:spcAft>
              <a:buClrTx/>
              <a:buSzTx/>
              <a:buFontTx/>
              <a:buNone/>
              <a:tabLst/>
              <a:defRPr/>
            </a:pPr>
            <a:r>
              <a:rPr kumimoji="0" lang="en-GB" sz="4000" b="1" i="0" u="none" strike="noStrike" kern="1200" cap="all" spc="0" normalizeH="0" baseline="0" noProof="1">
                <a:ln>
                  <a:noFill/>
                </a:ln>
                <a:solidFill>
                  <a:prstClr val="white"/>
                </a:solidFill>
                <a:effectLst/>
                <a:uLnTx/>
                <a:uFillTx/>
                <a:latin typeface="Encode Sans Expanded Expanded"/>
                <a:ea typeface="+mj-ea"/>
                <a:cs typeface="Encode Sans ExpandedLight"/>
              </a:rPr>
              <a:t> </a:t>
            </a:r>
          </a:p>
          <a:p>
            <a:pPr marL="0" marR="0" lvl="0" indent="0" algn="l" defTabSz="685800" rtl="0" eaLnBrk="1" fontAlgn="auto" latinLnBrk="0" hangingPunct="1">
              <a:lnSpc>
                <a:spcPct val="95000"/>
              </a:lnSpc>
              <a:spcBef>
                <a:spcPct val="0"/>
              </a:spcBef>
              <a:spcAft>
                <a:spcPts val="0"/>
              </a:spcAft>
              <a:buClrTx/>
              <a:buSzTx/>
              <a:buFontTx/>
              <a:buNone/>
              <a:tabLst/>
              <a:defRPr/>
            </a:pPr>
            <a:r>
              <a:rPr kumimoji="0" lang="en-US" sz="4000" b="0" i="0" u="none" strike="noStrike" kern="1200" cap="all" spc="0" normalizeH="0" baseline="0" noProof="0">
                <a:ln>
                  <a:noFill/>
                </a:ln>
                <a:solidFill>
                  <a:prstClr val="white"/>
                </a:solidFill>
                <a:effectLst/>
                <a:uLnTx/>
                <a:uFillTx/>
                <a:latin typeface="Encode Sans ExpandedLight"/>
                <a:ea typeface="+mj-ea"/>
                <a:cs typeface="+mj-cs"/>
              </a:rPr>
              <a:t>Benchmark Sustainability Communication &amp; HR</a:t>
            </a:r>
            <a:endParaRPr kumimoji="0" lang="en-GB" sz="4400" b="0" i="0" u="none" strike="noStrike" kern="1200" cap="all" spc="0" normalizeH="0" baseline="0" noProof="1">
              <a:ln>
                <a:noFill/>
              </a:ln>
              <a:solidFill>
                <a:prstClr val="white"/>
              </a:solidFill>
              <a:effectLst/>
              <a:uLnTx/>
              <a:uFillTx/>
              <a:latin typeface="Encode Sans Expanded Light" pitchFamily="2" charset="77"/>
              <a:ea typeface="+mj-ea"/>
              <a:cs typeface="Encode Sans ExpandedLight"/>
            </a:endParaRPr>
          </a:p>
          <a:p>
            <a:pPr marL="0" marR="0" lvl="0" indent="0" algn="l" defTabSz="685800" rtl="0" eaLnBrk="1" fontAlgn="auto" latinLnBrk="0" hangingPunct="1">
              <a:lnSpc>
                <a:spcPct val="95000"/>
              </a:lnSpc>
              <a:spcBef>
                <a:spcPts val="140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Encode Sans ExpandedLight"/>
                <a:ea typeface="+mj-ea"/>
                <a:cs typeface="+mj-cs"/>
              </a:rPr>
              <a:t>Global storytelling and ESG narrative territories</a:t>
            </a:r>
            <a:endParaRPr kumimoji="0" lang="en-GB" sz="4400" b="0" i="0" u="none" strike="noStrike" kern="1200" cap="all" spc="0" normalizeH="0" baseline="0" noProof="1">
              <a:ln>
                <a:noFill/>
              </a:ln>
              <a:solidFill>
                <a:prstClr val="white"/>
              </a:solidFill>
              <a:effectLst/>
              <a:uLnTx/>
              <a:uFillTx/>
              <a:latin typeface="Encode Sans Expanded Light" pitchFamily="2" charset="77"/>
              <a:ea typeface="+mj-ea"/>
              <a:cs typeface="Encode Sans ExpandedLight"/>
            </a:endParaRPr>
          </a:p>
        </p:txBody>
      </p:sp>
      <p:sp>
        <p:nvSpPr>
          <p:cNvPr id="10" name="Titre 1">
            <a:extLst>
              <a:ext uri="{FF2B5EF4-FFF2-40B4-BE49-F238E27FC236}">
                <a16:creationId xmlns:a16="http://schemas.microsoft.com/office/drawing/2014/main" id="{EF6DE7AC-311D-AC5B-6A67-6D6A2CF11EBF}"/>
              </a:ext>
            </a:extLst>
          </p:cNvPr>
          <p:cNvSpPr txBox="1">
            <a:spLocks/>
          </p:cNvSpPr>
          <p:nvPr/>
        </p:nvSpPr>
        <p:spPr>
          <a:xfrm>
            <a:off x="6914305" y="5938344"/>
            <a:ext cx="4783709" cy="344214"/>
          </a:xfrm>
          <a:prstGeom prst="rect">
            <a:avLst/>
          </a:prstGeom>
        </p:spPr>
        <p:txBody>
          <a:bodyPr vert="horz" lIns="91440" tIns="45720" rIns="91440" bIns="45720" rtlCol="0" anchor="t">
            <a:noAutofit/>
          </a:bodyPr>
          <a:lstStyle>
            <a:lvl1pPr algn="l" defTabSz="685800" rtl="0" eaLnBrk="1" latinLnBrk="0" hangingPunct="1">
              <a:lnSpc>
                <a:spcPct val="90000"/>
              </a:lnSpc>
              <a:spcBef>
                <a:spcPct val="0"/>
              </a:spcBef>
              <a:buNone/>
              <a:defRPr sz="4700" kern="1200" cap="all" baseline="0">
                <a:solidFill>
                  <a:schemeClr val="bg1"/>
                </a:solidFill>
                <a:latin typeface="+mn-lt"/>
                <a:ea typeface="+mj-ea"/>
                <a:cs typeface="+mj-cs"/>
              </a:defRPr>
            </a:lvl1pPr>
          </a:lstStyle>
          <a:p>
            <a:pPr marL="0" marR="0" lvl="0" indent="0" algn="r" defTabSz="685800" rtl="0" eaLnBrk="1" fontAlgn="auto" latinLnBrk="0" hangingPunct="1">
              <a:lnSpc>
                <a:spcPct val="90000"/>
              </a:lnSpc>
              <a:spcBef>
                <a:spcPct val="0"/>
              </a:spcBef>
              <a:spcAft>
                <a:spcPts val="0"/>
              </a:spcAft>
              <a:buClrTx/>
              <a:buSzTx/>
              <a:buFontTx/>
              <a:buNone/>
              <a:tabLst/>
              <a:defRPr/>
            </a:pPr>
            <a:r>
              <a:rPr kumimoji="0" lang="en-GB" sz="1800" b="0" i="0" u="none" strike="noStrike" kern="1200" cap="all" spc="0" normalizeH="0" baseline="0" noProof="1">
                <a:ln>
                  <a:noFill/>
                </a:ln>
                <a:solidFill>
                  <a:prstClr val="white"/>
                </a:solidFill>
                <a:effectLst/>
                <a:uLnTx/>
                <a:uFillTx/>
                <a:latin typeface="Encode Sans ExpandedLight"/>
                <a:ea typeface="+mj-ea"/>
                <a:cs typeface="+mj-cs"/>
              </a:rPr>
              <a:t>October 2026</a:t>
            </a:r>
            <a:endParaRPr kumimoji="0" lang="en-GB" sz="3200" b="0" i="0" u="none" strike="noStrike" kern="1200" cap="all" spc="0" normalizeH="0" baseline="0" noProof="1">
              <a:ln>
                <a:noFill/>
              </a:ln>
              <a:solidFill>
                <a:prstClr val="white"/>
              </a:solidFill>
              <a:effectLst/>
              <a:uLnTx/>
              <a:uFillTx/>
              <a:latin typeface="Encode Sans ExpandedLight"/>
              <a:ea typeface="+mj-ea"/>
              <a:cs typeface="+mj-cs"/>
            </a:endParaRPr>
          </a:p>
        </p:txBody>
      </p:sp>
    </p:spTree>
    <p:extLst>
      <p:ext uri="{BB962C8B-B14F-4D97-AF65-F5344CB8AC3E}">
        <p14:creationId xmlns:p14="http://schemas.microsoft.com/office/powerpoint/2010/main" val="1255367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8E99B-64B6-F0DC-0C5C-04AC1719876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1CC0418-3991-9DEE-57EA-33F4C59FDFE6}"/>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7" name="Text Placeholder 6">
            <a:extLst>
              <a:ext uri="{FF2B5EF4-FFF2-40B4-BE49-F238E27FC236}">
                <a16:creationId xmlns:a16="http://schemas.microsoft.com/office/drawing/2014/main" id="{04DF6A94-9E98-98BF-84BE-D2338A6B7BF4}"/>
              </a:ext>
            </a:extLst>
          </p:cNvPr>
          <p:cNvSpPr>
            <a:spLocks noGrp="1"/>
          </p:cNvSpPr>
          <p:nvPr>
            <p:ph type="body" idx="19"/>
          </p:nvPr>
        </p:nvSpPr>
        <p:spPr/>
        <p:txBody>
          <a:bodyPr/>
          <a:lstStyle/>
          <a:p>
            <a:r>
              <a:rPr lang="en-GB" sz="1600" noProof="1">
                <a:latin typeface="Encode Sans Expanded Expanded"/>
              </a:rPr>
              <a:t>Agenda</a:t>
            </a:r>
            <a:endParaRPr lang="en-GB" noProof="1"/>
          </a:p>
        </p:txBody>
      </p:sp>
      <p:sp>
        <p:nvSpPr>
          <p:cNvPr id="8" name="TextBox 7">
            <a:extLst>
              <a:ext uri="{FF2B5EF4-FFF2-40B4-BE49-F238E27FC236}">
                <a16:creationId xmlns:a16="http://schemas.microsoft.com/office/drawing/2014/main" id="{DA182C4D-6E12-E200-14F8-C8CEB07C455B}"/>
              </a:ext>
            </a:extLst>
          </p:cNvPr>
          <p:cNvSpPr txBox="1"/>
          <p:nvPr/>
        </p:nvSpPr>
        <p:spPr>
          <a:xfrm>
            <a:off x="612700" y="1037260"/>
            <a:ext cx="7616900" cy="64633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272B35"/>
                </a:solidFill>
                <a:effectLst/>
                <a:uLnTx/>
                <a:uFillTx/>
                <a:latin typeface="Encode Sans ExpandedLight"/>
                <a:ea typeface="+mn-ea"/>
                <a:cs typeface="+mn-cs"/>
              </a:rPr>
              <a:t>RESEARCH AREAS</a:t>
            </a:r>
            <a:endParaRPr kumimoji="0" lang="en-GB" sz="3600" b="1" i="0" u="none" strike="noStrike" kern="1200" cap="none" spc="0" normalizeH="0" baseline="0" noProof="1">
              <a:ln>
                <a:noFill/>
              </a:ln>
              <a:solidFill>
                <a:srgbClr val="243782"/>
              </a:solidFill>
              <a:effectLst/>
              <a:uLnTx/>
              <a:uFillTx/>
              <a:latin typeface="Encode Sans Expanded" pitchFamily="2" charset="77"/>
              <a:ea typeface="Encode Sans ExpandedLight"/>
              <a:cs typeface="+mn-lt"/>
            </a:endParaRPr>
          </a:p>
        </p:txBody>
      </p:sp>
      <p:sp>
        <p:nvSpPr>
          <p:cNvPr id="11" name="TextBox 10">
            <a:extLst>
              <a:ext uri="{FF2B5EF4-FFF2-40B4-BE49-F238E27FC236}">
                <a16:creationId xmlns:a16="http://schemas.microsoft.com/office/drawing/2014/main" id="{A8EBB142-D9A3-988E-30FF-40C76B169B47}"/>
              </a:ext>
            </a:extLst>
          </p:cNvPr>
          <p:cNvSpPr txBox="1"/>
          <p:nvPr/>
        </p:nvSpPr>
        <p:spPr>
          <a:xfrm>
            <a:off x="612700" y="2216484"/>
            <a:ext cx="8686800" cy="492764"/>
          </a:xfrm>
          <a:prstGeom prst="rect">
            <a:avLst/>
          </a:prstGeom>
          <a:noFill/>
        </p:spPr>
        <p:txBody>
          <a:bodyPr wrap="square" lIns="91440" tIns="45720" rIns="91440" bIns="45720" anchor="t">
            <a:spAutoFit/>
          </a:bodyPr>
          <a:lstStyle>
            <a:defPPr>
              <a:defRPr lang="en-US"/>
            </a:defPPr>
            <a:lvl1pPr marL="342900" indent="-342900">
              <a:lnSpc>
                <a:spcPct val="150000"/>
              </a:lnSpc>
              <a:buClr>
                <a:schemeClr val="tx2"/>
              </a:buClr>
              <a:buSzPct val="126000"/>
              <a:buFont typeface="+mj-lt"/>
              <a:buAutoNum type="arabicPeriod"/>
              <a:defRPr sz="1400" b="1">
                <a:latin typeface="Encode Sans Expanded" pitchFamily="2" charset="77"/>
              </a:defRPr>
            </a:lvl1pPr>
            <a:lvl2pPr marL="800100" lvl="1" indent="-342900">
              <a:lnSpc>
                <a:spcPct val="150000"/>
              </a:lnSpc>
              <a:buClr>
                <a:schemeClr val="tx2"/>
              </a:buClr>
              <a:buSzPct val="126000"/>
              <a:buFont typeface="Arial" panose="020B0604020202020204" pitchFamily="34" charset="0"/>
              <a:buChar char="•"/>
              <a:defRPr sz="1400">
                <a:latin typeface="Encode Sans Expanded" pitchFamily="2" charset="77"/>
              </a:defRPr>
            </a:lvl2pPr>
          </a:lstStyle>
          <a:p>
            <a:pPr marL="342900" marR="0" lvl="0" indent="-342900" algn="l" defTabSz="914400" rtl="0" eaLnBrk="1" fontAlgn="auto" latinLnBrk="0" hangingPunct="1">
              <a:lnSpc>
                <a:spcPct val="150000"/>
              </a:lnSpc>
              <a:spcBef>
                <a:spcPts val="0"/>
              </a:spcBef>
              <a:spcAft>
                <a:spcPts val="0"/>
              </a:spcAft>
              <a:buClr>
                <a:srgbClr val="243782"/>
              </a:buClr>
              <a:buSzPct val="126000"/>
              <a:buFont typeface="+mj-lt"/>
              <a:buAutoNum type="arabicPeriod"/>
              <a:tabLst/>
              <a:defRPr/>
            </a:pPr>
            <a:r>
              <a:rPr kumimoji="0" lang="en-US" sz="2000" b="1" i="0" u="none" strike="noStrike" kern="1200" cap="none" spc="0" normalizeH="0" baseline="0" noProof="0" dirty="0">
                <a:ln>
                  <a:noFill/>
                </a:ln>
                <a:solidFill>
                  <a:srgbClr val="272B35"/>
                </a:solidFill>
                <a:effectLst/>
                <a:uLnTx/>
                <a:uFillTx/>
                <a:latin typeface="Encode Sans Expanded" pitchFamily="2" charset="77"/>
                <a:ea typeface="+mn-ea"/>
                <a:cs typeface="+mn-cs"/>
              </a:rPr>
              <a:t>Global sustainability narrative: storytelling and ESG territories</a:t>
            </a:r>
            <a:endParaRPr kumimoji="0" lang="en-US" sz="1400" b="1" i="0" u="none" strike="noStrike" kern="1200" cap="none" spc="0" normalizeH="0" baseline="0" noProof="0" dirty="0">
              <a:ln>
                <a:noFill/>
              </a:ln>
              <a:solidFill>
                <a:srgbClr val="272B35"/>
              </a:solidFill>
              <a:effectLst/>
              <a:uLnTx/>
              <a:uFillTx/>
              <a:latin typeface="Encode Sans Expanded" pitchFamily="2" charset="77"/>
              <a:ea typeface="+mn-ea"/>
              <a:cs typeface="+mn-cs"/>
            </a:endParaRPr>
          </a:p>
          <a:p>
            <a:pPr lvl="1"/>
            <a:r>
              <a:rPr sz="1400" b="0" i="0">
                <a:solidFill>
                  <a:srgbClr val="272B35"/>
                </a:solidFill>
                <a:latin typeface="Encode Sans ExpandedLight"/>
              </a:rPr>
              <a:t>Key insight and the four territories</a:t>
            </a:r>
          </a:p>
          <a:p>
            <a:pPr lvl="1"/>
            <a:r>
              <a:rPr sz="1400" b="0" i="0">
                <a:solidFill>
                  <a:srgbClr val="272B35"/>
                </a:solidFill>
                <a:latin typeface="Encode Sans ExpandedLight"/>
              </a:rPr>
              <a:t>Competitors: automotive players</a:t>
            </a:r>
          </a:p>
          <a:p>
            <a:pPr lvl="1"/>
            <a:r>
              <a:rPr sz="1400" b="0" i="0">
                <a:solidFill>
                  <a:srgbClr val="272B35"/>
                </a:solidFill>
                <a:latin typeface="Encode Sans ExpandedLight"/>
              </a:rPr>
              <a:t>Remarkable cases: global storytelling</a:t>
            </a:r>
          </a:p>
          <a:p>
            <a:pPr lvl="1"/>
            <a:r>
              <a:rPr sz="1400" b="0" i="0">
                <a:solidFill>
                  <a:srgbClr val="272B35"/>
                </a:solidFill>
                <a:latin typeface="Encode Sans ExpandedLight"/>
              </a:rPr>
              <a:t>Remarkable cases: ESG topics</a:t>
            </a:r>
          </a:p>
          <a:p>
            <a:pPr lvl="1"/>
            <a:r>
              <a:rPr sz="1400" b="0" i="0">
                <a:solidFill>
                  <a:srgbClr val="272B35"/>
                </a:solidFill>
                <a:latin typeface="Encode Sans ExpandedLight"/>
              </a:rPr>
              <a:t>ESG territory map and positioning map</a:t>
            </a:r>
          </a:p>
          <a:p>
            <a:pPr lvl="1"/>
            <a:r>
              <a:rPr sz="1400" b="0" i="0">
                <a:solidFill>
                  <a:srgbClr val="272B35"/>
                </a:solidFill>
                <a:latin typeface="Encode Sans ExpandedLight"/>
              </a:rPr>
              <a:t>Stellantis today and narrative architecture</a:t>
            </a:r>
          </a:p>
          <a:p>
            <a:pPr lvl="1"/>
            <a:r>
              <a:rPr sz="1400" b="0" i="0">
                <a:solidFill>
                  <a:srgbClr val="272B35"/>
                </a:solidFill>
                <a:latin typeface="Encode Sans ExpandedLight"/>
              </a:rPr>
              <a:t>Take-outs</a:t>
            </a:r>
          </a:p>
        </p:txBody>
      </p:sp>
    </p:spTree>
    <p:extLst>
      <p:ext uri="{BB962C8B-B14F-4D97-AF65-F5344CB8AC3E}">
        <p14:creationId xmlns:p14="http://schemas.microsoft.com/office/powerpoint/2010/main" val="3382104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92709C3-6C73-AF64-8C76-E4D3FD59B0D5}"/>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US" sz="1200" b="0" i="0" u="none" strike="noStrike" kern="1200" cap="none" spc="100" normalizeH="0" baseline="0" noProof="0"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100" normalizeH="0" baseline="0" noProof="0">
              <a:ln>
                <a:noFill/>
              </a:ln>
              <a:solidFill>
                <a:srgbClr val="243782"/>
              </a:solidFill>
              <a:effectLst/>
              <a:uLnTx/>
              <a:uFillTx/>
              <a:latin typeface="Encode Sans ExpandedLight"/>
              <a:ea typeface="+mn-ea"/>
              <a:cs typeface="+mn-cs"/>
            </a:endParaRPr>
          </a:p>
        </p:txBody>
      </p:sp>
      <p:sp>
        <p:nvSpPr>
          <p:cNvPr id="10" name="Text Placeholder 9">
            <a:extLst>
              <a:ext uri="{FF2B5EF4-FFF2-40B4-BE49-F238E27FC236}">
                <a16:creationId xmlns:a16="http://schemas.microsoft.com/office/drawing/2014/main" id="{5D4F1699-0D06-92D0-9045-AA3F624A85A7}"/>
              </a:ext>
            </a:extLst>
          </p:cNvPr>
          <p:cNvSpPr>
            <a:spLocks noGrp="1"/>
          </p:cNvSpPr>
          <p:nvPr>
            <p:ph type="body" sz="quarter" idx="13"/>
          </p:nvPr>
        </p:nvSpPr>
        <p:spPr>
          <a:xfrm>
            <a:off x="536400" y="1337159"/>
            <a:ext cx="8096961" cy="669771"/>
          </a:xfrm>
        </p:spPr>
        <p:txBody>
          <a:bodyPr/>
          <a:lstStyle/>
          <a:p>
            <a:r>
              <a:rPr lang="en-US" dirty="0"/>
              <a:t>GLOBAL SUSTAINABILITY NARRATIVE</a:t>
            </a:r>
          </a:p>
        </p:txBody>
      </p:sp>
      <p:sp>
        <p:nvSpPr>
          <p:cNvPr id="12" name="Text Placeholder 11">
            <a:extLst>
              <a:ext uri="{FF2B5EF4-FFF2-40B4-BE49-F238E27FC236}">
                <a16:creationId xmlns:a16="http://schemas.microsoft.com/office/drawing/2014/main" id="{B1333CCC-EE47-3594-14CE-B3A6997F72BB}"/>
              </a:ext>
            </a:extLst>
          </p:cNvPr>
          <p:cNvSpPr>
            <a:spLocks noGrp="1"/>
          </p:cNvSpPr>
          <p:nvPr>
            <p:ph type="body" idx="21"/>
          </p:nvPr>
        </p:nvSpPr>
        <p:spPr/>
        <p:txBody>
          <a:bodyPr/>
          <a:lstStyle/>
          <a:p>
            <a:r>
              <a:rPr lang="en-US"/>
              <a:t>1</a:t>
            </a:r>
          </a:p>
        </p:txBody>
      </p:sp>
      <p:sp>
        <p:nvSpPr>
          <p:cNvPr id="13" name="Text 35">
            <a:extLst>
              <a:ext uri="{FF2B5EF4-FFF2-40B4-BE49-F238E27FC236}">
                <a16:creationId xmlns:a16="http://schemas.microsoft.com/office/drawing/2014/main" id="{87D3B3EB-89E0-E866-7861-27CF38FDCCB8}"/>
              </a:ext>
            </a:extLst>
          </p:cNvPr>
          <p:cNvSpPr/>
          <p:nvPr/>
        </p:nvSpPr>
        <p:spPr>
          <a:xfrm>
            <a:off x="706873" y="2486874"/>
            <a:ext cx="5852160" cy="221758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E94E24"/>
                </a:solidFill>
                <a:effectLst/>
                <a:uLnTx/>
                <a:uFillTx/>
                <a:latin typeface="Encode Sans ExpandedLight"/>
                <a:ea typeface="+mn-ea"/>
                <a:cs typeface="+mn-cs"/>
              </a:rPr>
              <a:t>KEY QUESTION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72B35"/>
              </a:solidFill>
              <a:effectLst/>
              <a:uLnTx/>
              <a:uFillTx/>
              <a:latin typeface="Encode Sans ExpandedLigh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72B35"/>
                </a:solidFill>
                <a:effectLst/>
                <a:uLnTx/>
                <a:uFillTx/>
                <a:latin typeface="Encode Sans ExpandedLight"/>
                <a:ea typeface="+mn-ea"/>
                <a:cs typeface="+mn-cs"/>
              </a:rPr>
              <a:t>How do leading players tell their overall sustainability story, and how do they prove it on the four ESG territories that matter for Stellantis?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272B35"/>
              </a:solidFill>
              <a:effectLst/>
              <a:uLnTx/>
              <a:uFillTx/>
              <a:latin typeface="Encode Sans Expanded" pitchFamily="2" charset="77"/>
              <a:ea typeface="+mn-ea"/>
              <a:cs typeface="+mn-cs"/>
            </a:endParaRPr>
          </a:p>
        </p:txBody>
      </p:sp>
    </p:spTree>
    <p:extLst>
      <p:ext uri="{BB962C8B-B14F-4D97-AF65-F5344CB8AC3E}">
        <p14:creationId xmlns:p14="http://schemas.microsoft.com/office/powerpoint/2010/main" val="4131768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61A7E-A2BD-6288-BB93-8598342911A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4FD897B-153E-0E9C-3835-1015A547EE70}"/>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US" sz="1200" b="0" i="0" u="none" strike="noStrike" kern="1200" cap="none" spc="100" normalizeH="0" baseline="0" noProof="0"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100" normalizeH="0" baseline="0" noProof="0">
              <a:ln>
                <a:noFill/>
              </a:ln>
              <a:solidFill>
                <a:srgbClr val="243782"/>
              </a:solidFill>
              <a:effectLst/>
              <a:uLnTx/>
              <a:uFillTx/>
              <a:latin typeface="Encode Sans ExpandedLight"/>
              <a:ea typeface="+mn-ea"/>
              <a:cs typeface="+mn-cs"/>
            </a:endParaRPr>
          </a:p>
        </p:txBody>
      </p:sp>
      <p:sp>
        <p:nvSpPr>
          <p:cNvPr id="10" name="Text Placeholder 9">
            <a:extLst>
              <a:ext uri="{FF2B5EF4-FFF2-40B4-BE49-F238E27FC236}">
                <a16:creationId xmlns:a16="http://schemas.microsoft.com/office/drawing/2014/main" id="{99EC3581-D74B-BA46-0C07-CCB791CE92C4}"/>
              </a:ext>
            </a:extLst>
          </p:cNvPr>
          <p:cNvSpPr>
            <a:spLocks noGrp="1"/>
          </p:cNvSpPr>
          <p:nvPr>
            <p:ph type="body" sz="quarter" idx="13"/>
          </p:nvPr>
        </p:nvSpPr>
        <p:spPr/>
        <p:txBody>
          <a:bodyPr/>
          <a:lstStyle/>
          <a:p>
            <a:r>
              <a:rPr lang="en-US" dirty="0"/>
              <a:t>TAKE-OUTS</a:t>
            </a:r>
          </a:p>
        </p:txBody>
      </p:sp>
      <p:sp>
        <p:nvSpPr>
          <p:cNvPr id="12" name="Text Placeholder 11">
            <a:extLst>
              <a:ext uri="{FF2B5EF4-FFF2-40B4-BE49-F238E27FC236}">
                <a16:creationId xmlns:a16="http://schemas.microsoft.com/office/drawing/2014/main" id="{C1D06DEC-8C91-0DE9-35E4-52017B3914EC}"/>
              </a:ext>
            </a:extLst>
          </p:cNvPr>
          <p:cNvSpPr>
            <a:spLocks noGrp="1"/>
          </p:cNvSpPr>
          <p:nvPr>
            <p:ph type="body" idx="21"/>
          </p:nvPr>
        </p:nvSpPr>
        <p:spPr/>
        <p:txBody>
          <a:bodyPr/>
          <a:lstStyle/>
          <a:p>
            <a:r>
              <a:rPr lang="en-US"/>
              <a:t>1</a:t>
            </a:r>
          </a:p>
        </p:txBody>
      </p:sp>
      <p:sp>
        <p:nvSpPr>
          <p:cNvPr id="13" name="Text 35">
            <a:extLst>
              <a:ext uri="{FF2B5EF4-FFF2-40B4-BE49-F238E27FC236}">
                <a16:creationId xmlns:a16="http://schemas.microsoft.com/office/drawing/2014/main" id="{C13E93CE-77BF-E7A3-D4BD-1BC48471F86F}"/>
              </a:ext>
            </a:extLst>
          </p:cNvPr>
          <p:cNvSpPr/>
          <p:nvPr/>
        </p:nvSpPr>
        <p:spPr>
          <a:xfrm>
            <a:off x="706873" y="2486874"/>
            <a:ext cx="6400800" cy="34747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400"/>
              </a:spcAft>
              <a:buClrTx/>
              <a:buSzTx/>
              <a:buFontTx/>
              <a:buNone/>
              <a:tabLst/>
              <a:defRPr/>
            </a:pPr>
            <a:r>
              <a:rPr kumimoji="0" lang="en-US" sz="1800" b="1" i="0" u="none" strike="noStrike" kern="1200" cap="none" spc="0" normalizeH="0" baseline="0" noProof="0">
                <a:ln>
                  <a:noFill/>
                </a:ln>
                <a:solidFill>
                  <a:srgbClr val="243782"/>
                </a:solidFill>
                <a:effectLst/>
                <a:uLnTx/>
                <a:uFillTx/>
                <a:latin typeface="Encode Sans ExpandedLight"/>
                <a:ea typeface="+mn-ea"/>
                <a:cs typeface="+mn-cs"/>
              </a:rPr>
              <a:t>Fair Transition leads, Transparency &amp; Accountability is the backbone, Customer Trust and Environmental Transformation supply the product proof.</a:t>
            </a:r>
            <a:endParaRPr kumimoji="0" lang="en-US" sz="2400" b="0" i="0" u="none" strike="noStrike" kern="1200" cap="none" spc="0" normalizeH="0" baseline="0" noProof="0" dirty="0">
              <a:ln>
                <a:noFill/>
              </a:ln>
              <a:solidFill>
                <a:srgbClr val="272B35"/>
              </a:solidFill>
              <a:effectLst/>
              <a:uLnTx/>
              <a:uFillTx/>
              <a:latin typeface="Encode Sans ExpandedLight"/>
              <a:ea typeface="+mn-ea"/>
              <a:cs typeface="+mn-cs"/>
            </a:endParaRPr>
          </a:p>
          <a:p>
            <a:pPr marL="228600" indent="-228600">
              <a:spcAft>
                <a:spcPts val="700"/>
              </a:spcAft>
              <a:buChar char="•"/>
            </a:pPr>
            <a:r>
              <a:rPr sz="1400" b="0" i="0">
                <a:solidFill>
                  <a:srgbClr val="272B35"/>
                </a:solidFill>
                <a:latin typeface="Encode Sans ExpandedLight"/>
              </a:rPr>
              <a:t>One object, one number, one person behind every story.</a:t>
            </a:r>
          </a:p>
          <a:p>
            <a:pPr marL="228600" indent="-228600">
              <a:spcAft>
                <a:spcPts val="700"/>
              </a:spcAft>
              <a:buChar char="•"/>
            </a:pPr>
            <a:r>
              <a:rPr sz="1400" b="0" i="0">
                <a:solidFill>
                  <a:srgbClr val="272B35"/>
                </a:solidFill>
                <a:latin typeface="Encode Sans ExpandedLight"/>
              </a:rPr>
              <a:t>Never an adjective without proof: no “affordable” without price, no “just” without a KPI.</a:t>
            </a:r>
          </a:p>
          <a:p>
            <a:pPr marL="228600" indent="-228600">
              <a:spcAft>
                <a:spcPts val="700"/>
              </a:spcAft>
              <a:buChar char="•"/>
            </a:pPr>
            <a:r>
              <a:rPr sz="1400" b="0" i="0">
                <a:solidFill>
                  <a:srgbClr val="272B35"/>
                </a:solidFill>
                <a:latin typeface="Encode Sans ExpandedLight"/>
              </a:rPr>
              <a:t>Rhythm over volume: a stable half-year index beats a longer report.</a:t>
            </a:r>
          </a:p>
          <a:p>
            <a:pPr marL="228600" indent="-228600">
              <a:spcAft>
                <a:spcPts val="700"/>
              </a:spcAft>
              <a:buChar char="•"/>
            </a:pPr>
            <a:r>
              <a:rPr sz="1400" b="0" i="0">
                <a:solidFill>
                  <a:srgbClr val="272B35"/>
                </a:solidFill>
                <a:latin typeface="Encode Sans ExpandedLight"/>
              </a:rPr>
              <a:t>Bad news first and in the first person: 2050, Belvidere, recalls.</a:t>
            </a:r>
          </a:p>
          <a:p>
            <a:pPr marL="228600" indent="-228600">
              <a:spcAft>
                <a:spcPts val="700"/>
              </a:spcAft>
              <a:buChar char="•"/>
            </a:pPr>
            <a:r>
              <a:rPr sz="1400" b="0" i="0">
                <a:solidFill>
                  <a:srgbClr val="272B35"/>
                </a:solidFill>
                <a:latin typeface="Encode Sans ExpandedLight"/>
              </a:rPr>
              <a:t>One group frame, many brand and market proofs.</a:t>
            </a:r>
          </a:p>
        </p:txBody>
      </p:sp>
    </p:spTree>
    <p:extLst>
      <p:ext uri="{BB962C8B-B14F-4D97-AF65-F5344CB8AC3E}">
        <p14:creationId xmlns:p14="http://schemas.microsoft.com/office/powerpoint/2010/main" val="4273387618"/>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The four territories</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Title"/>
          <p:cNvSpPr txBox="1"/>
          <p:nvPr/>
        </p:nvSpPr>
        <p:spPr>
          <a:xfrm>
            <a:off x="612648" y="1024128"/>
            <a:ext cx="10972800" cy="548640"/>
          </a:xfrm>
          <a:prstGeom prst="rect">
            <a:avLst/>
          </a:prstGeom>
          <a:noFill/>
        </p:spPr>
        <p:txBody>
          <a:bodyPr wrap="square" lIns="0" rIns="0" tIns="0" bIns="0" anchor="t">
            <a:spAutoFit/>
          </a:bodyPr>
          <a:lstStyle/>
          <a:p>
            <a:pPr algn="l">
              <a:spcAft>
                <a:spcPts val="0"/>
              </a:spcAft>
            </a:pPr>
            <a:r>
              <a:rPr sz="2200" b="1" i="0">
                <a:solidFill>
                  <a:srgbClr val="243782"/>
                </a:solidFill>
                <a:latin typeface="Encode Sans Expanded"/>
              </a:rPr>
              <a:t>Four territories, one test: turn a value into a measurable proof</a:t>
            </a:r>
          </a:p>
        </p:txBody>
      </p:sp>
      <p:sp>
        <p:nvSpPr>
          <p:cNvPr id="7" name="Territory 01"/>
          <p:cNvSpPr/>
          <p:nvPr/>
        </p:nvSpPr>
        <p:spPr>
          <a:xfrm>
            <a:off x="612648" y="1783080"/>
            <a:ext cx="2606040" cy="260604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rritory 01 text"/>
          <p:cNvSpPr txBox="1"/>
          <p:nvPr/>
        </p:nvSpPr>
        <p:spPr>
          <a:xfrm>
            <a:off x="841248" y="2011680"/>
            <a:ext cx="2194560" cy="2286000"/>
          </a:xfrm>
          <a:prstGeom prst="rect">
            <a:avLst/>
          </a:prstGeom>
          <a:noFill/>
        </p:spPr>
        <p:txBody>
          <a:bodyPr wrap="square" lIns="0" rIns="0" tIns="0" bIns="0" anchor="t">
            <a:spAutoFit/>
          </a:bodyPr>
          <a:lstStyle/>
          <a:p>
            <a:pPr algn="l">
              <a:spcAft>
                <a:spcPts val="1000"/>
              </a:spcAft>
            </a:pPr>
            <a:r>
              <a:rPr sz="2800" b="1" i="0">
                <a:solidFill>
                  <a:srgbClr val="E94E24"/>
                </a:solidFill>
                <a:latin typeface="Encode Sans Expanded"/>
              </a:rPr>
              <a:t>01</a:t>
            </a:r>
          </a:p>
          <a:p>
            <a:pPr algn="l">
              <a:spcAft>
                <a:spcPts val="800"/>
              </a:spcAft>
            </a:pPr>
            <a:r>
              <a:rPr sz="1600" b="1" i="0">
                <a:solidFill>
                  <a:srgbClr val="243782"/>
                </a:solidFill>
                <a:latin typeface="Encode Sans Expanded"/>
              </a:rPr>
              <a:t>Fair Transition</a:t>
            </a:r>
          </a:p>
          <a:p>
            <a:pPr algn="l">
              <a:spcAft>
                <a:spcPts val="0"/>
              </a:spcAft>
            </a:pPr>
            <a:r>
              <a:rPr sz="1300" b="0" i="0">
                <a:solidFill>
                  <a:srgbClr val="272B35"/>
                </a:solidFill>
                <a:latin typeface="Encode Sans ExpandedLight"/>
              </a:rPr>
              <a:t>Affordability, accessibility, electrification, reskilling</a:t>
            </a:r>
          </a:p>
        </p:txBody>
      </p:sp>
      <p:sp>
        <p:nvSpPr>
          <p:cNvPr id="9" name="Territory 02"/>
          <p:cNvSpPr/>
          <p:nvPr/>
        </p:nvSpPr>
        <p:spPr>
          <a:xfrm>
            <a:off x="3401568" y="1783080"/>
            <a:ext cx="2606040" cy="260604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rritory 02 text"/>
          <p:cNvSpPr txBox="1"/>
          <p:nvPr/>
        </p:nvSpPr>
        <p:spPr>
          <a:xfrm>
            <a:off x="3630168" y="2011680"/>
            <a:ext cx="2194560" cy="2286000"/>
          </a:xfrm>
          <a:prstGeom prst="rect">
            <a:avLst/>
          </a:prstGeom>
          <a:noFill/>
        </p:spPr>
        <p:txBody>
          <a:bodyPr wrap="square" lIns="0" rIns="0" tIns="0" bIns="0" anchor="t">
            <a:spAutoFit/>
          </a:bodyPr>
          <a:lstStyle/>
          <a:p>
            <a:pPr algn="l">
              <a:spcAft>
                <a:spcPts val="1000"/>
              </a:spcAft>
            </a:pPr>
            <a:r>
              <a:rPr sz="2800" b="1" i="0">
                <a:solidFill>
                  <a:srgbClr val="E94E24"/>
                </a:solidFill>
                <a:latin typeface="Encode Sans Expanded"/>
              </a:rPr>
              <a:t>02</a:t>
            </a:r>
          </a:p>
          <a:p>
            <a:pPr algn="l">
              <a:spcAft>
                <a:spcPts val="800"/>
              </a:spcAft>
            </a:pPr>
            <a:r>
              <a:rPr sz="1600" b="1" i="0">
                <a:solidFill>
                  <a:srgbClr val="243782"/>
                </a:solidFill>
                <a:latin typeface="Encode Sans Expanded"/>
              </a:rPr>
              <a:t>Customer Trust</a:t>
            </a:r>
          </a:p>
          <a:p>
            <a:pPr algn="l">
              <a:spcAft>
                <a:spcPts val="0"/>
              </a:spcAft>
            </a:pPr>
            <a:r>
              <a:rPr sz="1300" b="0" i="0">
                <a:solidFill>
                  <a:srgbClr val="272B35"/>
                </a:solidFill>
                <a:latin typeface="Encode Sans ExpandedLight"/>
              </a:rPr>
              <a:t>Quality, safety, durability, privacy, customer experience</a:t>
            </a:r>
          </a:p>
        </p:txBody>
      </p:sp>
      <p:sp>
        <p:nvSpPr>
          <p:cNvPr id="11" name="Territory 03"/>
          <p:cNvSpPr/>
          <p:nvPr/>
        </p:nvSpPr>
        <p:spPr>
          <a:xfrm>
            <a:off x="6190488" y="1783080"/>
            <a:ext cx="2606040" cy="260604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rritory 03 text"/>
          <p:cNvSpPr txBox="1"/>
          <p:nvPr/>
        </p:nvSpPr>
        <p:spPr>
          <a:xfrm>
            <a:off x="6419088" y="2011680"/>
            <a:ext cx="2194560" cy="2286000"/>
          </a:xfrm>
          <a:prstGeom prst="rect">
            <a:avLst/>
          </a:prstGeom>
          <a:noFill/>
        </p:spPr>
        <p:txBody>
          <a:bodyPr wrap="square" lIns="0" rIns="0" tIns="0" bIns="0" anchor="t">
            <a:spAutoFit/>
          </a:bodyPr>
          <a:lstStyle/>
          <a:p>
            <a:pPr algn="l">
              <a:spcAft>
                <a:spcPts val="1000"/>
              </a:spcAft>
            </a:pPr>
            <a:r>
              <a:rPr sz="2800" b="1" i="0">
                <a:solidFill>
                  <a:srgbClr val="E94E24"/>
                </a:solidFill>
                <a:latin typeface="Encode Sans Expanded"/>
              </a:rPr>
              <a:t>03</a:t>
            </a:r>
          </a:p>
          <a:p>
            <a:pPr algn="l">
              <a:spcAft>
                <a:spcPts val="800"/>
              </a:spcAft>
            </a:pPr>
            <a:r>
              <a:rPr sz="1600" b="1" i="0">
                <a:solidFill>
                  <a:srgbClr val="243782"/>
                </a:solidFill>
                <a:latin typeface="Encode Sans Expanded"/>
              </a:rPr>
              <a:t>Environmental Transformation</a:t>
            </a:r>
          </a:p>
          <a:p>
            <a:pPr algn="l">
              <a:spcAft>
                <a:spcPts val="0"/>
              </a:spcAft>
            </a:pPr>
            <a:r>
              <a:rPr sz="1300" b="0" i="0">
                <a:solidFill>
                  <a:srgbClr val="272B35"/>
                </a:solidFill>
                <a:latin typeface="Encode Sans ExpandedLight"/>
              </a:rPr>
              <a:t>Decarbonisation, circularity, supply chain</a:t>
            </a:r>
          </a:p>
        </p:txBody>
      </p:sp>
      <p:sp>
        <p:nvSpPr>
          <p:cNvPr id="13" name="Territory 04"/>
          <p:cNvSpPr/>
          <p:nvPr/>
        </p:nvSpPr>
        <p:spPr>
          <a:xfrm>
            <a:off x="8979407" y="1783080"/>
            <a:ext cx="2606040" cy="260604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rritory 04 text"/>
          <p:cNvSpPr txBox="1"/>
          <p:nvPr/>
        </p:nvSpPr>
        <p:spPr>
          <a:xfrm>
            <a:off x="9208007" y="2011680"/>
            <a:ext cx="2194560" cy="2286000"/>
          </a:xfrm>
          <a:prstGeom prst="rect">
            <a:avLst/>
          </a:prstGeom>
          <a:noFill/>
        </p:spPr>
        <p:txBody>
          <a:bodyPr wrap="square" lIns="0" rIns="0" tIns="0" bIns="0" anchor="t">
            <a:spAutoFit/>
          </a:bodyPr>
          <a:lstStyle/>
          <a:p>
            <a:pPr algn="l">
              <a:spcAft>
                <a:spcPts val="1000"/>
              </a:spcAft>
            </a:pPr>
            <a:r>
              <a:rPr sz="2800" b="1" i="0">
                <a:solidFill>
                  <a:srgbClr val="E94E24"/>
                </a:solidFill>
                <a:latin typeface="Encode Sans Expanded"/>
              </a:rPr>
              <a:t>04</a:t>
            </a:r>
          </a:p>
          <a:p>
            <a:pPr algn="l">
              <a:spcAft>
                <a:spcPts val="800"/>
              </a:spcAft>
            </a:pPr>
            <a:r>
              <a:rPr sz="1600" b="1" i="0">
                <a:solidFill>
                  <a:srgbClr val="243782"/>
                </a:solidFill>
                <a:latin typeface="Encode Sans Expanded"/>
              </a:rPr>
              <a:t>Transparency &amp; Accountability</a:t>
            </a:r>
          </a:p>
          <a:p>
            <a:pPr algn="l">
              <a:spcAft>
                <a:spcPts val="0"/>
              </a:spcAft>
            </a:pPr>
            <a:r>
              <a:rPr sz="1300" b="0" i="0">
                <a:solidFill>
                  <a:srgbClr val="272B35"/>
                </a:solidFill>
                <a:latin typeface="Encode Sans ExpandedLight"/>
              </a:rPr>
              <a:t>Results, progress and transparency beyond reporting</a:t>
            </a:r>
          </a:p>
        </p:txBody>
      </p:sp>
      <p:sp>
        <p:nvSpPr>
          <p:cNvPr id="15" name="What wins"/>
          <p:cNvSpPr/>
          <p:nvPr/>
        </p:nvSpPr>
        <p:spPr>
          <a:xfrm>
            <a:off x="612648" y="4663440"/>
            <a:ext cx="10927080" cy="1051560"/>
          </a:xfrm>
          <a:prstGeom prst="roundRect">
            <a:avLst>
              <a:gd name="adj" fmla="val 5000"/>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What wins text"/>
          <p:cNvSpPr txBox="1"/>
          <p:nvPr/>
        </p:nvSpPr>
        <p:spPr>
          <a:xfrm>
            <a:off x="868680" y="4800600"/>
            <a:ext cx="10424160" cy="822960"/>
          </a:xfrm>
          <a:prstGeom prst="rect">
            <a:avLst/>
          </a:prstGeom>
          <a:noFill/>
        </p:spPr>
        <p:txBody>
          <a:bodyPr wrap="square" lIns="0" rIns="0" tIns="0" bIns="0" anchor="ctr">
            <a:spAutoFit/>
          </a:bodyPr>
          <a:lstStyle/>
          <a:p>
            <a:pPr algn="l">
              <a:spcAft>
                <a:spcPts val="0"/>
              </a:spcAft>
            </a:pPr>
            <a:r>
              <a:rPr sz="1500" b="1" i="0">
                <a:solidFill>
                  <a:srgbClr val="E94E24"/>
                </a:solidFill>
                <a:latin typeface="Encode Sans Expanded"/>
              </a:rPr>
              <a:t>What wins in every territory: </a:t>
            </a:r>
            <a:r>
              <a:rPr sz="1500" b="0" i="0">
                <a:solidFill>
                  <a:srgbClr val="FFFFFF"/>
                </a:solidFill>
                <a:latin typeface="Encode Sans ExpandedLight"/>
              </a:rPr>
              <a:t>a recurring, measurable proof tied to a concrete object (a monthly payment, a patent given away, tonnes of CO₂ per car, a quarterly score), not a slogan.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Positioning map</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Title"/>
          <p:cNvSpPr txBox="1"/>
          <p:nvPr/>
        </p:nvSpPr>
        <p:spPr>
          <a:xfrm>
            <a:off x="612648" y="960120"/>
            <a:ext cx="10972800" cy="548640"/>
          </a:xfrm>
          <a:prstGeom prst="rect">
            <a:avLst/>
          </a:prstGeom>
          <a:noFill/>
        </p:spPr>
        <p:txBody>
          <a:bodyPr wrap="square" lIns="0" rIns="0" tIns="0" bIns="0" anchor="t">
            <a:spAutoFit/>
          </a:bodyPr>
          <a:lstStyle/>
          <a:p>
            <a:pPr algn="l">
              <a:spcAft>
                <a:spcPts val="0"/>
              </a:spcAft>
            </a:pPr>
            <a:r>
              <a:rPr sz="2000" b="1" i="0">
                <a:solidFill>
                  <a:srgbClr val="243782"/>
                </a:solidFill>
                <a:latin typeface="Encode Sans Expanded"/>
              </a:rPr>
              <a:t>Who occupies which territory, and with what</a:t>
            </a:r>
          </a:p>
        </p:txBody>
      </p:sp>
      <p:graphicFrame>
        <p:nvGraphicFramePr>
          <p:cNvPr id="7" name="Table 6"/>
          <p:cNvGraphicFramePr>
            <a:graphicFrameLocks noGrp="1"/>
          </p:cNvGraphicFramePr>
          <p:nvPr/>
        </p:nvGraphicFramePr>
        <p:xfrm>
          <a:off x="612648" y="1371600"/>
          <a:ext cx="10927080" cy="4526280"/>
        </p:xfrm>
        <a:graphic>
          <a:graphicData uri="http://schemas.openxmlformats.org/drawingml/2006/table">
            <a:tbl>
              <a:tblPr firstRow="1" bandRow="1">
                <a:tableStyleId>{5C22544A-7EE6-4342-B048-85BDC9FD1C3A}</a:tableStyleId>
              </a:tblPr>
              <a:tblGrid>
                <a:gridCol w="1600200"/>
                <a:gridCol w="2331720"/>
                <a:gridCol w="2331720"/>
                <a:gridCol w="2331720"/>
                <a:gridCol w="2331720"/>
              </a:tblGrid>
              <a:tr h="251460">
                <a:tc>
                  <a:txBody>
                    <a:bodyPr/>
                    <a:lstStyle/>
                    <a:p>
                      <a:r>
                        <a:rPr sz="1000" b="1" i="0">
                          <a:solidFill>
                            <a:srgbClr val="FFFFFF"/>
                          </a:solidFill>
                          <a:latin typeface="Encode Sans Expanded"/>
                        </a:rPr>
                        <a:t>Player</a:t>
                      </a:r>
                    </a:p>
                  </a:txBody>
                  <a:tcPr marL="54864" marR="54864" marT="9144" marB="9144" anchor="ctr">
                    <a:solidFill>
                      <a:srgbClr val="243782"/>
                    </a:solidFill>
                  </a:tcPr>
                </a:tc>
                <a:tc>
                  <a:txBody>
                    <a:bodyPr/>
                    <a:lstStyle/>
                    <a:p>
                      <a:r>
                        <a:rPr sz="1000" b="1" i="0">
                          <a:solidFill>
                            <a:srgbClr val="FFFFFF"/>
                          </a:solidFill>
                          <a:latin typeface="Encode Sans Expanded"/>
                        </a:rPr>
                        <a:t>Fair Transition</a:t>
                      </a:r>
                    </a:p>
                  </a:txBody>
                  <a:tcPr marL="54864" marR="54864" marT="9144" marB="9144" anchor="ctr">
                    <a:solidFill>
                      <a:srgbClr val="243782"/>
                    </a:solidFill>
                  </a:tcPr>
                </a:tc>
                <a:tc>
                  <a:txBody>
                    <a:bodyPr/>
                    <a:lstStyle/>
                    <a:p>
                      <a:r>
                        <a:rPr sz="1000" b="1" i="0">
                          <a:solidFill>
                            <a:srgbClr val="FFFFFF"/>
                          </a:solidFill>
                          <a:latin typeface="Encode Sans Expanded"/>
                        </a:rPr>
                        <a:t>Customer Trust</a:t>
                      </a:r>
                    </a:p>
                  </a:txBody>
                  <a:tcPr marL="54864" marR="54864" marT="9144" marB="9144" anchor="ctr">
                    <a:solidFill>
                      <a:srgbClr val="243782"/>
                    </a:solidFill>
                  </a:tcPr>
                </a:tc>
                <a:tc>
                  <a:txBody>
                    <a:bodyPr/>
                    <a:lstStyle/>
                    <a:p>
                      <a:r>
                        <a:rPr sz="1000" b="1" i="0">
                          <a:solidFill>
                            <a:srgbClr val="FFFFFF"/>
                          </a:solidFill>
                          <a:latin typeface="Encode Sans Expanded"/>
                        </a:rPr>
                        <a:t>Environmental Transformation</a:t>
                      </a:r>
                    </a:p>
                  </a:txBody>
                  <a:tcPr marL="54864" marR="54864" marT="9144" marB="9144" anchor="ctr">
                    <a:solidFill>
                      <a:srgbClr val="243782"/>
                    </a:solidFill>
                  </a:tcPr>
                </a:tc>
                <a:tc>
                  <a:txBody>
                    <a:bodyPr/>
                    <a:lstStyle/>
                    <a:p>
                      <a:r>
                        <a:rPr sz="1000" b="1" i="0">
                          <a:solidFill>
                            <a:srgbClr val="FFFFFF"/>
                          </a:solidFill>
                          <a:latin typeface="Encode Sans Expanded"/>
                        </a:rPr>
                        <a:t>Transparency &amp; Accountability</a:t>
                      </a:r>
                    </a:p>
                  </a:txBody>
                  <a:tcPr marL="54864" marR="54864" marT="9144" marB="9144" anchor="ctr">
                    <a:solidFill>
                      <a:srgbClr val="243782"/>
                    </a:solidFill>
                  </a:tcPr>
                </a:tc>
              </a:tr>
              <a:tr h="251460">
                <a:tc>
                  <a:txBody>
                    <a:bodyPr/>
                    <a:lstStyle/>
                    <a:p>
                      <a:r>
                        <a:rPr sz="1000" b="1" i="0">
                          <a:solidFill>
                            <a:srgbClr val="243782"/>
                          </a:solidFill>
                          <a:latin typeface="Encode Sans Expanded"/>
                        </a:rPr>
                        <a:t>Volkswagen</a:t>
                      </a:r>
                    </a:p>
                  </a:txBody>
                  <a:tcPr marL="54864" marR="54864" marT="9144" marB="9144" anchor="ctr">
                    <a:solidFill>
                      <a:srgbClr val="FFFFFF"/>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ID.Polo €24,995; 35k jobs cut</a:t>
                      </a:r>
                    </a:p>
                  </a:txBody>
                  <a:tcPr marL="54864" marR="54864" marT="9144" marB="9144" anchor="ctr">
                    <a:solidFill>
                      <a:srgbClr val="EEF0FA"/>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Integrity, inward-facing</a:t>
                      </a:r>
                    </a:p>
                  </a:txBody>
                  <a:tcPr marL="54864" marR="54864" marT="9144" marB="9144" anchor="ctr">
                    <a:solidFill>
                      <a:srgbClr val="EEF0FA"/>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regenerate+, raw materials report</a:t>
                      </a:r>
                    </a:p>
                  </a:txBody>
                  <a:tcPr marL="54864" marR="54864" marT="9144" marB="9144" anchor="ctr">
                    <a:solidFill>
                      <a:srgbClr val="EEF0FA"/>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CO₂ index in Board bonus</a:t>
                      </a:r>
                    </a:p>
                  </a:txBody>
                  <a:tcPr marL="54864" marR="54864" marT="9144" marB="9144" anchor="ctr">
                    <a:solidFill>
                      <a:srgbClr val="EEF0FA"/>
                    </a:solidFill>
                  </a:tcPr>
                </a:tc>
              </a:tr>
              <a:tr h="251460">
                <a:tc>
                  <a:txBody>
                    <a:bodyPr/>
                    <a:lstStyle/>
                    <a:p>
                      <a:r>
                        <a:rPr sz="1000" b="1" i="0">
                          <a:solidFill>
                            <a:srgbClr val="243782"/>
                          </a:solidFill>
                          <a:latin typeface="Encode Sans Expanded"/>
                        </a:rPr>
                        <a:t>Mercedes-Benz</a:t>
                      </a:r>
                    </a:p>
                  </a:txBody>
                  <a:tcPr marL="54864" marR="54864" marT="9144" marB="9144" anchor="ctr">
                    <a:solidFill>
                      <a:srgbClr val="FFFFFF"/>
                    </a:solidFill>
                  </a:tcPr>
                </a:tc>
                <a:tc>
                  <a:txBody>
                    <a:bodyPr/>
                    <a:lstStyle/>
                    <a:p>
                      <a:r>
                        <a:rPr sz="900" b="0" i="0">
                          <a:solidFill>
                            <a:srgbClr val="5E6370"/>
                          </a:solidFill>
                          <a:latin typeface="Encode Sans ExpandedLight"/>
                        </a:rPr>
                        <a:t>Not found</a:t>
                      </a:r>
                    </a:p>
                  </a:txBody>
                  <a:tcPr marL="54864" marR="54864" marT="9144" marB="9144" anchor="ctr">
                    <a:solidFill>
                      <a:srgbClr val="F7F7F9"/>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Traffic Safety + Digital Trust ESG</a:t>
                      </a:r>
                    </a:p>
                  </a:txBody>
                  <a:tcPr marL="54864" marR="54864" marT="9144" marB="9144" anchor="ctr">
                    <a:solidFill>
                      <a:srgbClr val="C9D2F0"/>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Low-CO₂ steel and aluminium</a:t>
                      </a:r>
                    </a:p>
                  </a:txBody>
                  <a:tcPr marL="54864" marR="54864" marT="9144" marB="9144" anchor="ctr">
                    <a:solidFill>
                      <a:srgbClr val="EEF0FA"/>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Yearly versioned transition plan</a:t>
                      </a:r>
                    </a:p>
                  </a:txBody>
                  <a:tcPr marL="54864" marR="54864" marT="9144" marB="9144" anchor="ctr">
                    <a:solidFill>
                      <a:srgbClr val="C9D2F0"/>
                    </a:solidFill>
                  </a:tcPr>
                </a:tc>
              </a:tr>
              <a:tr h="251460">
                <a:tc>
                  <a:txBody>
                    <a:bodyPr/>
                    <a:lstStyle/>
                    <a:p>
                      <a:r>
                        <a:rPr sz="1000" b="1" i="0">
                          <a:solidFill>
                            <a:srgbClr val="243782"/>
                          </a:solidFill>
                          <a:latin typeface="Encode Sans Expanded"/>
                        </a:rPr>
                        <a:t>BMW</a:t>
                      </a:r>
                    </a:p>
                  </a:txBody>
                  <a:tcPr marL="54864" marR="54864" marT="9144" marB="9144" anchor="ctr">
                    <a:solidFill>
                      <a:srgbClr val="FFFFFF"/>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Debrecen training centre</a:t>
                      </a:r>
                    </a:p>
                  </a:txBody>
                  <a:tcPr marL="54864" marR="54864" marT="9144" marB="9144" anchor="ctr">
                    <a:solidFill>
                      <a:srgbClr val="EEF0FA"/>
                    </a:solidFill>
                  </a:tcPr>
                </a:tc>
                <a:tc>
                  <a:txBody>
                    <a:bodyPr/>
                    <a:lstStyle/>
                    <a:p>
                      <a:r>
                        <a:rPr sz="900" b="0" i="0">
                          <a:solidFill>
                            <a:srgbClr val="5E6370"/>
                          </a:solidFill>
                          <a:latin typeface="Encode Sans ExpandedLight"/>
                        </a:rPr>
                        <a:t>Not found</a:t>
                      </a:r>
                    </a:p>
                  </a:txBody>
                  <a:tcPr marL="54864" marR="54864" marT="9144" marB="9144" anchor="ctr">
                    <a:solidFill>
                      <a:srgbClr val="F7F7F9"/>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Neue Klasse: 0.1 t CO₂/car</a:t>
                      </a:r>
                    </a:p>
                  </a:txBody>
                  <a:tcPr marL="54864" marR="54864" marT="9144" marB="9144" anchor="ctr">
                    <a:solidFill>
                      <a:srgbClr val="C9D2F0"/>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Fleet CO₂ in long-term pay</a:t>
                      </a:r>
                    </a:p>
                  </a:txBody>
                  <a:tcPr marL="54864" marR="54864" marT="9144" marB="9144" anchor="ctr">
                    <a:solidFill>
                      <a:srgbClr val="EEF0FA"/>
                    </a:solidFill>
                  </a:tcPr>
                </a:tc>
              </a:tr>
              <a:tr h="251460">
                <a:tc>
                  <a:txBody>
                    <a:bodyPr/>
                    <a:lstStyle/>
                    <a:p>
                      <a:r>
                        <a:rPr sz="1000" b="1" i="0">
                          <a:solidFill>
                            <a:srgbClr val="243782"/>
                          </a:solidFill>
                          <a:latin typeface="Encode Sans Expanded"/>
                        </a:rPr>
                        <a:t>Renault</a:t>
                      </a:r>
                    </a:p>
                  </a:txBody>
                  <a:tcPr marL="54864" marR="54864" marT="9144" marB="9144" anchor="ctr">
                    <a:solidFill>
                      <a:srgbClr val="FFFFFF"/>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Twingo, social leasing, Flins</a:t>
                      </a:r>
                    </a:p>
                  </a:txBody>
                  <a:tcPr marL="54864" marR="54864" marT="9144" marB="9144" anchor="ctr">
                    <a:solidFill>
                      <a:srgbClr val="C9D2F0"/>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Firefighter patent, free licence</a:t>
                      </a:r>
                    </a:p>
                  </a:txBody>
                  <a:tcPr marL="54864" marR="54864" marT="9144" marB="9144" anchor="ctr">
                    <a:solidFill>
                      <a:srgbClr val="C9D2F0"/>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The Future Is NEUTRAL</a:t>
                      </a:r>
                    </a:p>
                  </a:txBody>
                  <a:tcPr marL="54864" marR="54864" marT="9144" marB="9144" anchor="ctr">
                    <a:solidFill>
                      <a:srgbClr val="C9D2F0"/>
                    </a:solidFill>
                  </a:tcPr>
                </a:tc>
                <a:tc>
                  <a:txBody>
                    <a:bodyPr/>
                    <a:lstStyle/>
                    <a:p>
                      <a:r>
                        <a:rPr sz="900" b="1" i="0">
                          <a:solidFill>
                            <a:srgbClr val="243782"/>
                          </a:solidFill>
                          <a:latin typeface="Encode Sans Expanded"/>
                        </a:rPr>
                        <a:t>Weak: </a:t>
                      </a:r>
                      <a:r>
                        <a:rPr sz="900" b="0" i="0">
                          <a:solidFill>
                            <a:srgbClr val="272B35"/>
                          </a:solidFill>
                          <a:latin typeface="Encode Sans ExpandedLight"/>
                        </a:rPr>
                        <a:t>External ratings table only</a:t>
                      </a:r>
                    </a:p>
                  </a:txBody>
                  <a:tcPr marL="54864" marR="54864" marT="9144" marB="9144" anchor="ctr">
                    <a:solidFill>
                      <a:srgbClr val="FCE6DE"/>
                    </a:solidFill>
                  </a:tcPr>
                </a:tc>
              </a:tr>
              <a:tr h="251460">
                <a:tc>
                  <a:txBody>
                    <a:bodyPr/>
                    <a:lstStyle/>
                    <a:p>
                      <a:r>
                        <a:rPr sz="1000" b="1" i="0">
                          <a:solidFill>
                            <a:srgbClr val="243782"/>
                          </a:solidFill>
                          <a:latin typeface="Encode Sans Expanded"/>
                        </a:rPr>
                        <a:t>Volvo Cars</a:t>
                      </a:r>
                    </a:p>
                  </a:txBody>
                  <a:tcPr marL="54864" marR="54864" marT="9144" marB="9144" anchor="ctr">
                    <a:solidFill>
                      <a:srgbClr val="FFFFFF"/>
                    </a:solidFill>
                  </a:tcPr>
                </a:tc>
                <a:tc>
                  <a:txBody>
                    <a:bodyPr/>
                    <a:lstStyle/>
                    <a:p>
                      <a:r>
                        <a:rPr sz="900" b="0" i="0">
                          <a:solidFill>
                            <a:srgbClr val="5E6370"/>
                          </a:solidFill>
                          <a:latin typeface="Encode Sans ExpandedLight"/>
                        </a:rPr>
                        <a:t>Not found</a:t>
                      </a:r>
                    </a:p>
                  </a:txBody>
                  <a:tcPr marL="54864" marR="54864" marT="9144" marB="9144" anchor="ctr">
                    <a:solidFill>
                      <a:srgbClr val="F7F7F9"/>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Seatbelt patent, E.V.A.</a:t>
                      </a:r>
                    </a:p>
                  </a:txBody>
                  <a:tcPr marL="54864" marR="54864" marT="9144" marB="9144" anchor="ctr">
                    <a:solidFill>
                      <a:srgbClr val="C9D2F0"/>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EX90 battery passport</a:t>
                      </a:r>
                    </a:p>
                  </a:txBody>
                  <a:tcPr marL="54864" marR="54864" marT="9144" marB="9144" anchor="ctr">
                    <a:solidFill>
                      <a:srgbClr val="EEF0FA"/>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2024 reset explained</a:t>
                      </a:r>
                    </a:p>
                  </a:txBody>
                  <a:tcPr marL="54864" marR="54864" marT="9144" marB="9144" anchor="ctr">
                    <a:solidFill>
                      <a:srgbClr val="EEF0FA"/>
                    </a:solidFill>
                  </a:tcPr>
                </a:tc>
              </a:tr>
              <a:tr h="251460">
                <a:tc>
                  <a:txBody>
                    <a:bodyPr/>
                    <a:lstStyle/>
                    <a:p>
                      <a:r>
                        <a:rPr sz="1000" b="1" i="0">
                          <a:solidFill>
                            <a:srgbClr val="243782"/>
                          </a:solidFill>
                          <a:latin typeface="Encode Sans Expanded"/>
                        </a:rPr>
                        <a:t>Polestar</a:t>
                      </a:r>
                    </a:p>
                  </a:txBody>
                  <a:tcPr marL="54864" marR="54864" marT="9144" marB="9144" anchor="ctr">
                    <a:solidFill>
                      <a:srgbClr val="FFFFFF"/>
                    </a:solidFill>
                  </a:tcPr>
                </a:tc>
                <a:tc>
                  <a:txBody>
                    <a:bodyPr/>
                    <a:lstStyle/>
                    <a:p>
                      <a:r>
                        <a:rPr sz="900" b="0" i="0">
                          <a:solidFill>
                            <a:srgbClr val="5E6370"/>
                          </a:solidFill>
                          <a:latin typeface="Encode Sans ExpandedLight"/>
                        </a:rPr>
                        <a:t>Not found</a:t>
                      </a:r>
                    </a:p>
                  </a:txBody>
                  <a:tcPr marL="54864" marR="54864" marT="9144" marB="9144" anchor="ctr">
                    <a:solidFill>
                      <a:srgbClr val="F7F7F9"/>
                    </a:solidFill>
                  </a:tcPr>
                </a:tc>
                <a:tc>
                  <a:txBody>
                    <a:bodyPr/>
                    <a:lstStyle/>
                    <a:p>
                      <a:r>
                        <a:rPr sz="900" b="0" i="0">
                          <a:solidFill>
                            <a:srgbClr val="5E6370"/>
                          </a:solidFill>
                          <a:latin typeface="Encode Sans ExpandedLight"/>
                        </a:rPr>
                        <a:t>Not found</a:t>
                      </a:r>
                    </a:p>
                  </a:txBody>
                  <a:tcPr marL="54864" marR="54864" marT="9144" marB="9144" anchor="ctr">
                    <a:solidFill>
                      <a:srgbClr val="F7F7F9"/>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Product label, traced vs mapped</a:t>
                      </a:r>
                    </a:p>
                  </a:txBody>
                  <a:tcPr marL="54864" marR="54864" marT="9144" marB="9144" anchor="ctr">
                    <a:solidFill>
                      <a:srgbClr val="C9D2F0"/>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Public LCA method per model</a:t>
                      </a:r>
                    </a:p>
                  </a:txBody>
                  <a:tcPr marL="54864" marR="54864" marT="9144" marB="9144" anchor="ctr">
                    <a:solidFill>
                      <a:srgbClr val="C9D2F0"/>
                    </a:solidFill>
                  </a:tcPr>
                </a:tc>
              </a:tr>
              <a:tr h="251460">
                <a:tc>
                  <a:txBody>
                    <a:bodyPr/>
                    <a:lstStyle/>
                    <a:p>
                      <a:r>
                        <a:rPr sz="1000" b="1" i="0">
                          <a:solidFill>
                            <a:srgbClr val="243782"/>
                          </a:solidFill>
                          <a:latin typeface="Encode Sans Expanded"/>
                        </a:rPr>
                        <a:t>Toyota</a:t>
                      </a:r>
                    </a:p>
                  </a:txBody>
                  <a:tcPr marL="54864" marR="54864" marT="9144" marB="9144" anchor="ctr">
                    <a:solidFill>
                      <a:srgbClr val="FFFFFF"/>
                    </a:solidFill>
                  </a:tcPr>
                </a:tc>
                <a:tc>
                  <a:txBody>
                    <a:bodyPr/>
                    <a:lstStyle/>
                    <a:p>
                      <a:r>
                        <a:rPr sz="900" b="1" i="0">
                          <a:solidFill>
                            <a:srgbClr val="243782"/>
                          </a:solidFill>
                          <a:latin typeface="Encode Sans Expanded"/>
                        </a:rPr>
                        <a:t>Weak: </a:t>
                      </a:r>
                      <a:r>
                        <a:rPr sz="900" b="0" i="0">
                          <a:solidFill>
                            <a:srgbClr val="272B35"/>
                          </a:solidFill>
                          <a:latin typeface="Encode Sans ExpandedLight"/>
                        </a:rPr>
                        <a:t>“Multi-pathway” contested</a:t>
                      </a:r>
                    </a:p>
                  </a:txBody>
                  <a:tcPr marL="54864" marR="54864" marT="9144" marB="9144" anchor="ctr">
                    <a:solidFill>
                      <a:srgbClr val="FCE6DE"/>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10-year hybrid battery warranty</a:t>
                      </a:r>
                    </a:p>
                  </a:txBody>
                  <a:tcPr marL="54864" marR="54864" marT="9144" marB="9144" anchor="ctr">
                    <a:solidFill>
                      <a:srgbClr val="EEF0FA"/>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Battery 3R, Challenge 2050</a:t>
                      </a:r>
                    </a:p>
                  </a:txBody>
                  <a:tcPr marL="54864" marR="54864" marT="9144" marB="9144" anchor="ctr">
                    <a:solidFill>
                      <a:srgbClr val="EEF0FA"/>
                    </a:solidFill>
                  </a:tcPr>
                </a:tc>
                <a:tc>
                  <a:txBody>
                    <a:bodyPr/>
                    <a:lstStyle/>
                    <a:p>
                      <a:r>
                        <a:rPr sz="900" b="1" i="0">
                          <a:solidFill>
                            <a:srgbClr val="243782"/>
                          </a:solidFill>
                          <a:latin typeface="Encode Sans Expanded"/>
                        </a:rPr>
                        <a:t>Weak: </a:t>
                      </a:r>
                      <a:r>
                        <a:rPr sz="900" b="0" i="0">
                          <a:solidFill>
                            <a:srgbClr val="272B35"/>
                          </a:solidFill>
                          <a:latin typeface="Encode Sans ExpandedLight"/>
                        </a:rPr>
                        <a:t>Worst on climate lobbying</a:t>
                      </a:r>
                    </a:p>
                  </a:txBody>
                  <a:tcPr marL="54864" marR="54864" marT="9144" marB="9144" anchor="ctr">
                    <a:solidFill>
                      <a:srgbClr val="FCE6DE"/>
                    </a:solidFill>
                  </a:tcPr>
                </a:tc>
              </a:tr>
              <a:tr h="251460">
                <a:tc>
                  <a:txBody>
                    <a:bodyPr/>
                    <a:lstStyle/>
                    <a:p>
                      <a:r>
                        <a:rPr sz="1000" b="1" i="0">
                          <a:solidFill>
                            <a:srgbClr val="243782"/>
                          </a:solidFill>
                          <a:latin typeface="Encode Sans Expanded"/>
                        </a:rPr>
                        <a:t>Hyundai/Kia</a:t>
                      </a:r>
                    </a:p>
                  </a:txBody>
                  <a:tcPr marL="54864" marR="54864" marT="9144" marB="9144" anchor="ctr">
                    <a:solidFill>
                      <a:srgbClr val="FFFFFF"/>
                    </a:solidFill>
                  </a:tcPr>
                </a:tc>
                <a:tc>
                  <a:txBody>
                    <a:bodyPr/>
                    <a:lstStyle/>
                    <a:p>
                      <a:r>
                        <a:rPr sz="900" b="1" i="0">
                          <a:solidFill>
                            <a:srgbClr val="243782"/>
                          </a:solidFill>
                          <a:latin typeface="Encode Sans Expanded"/>
                        </a:rPr>
                        <a:t>Weak: </a:t>
                      </a:r>
                      <a:r>
                        <a:rPr sz="900" b="0" i="0">
                          <a:solidFill>
                            <a:srgbClr val="272B35"/>
                          </a:solidFill>
                          <a:latin typeface="Encode Sans ExpandedLight"/>
                        </a:rPr>
                        <a:t>EV3 “affordable” at €35,990</a:t>
                      </a:r>
                    </a:p>
                  </a:txBody>
                  <a:tcPr marL="54864" marR="54864" marT="9144" marB="9144" anchor="ctr">
                    <a:solidFill>
                      <a:srgbClr val="FCE6DE"/>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Battery warranties</a:t>
                      </a:r>
                    </a:p>
                  </a:txBody>
                  <a:tcPr marL="54864" marR="54864" marT="9144" marB="9144" anchor="ctr">
                    <a:solidFill>
                      <a:srgbClr val="EEF0FA"/>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Ocean Cleanup, IONIQ Forest</a:t>
                      </a:r>
                    </a:p>
                  </a:txBody>
                  <a:tcPr marL="54864" marR="54864" marT="9144" marB="9144" anchor="ctr">
                    <a:solidFill>
                      <a:srgbClr val="EEF0FA"/>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Supply-chain disclosure 40%</a:t>
                      </a:r>
                    </a:p>
                  </a:txBody>
                  <a:tcPr marL="54864" marR="54864" marT="9144" marB="9144" anchor="ctr">
                    <a:solidFill>
                      <a:srgbClr val="EEF0FA"/>
                    </a:solidFill>
                  </a:tcPr>
                </a:tc>
              </a:tr>
              <a:tr h="251460">
                <a:tc>
                  <a:txBody>
                    <a:bodyPr/>
                    <a:lstStyle/>
                    <a:p>
                      <a:r>
                        <a:rPr sz="1000" b="1" i="0">
                          <a:solidFill>
                            <a:srgbClr val="243782"/>
                          </a:solidFill>
                          <a:latin typeface="Encode Sans Expanded"/>
                        </a:rPr>
                        <a:t>BYD</a:t>
                      </a:r>
                    </a:p>
                  </a:txBody>
                  <a:tcPr marL="54864" marR="54864" marT="9144" marB="9144" anchor="ctr">
                    <a:solidFill>
                      <a:srgbClr val="FFFFFF"/>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Dolphin Surf €22,990, price only</a:t>
                      </a:r>
                    </a:p>
                  </a:txBody>
                  <a:tcPr marL="54864" marR="54864" marT="9144" marB="9144" anchor="ctr">
                    <a:solidFill>
                      <a:srgbClr val="EEF0FA"/>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Blade Battery nail test</a:t>
                      </a:r>
                    </a:p>
                  </a:txBody>
                  <a:tcPr marL="54864" marR="54864" marT="9144" marB="9144" anchor="ctr">
                    <a:solidFill>
                      <a:srgbClr val="EEF0FA"/>
                    </a:solidFill>
                  </a:tcPr>
                </a:tc>
                <a:tc>
                  <a:txBody>
                    <a:bodyPr/>
                    <a:lstStyle/>
                    <a:p>
                      <a:r>
                        <a:rPr sz="900" b="1" i="0">
                          <a:solidFill>
                            <a:srgbClr val="243782"/>
                          </a:solidFill>
                          <a:latin typeface="Encode Sans Expanded"/>
                        </a:rPr>
                        <a:t>Weak: </a:t>
                      </a:r>
                      <a:r>
                        <a:rPr sz="900" b="0" i="0">
                          <a:solidFill>
                            <a:srgbClr val="272B35"/>
                          </a:solidFill>
                          <a:latin typeface="Encode Sans ExpandedLight"/>
                        </a:rPr>
                        <a:t>46.6 Mt “avoided” claim</a:t>
                      </a:r>
                    </a:p>
                  </a:txBody>
                  <a:tcPr marL="54864" marR="54864" marT="9144" marB="9144" anchor="ctr">
                    <a:solidFill>
                      <a:srgbClr val="FCE6DE"/>
                    </a:solidFill>
                  </a:tcPr>
                </a:tc>
                <a:tc>
                  <a:txBody>
                    <a:bodyPr/>
                    <a:lstStyle/>
                    <a:p>
                      <a:r>
                        <a:rPr sz="900" b="1" i="0">
                          <a:solidFill>
                            <a:srgbClr val="243782"/>
                          </a:solidFill>
                          <a:latin typeface="Encode Sans Expanded"/>
                        </a:rPr>
                        <a:t>Weak: </a:t>
                      </a:r>
                      <a:r>
                        <a:rPr sz="900" b="0" i="0">
                          <a:solidFill>
                            <a:srgbClr val="272B35"/>
                          </a:solidFill>
                          <a:latin typeface="Encode Sans ExpandedLight"/>
                        </a:rPr>
                        <a:t>0% supply-chain disclosure</a:t>
                      </a:r>
                    </a:p>
                  </a:txBody>
                  <a:tcPr marL="54864" marR="54864" marT="9144" marB="9144" anchor="ctr">
                    <a:solidFill>
                      <a:srgbClr val="FCE6DE"/>
                    </a:solidFill>
                  </a:tcPr>
                </a:tc>
              </a:tr>
              <a:tr h="251460">
                <a:tc>
                  <a:txBody>
                    <a:bodyPr/>
                    <a:lstStyle/>
                    <a:p>
                      <a:r>
                        <a:rPr sz="1000" b="1" i="0">
                          <a:solidFill>
                            <a:srgbClr val="243782"/>
                          </a:solidFill>
                          <a:latin typeface="Encode Sans Expanded"/>
                        </a:rPr>
                        <a:t>Schneider Electric</a:t>
                      </a:r>
                    </a:p>
                  </a:txBody>
                  <a:tcPr marL="54864" marR="54864" marT="9144" marB="9144" anchor="ctr">
                    <a:solidFill>
                      <a:srgbClr val="FFFFFF"/>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Access to Energy, 1m trained</a:t>
                      </a:r>
                    </a:p>
                  </a:txBody>
                  <a:tcPr marL="54864" marR="54864" marT="9144" marB="9144" anchor="ctr">
                    <a:solidFill>
                      <a:srgbClr val="C9D2F0"/>
                    </a:solidFill>
                  </a:tcPr>
                </a:tc>
                <a:tc>
                  <a:txBody>
                    <a:bodyPr/>
                    <a:lstStyle/>
                    <a:p>
                      <a:r>
                        <a:rPr sz="900" b="0" i="0">
                          <a:solidFill>
                            <a:srgbClr val="5E6370"/>
                          </a:solidFill>
                          <a:latin typeface="Encode Sans ExpandedLight"/>
                        </a:rPr>
                        <a:t>Not found</a:t>
                      </a:r>
                    </a:p>
                  </a:txBody>
                  <a:tcPr marL="54864" marR="54864" marT="9144" marB="9144" anchor="ctr">
                    <a:solidFill>
                      <a:srgbClr val="F7F7F9"/>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−56% CO₂ at top suppliers</a:t>
                      </a:r>
                    </a:p>
                  </a:txBody>
                  <a:tcPr marL="54864" marR="54864" marT="9144" marB="9144" anchor="ctr">
                    <a:solidFill>
                      <a:srgbClr val="C9D2F0"/>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Quarterly impact score</a:t>
                      </a:r>
                    </a:p>
                  </a:txBody>
                  <a:tcPr marL="54864" marR="54864" marT="9144" marB="9144" anchor="ctr">
                    <a:solidFill>
                      <a:srgbClr val="C9D2F0"/>
                    </a:solidFill>
                  </a:tcPr>
                </a:tc>
              </a:tr>
              <a:tr h="251460">
                <a:tc>
                  <a:txBody>
                    <a:bodyPr/>
                    <a:lstStyle/>
                    <a:p>
                      <a:r>
                        <a:rPr sz="1000" b="1" i="0">
                          <a:solidFill>
                            <a:srgbClr val="243782"/>
                          </a:solidFill>
                          <a:latin typeface="Encode Sans Expanded"/>
                        </a:rPr>
                        <a:t>Microsoft</a:t>
                      </a:r>
                    </a:p>
                  </a:txBody>
                  <a:tcPr marL="54864" marR="54864" marT="9144" marB="9144" anchor="ctr">
                    <a:solidFill>
                      <a:srgbClr val="FFFFFF"/>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$4bn reskilling (Elevate)</a:t>
                      </a:r>
                    </a:p>
                  </a:txBody>
                  <a:tcPr marL="54864" marR="54864" marT="9144" marB="9144" anchor="ctr">
                    <a:solidFill>
                      <a:srgbClr val="C9D2F0"/>
                    </a:solidFill>
                  </a:tcPr>
                </a:tc>
                <a:tc>
                  <a:txBody>
                    <a:bodyPr/>
                    <a:lstStyle/>
                    <a:p>
                      <a:r>
                        <a:rPr sz="900" b="0" i="0">
                          <a:solidFill>
                            <a:srgbClr val="5E6370"/>
                          </a:solidFill>
                          <a:latin typeface="Encode Sans ExpandedLight"/>
                        </a:rPr>
                        <a:t>Not found</a:t>
                      </a:r>
                    </a:p>
                  </a:txBody>
                  <a:tcPr marL="54864" marR="54864" marT="9144" marB="9144" anchor="ctr">
                    <a:solidFill>
                      <a:srgbClr val="F7F7F9"/>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Supplier clause, Scope 3 up</a:t>
                      </a:r>
                    </a:p>
                  </a:txBody>
                  <a:tcPr marL="54864" marR="54864" marT="9144" marB="9144" anchor="ctr">
                    <a:solidFill>
                      <a:srgbClr val="EEF0FA"/>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Admits +25% emissions</a:t>
                      </a:r>
                    </a:p>
                  </a:txBody>
                  <a:tcPr marL="54864" marR="54864" marT="9144" marB="9144" anchor="ctr">
                    <a:solidFill>
                      <a:srgbClr val="C9D2F0"/>
                    </a:solidFill>
                  </a:tcPr>
                </a:tc>
              </a:tr>
              <a:tr h="251460">
                <a:tc>
                  <a:txBody>
                    <a:bodyPr/>
                    <a:lstStyle/>
                    <a:p>
                      <a:r>
                        <a:rPr sz="1000" b="1" i="0">
                          <a:solidFill>
                            <a:srgbClr val="243782"/>
                          </a:solidFill>
                          <a:latin typeface="Encode Sans Expanded"/>
                        </a:rPr>
                        <a:t>Patagonia</a:t>
                      </a:r>
                    </a:p>
                  </a:txBody>
                  <a:tcPr marL="54864" marR="54864" marT="9144" marB="9144" anchor="ctr">
                    <a:solidFill>
                      <a:srgbClr val="FFFFFF"/>
                    </a:solidFill>
                  </a:tcPr>
                </a:tc>
                <a:tc>
                  <a:txBody>
                    <a:bodyPr/>
                    <a:lstStyle/>
                    <a:p>
                      <a:r>
                        <a:rPr sz="900" b="0" i="0">
                          <a:solidFill>
                            <a:srgbClr val="5E6370"/>
                          </a:solidFill>
                          <a:latin typeface="Encode Sans ExpandedLight"/>
                        </a:rPr>
                        <a:t>Not found</a:t>
                      </a:r>
                    </a:p>
                  </a:txBody>
                  <a:tcPr marL="54864" marR="54864" marT="9144" marB="9144" anchor="ctr">
                    <a:solidFill>
                      <a:srgbClr val="F7F7F9"/>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Ironclad Guarantee, repairs</a:t>
                      </a:r>
                    </a:p>
                  </a:txBody>
                  <a:tcPr marL="54864" marR="54864" marT="9144" marB="9144" anchor="ctr">
                    <a:solidFill>
                      <a:srgbClr val="C9D2F0"/>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Footprint Chronicles map</a:t>
                      </a:r>
                    </a:p>
                  </a:txBody>
                  <a:tcPr marL="54864" marR="54864" marT="9144" marB="9144" anchor="ctr">
                    <a:solidFill>
                      <a:srgbClr val="C9D2F0"/>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“Work in Progress” report</a:t>
                      </a:r>
                    </a:p>
                  </a:txBody>
                  <a:tcPr marL="54864" marR="54864" marT="9144" marB="9144" anchor="ctr">
                    <a:solidFill>
                      <a:srgbClr val="C9D2F0"/>
                    </a:solidFill>
                  </a:tcPr>
                </a:tc>
              </a:tr>
              <a:tr h="251460">
                <a:tc>
                  <a:txBody>
                    <a:bodyPr/>
                    <a:lstStyle/>
                    <a:p>
                      <a:r>
                        <a:rPr sz="1000" b="1" i="0">
                          <a:solidFill>
                            <a:srgbClr val="243782"/>
                          </a:solidFill>
                          <a:latin typeface="Encode Sans Expanded"/>
                        </a:rPr>
                        <a:t>Apple</a:t>
                      </a:r>
                    </a:p>
                  </a:txBody>
                  <a:tcPr marL="54864" marR="54864" marT="9144" marB="9144" anchor="ctr">
                    <a:solidFill>
                      <a:srgbClr val="FFFFFF"/>
                    </a:solidFill>
                  </a:tcPr>
                </a:tc>
                <a:tc>
                  <a:txBody>
                    <a:bodyPr/>
                    <a:lstStyle/>
                    <a:p>
                      <a:r>
                        <a:rPr sz="900" b="0" i="0">
                          <a:solidFill>
                            <a:srgbClr val="5E6370"/>
                          </a:solidFill>
                          <a:latin typeface="Encode Sans ExpandedLight"/>
                        </a:rPr>
                        <a:t>Not found</a:t>
                      </a:r>
                    </a:p>
                  </a:txBody>
                  <a:tcPr marL="54864" marR="54864" marT="9144" marB="9144" anchor="ctr">
                    <a:solidFill>
                      <a:srgbClr val="F7F7F9"/>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“Privacy. That's iPhone.”</a:t>
                      </a:r>
                    </a:p>
                  </a:txBody>
                  <a:tcPr marL="54864" marR="54864" marT="9144" marB="9144" anchor="ctr">
                    <a:solidFill>
                      <a:srgbClr val="C9D2F0"/>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30% recycled, recycled cobalt</a:t>
                      </a:r>
                    </a:p>
                  </a:txBody>
                  <a:tcPr marL="54864" marR="54864" marT="9144" marB="9144" anchor="ctr">
                    <a:solidFill>
                      <a:srgbClr val="C9D2F0"/>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Watch claim banned in court</a:t>
                      </a:r>
                    </a:p>
                  </a:txBody>
                  <a:tcPr marL="54864" marR="54864" marT="9144" marB="9144" anchor="ctr">
                    <a:solidFill>
                      <a:srgbClr val="EEF0FA"/>
                    </a:solidFill>
                  </a:tcPr>
                </a:tc>
              </a:tr>
              <a:tr h="251460">
                <a:tc>
                  <a:txBody>
                    <a:bodyPr/>
                    <a:lstStyle/>
                    <a:p>
                      <a:r>
                        <a:rPr sz="1000" b="1" i="0">
                          <a:solidFill>
                            <a:srgbClr val="243782"/>
                          </a:solidFill>
                          <a:latin typeface="Encode Sans Expanded"/>
                        </a:rPr>
                        <a:t>IKEA</a:t>
                      </a:r>
                    </a:p>
                  </a:txBody>
                  <a:tcPr marL="54864" marR="54864" marT="9144" marB="9144" anchor="ctr">
                    <a:solidFill>
                      <a:srgbClr val="FFFFFF"/>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“Not a premium add-on”, −10%</a:t>
                      </a:r>
                    </a:p>
                  </a:txBody>
                  <a:tcPr marL="54864" marR="54864" marT="9144" marB="9144" anchor="ctr">
                    <a:solidFill>
                      <a:srgbClr val="C9D2F0"/>
                    </a:solidFill>
                  </a:tcPr>
                </a:tc>
                <a:tc>
                  <a:txBody>
                    <a:bodyPr/>
                    <a:lstStyle/>
                    <a:p>
                      <a:r>
                        <a:rPr sz="900" b="0" i="0">
                          <a:solidFill>
                            <a:srgbClr val="5E6370"/>
                          </a:solidFill>
                          <a:latin typeface="Encode Sans ExpandedLight"/>
                        </a:rPr>
                        <a:t>Not found</a:t>
                      </a:r>
                    </a:p>
                  </a:txBody>
                  <a:tcPr marL="54864" marR="54864" marT="9144" marB="9144" anchor="ctr">
                    <a:solidFill>
                      <a:srgbClr val="F7F7F9"/>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Renewables for suppliers</a:t>
                      </a:r>
                    </a:p>
                  </a:txBody>
                  <a:tcPr marL="54864" marR="54864" marT="9144" marB="9144" anchor="ctr">
                    <a:solidFill>
                      <a:srgbClr val="C9D2F0"/>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Footprint delay disclosed</a:t>
                      </a:r>
                    </a:p>
                  </a:txBody>
                  <a:tcPr marL="54864" marR="54864" marT="9144" marB="9144" anchor="ctr">
                    <a:solidFill>
                      <a:srgbClr val="EEF0FA"/>
                    </a:solidFill>
                  </a:tcPr>
                </a:tc>
              </a:tr>
              <a:tr h="251460">
                <a:tc>
                  <a:txBody>
                    <a:bodyPr/>
                    <a:lstStyle/>
                    <a:p>
                      <a:r>
                        <a:rPr sz="1000" b="1" i="0">
                          <a:solidFill>
                            <a:srgbClr val="243782"/>
                          </a:solidFill>
                          <a:latin typeface="Encode Sans Expanded"/>
                        </a:rPr>
                        <a:t>Enel</a:t>
                      </a:r>
                    </a:p>
                  </a:txBody>
                  <a:tcPr marL="54864" marR="54864" marT="9144" marB="9144" anchor="ctr">
                    <a:solidFill>
                      <a:srgbClr val="FFFFFF"/>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Futur-e, Just Transition Report</a:t>
                      </a:r>
                    </a:p>
                  </a:txBody>
                  <a:tcPr marL="54864" marR="54864" marT="9144" marB="9144" anchor="ctr">
                    <a:solidFill>
                      <a:srgbClr val="C9D2F0"/>
                    </a:solidFill>
                  </a:tcPr>
                </a:tc>
                <a:tc>
                  <a:txBody>
                    <a:bodyPr/>
                    <a:lstStyle/>
                    <a:p>
                      <a:r>
                        <a:rPr sz="900" b="0" i="0">
                          <a:solidFill>
                            <a:srgbClr val="5E6370"/>
                          </a:solidFill>
                          <a:latin typeface="Encode Sans ExpandedLight"/>
                        </a:rPr>
                        <a:t>Not found</a:t>
                      </a:r>
                    </a:p>
                  </a:txBody>
                  <a:tcPr marL="54864" marR="54864" marT="9144" marB="9144" anchor="ctr">
                    <a:solidFill>
                      <a:srgbClr val="F7F7F9"/>
                    </a:solidFill>
                  </a:tcPr>
                </a:tc>
                <a:tc>
                  <a:txBody>
                    <a:bodyPr/>
                    <a:lstStyle/>
                    <a:p>
                      <a:r>
                        <a:rPr sz="900" b="0" i="0">
                          <a:solidFill>
                            <a:srgbClr val="5E6370"/>
                          </a:solidFill>
                          <a:latin typeface="Encode Sans ExpandedLight"/>
                        </a:rPr>
                        <a:t>Not found</a:t>
                      </a:r>
                    </a:p>
                  </a:txBody>
                  <a:tcPr marL="54864" marR="54864" marT="9144" marB="9144" anchor="ctr">
                    <a:solidFill>
                      <a:srgbClr val="F7F7F9"/>
                    </a:solidFill>
                  </a:tcPr>
                </a:tc>
                <a:tc>
                  <a:txBody>
                    <a:bodyPr/>
                    <a:lstStyle/>
                    <a:p>
                      <a:r>
                        <a:rPr sz="900" b="0" i="0">
                          <a:solidFill>
                            <a:srgbClr val="5E6370"/>
                          </a:solidFill>
                          <a:latin typeface="Encode Sans ExpandedLight"/>
                        </a:rPr>
                        <a:t>Not found</a:t>
                      </a:r>
                    </a:p>
                  </a:txBody>
                  <a:tcPr marL="54864" marR="54864" marT="9144" marB="9144" anchor="ctr">
                    <a:solidFill>
                      <a:srgbClr val="F7F7F9"/>
                    </a:solidFill>
                  </a:tcPr>
                </a:tc>
              </a:tr>
              <a:tr h="251460">
                <a:tc>
                  <a:txBody>
                    <a:bodyPr/>
                    <a:lstStyle/>
                    <a:p>
                      <a:r>
                        <a:rPr sz="1000" b="1" i="0">
                          <a:solidFill>
                            <a:srgbClr val="243782"/>
                          </a:solidFill>
                          <a:latin typeface="Encode Sans Expanded"/>
                        </a:rPr>
                        <a:t>Holcim</a:t>
                      </a:r>
                    </a:p>
                  </a:txBody>
                  <a:tcPr marL="54864" marR="54864" marT="9144" marB="9144" anchor="ctr">
                    <a:solidFill>
                      <a:srgbClr val="FFFFFF"/>
                    </a:solidFill>
                  </a:tcPr>
                </a:tc>
                <a:tc>
                  <a:txBody>
                    <a:bodyPr/>
                    <a:lstStyle/>
                    <a:p>
                      <a:r>
                        <a:rPr sz="900" b="0" i="0">
                          <a:solidFill>
                            <a:srgbClr val="5E6370"/>
                          </a:solidFill>
                          <a:latin typeface="Encode Sans ExpandedLight"/>
                        </a:rPr>
                        <a:t>Not found</a:t>
                      </a:r>
                    </a:p>
                  </a:txBody>
                  <a:tcPr marL="54864" marR="54864" marT="9144" marB="9144" anchor="ctr">
                    <a:solidFill>
                      <a:srgbClr val="F7F7F9"/>
                    </a:solidFill>
                  </a:tcPr>
                </a:tc>
                <a:tc>
                  <a:txBody>
                    <a:bodyPr/>
                    <a:lstStyle/>
                    <a:p>
                      <a:r>
                        <a:rPr sz="900" b="0" i="0">
                          <a:solidFill>
                            <a:srgbClr val="5E6370"/>
                          </a:solidFill>
                          <a:latin typeface="Encode Sans ExpandedLight"/>
                        </a:rPr>
                        <a:t>Not found</a:t>
                      </a:r>
                    </a:p>
                  </a:txBody>
                  <a:tcPr marL="54864" marR="54864" marT="9144" marB="9144" anchor="ctr">
                    <a:solidFill>
                      <a:srgbClr val="F7F7F9"/>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ECOPact/ECOPlanet share of sales</a:t>
                      </a:r>
                    </a:p>
                  </a:txBody>
                  <a:tcPr marL="54864" marR="54864" marT="9144" marB="9144" anchor="ctr">
                    <a:solidFill>
                      <a:srgbClr val="C9D2F0"/>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ECO KPIs next to results</a:t>
                      </a:r>
                    </a:p>
                  </a:txBody>
                  <a:tcPr marL="54864" marR="54864" marT="9144" marB="9144" anchor="ctr">
                    <a:solidFill>
                      <a:srgbClr val="EEF0FA"/>
                    </a:solidFill>
                  </a:tcPr>
                </a:tc>
              </a:tr>
              <a:tr h="251460">
                <a:tc>
                  <a:txBody>
                    <a:bodyPr/>
                    <a:lstStyle/>
                    <a:p>
                      <a:r>
                        <a:rPr sz="1000" b="1" i="0">
                          <a:solidFill>
                            <a:srgbClr val="E94E24"/>
                          </a:solidFill>
                          <a:latin typeface="Encode Sans Expanded"/>
                        </a:rPr>
                        <a:t>Stellantis</a:t>
                      </a:r>
                    </a:p>
                  </a:txBody>
                  <a:tcPr marL="54864" marR="54864" marT="9144" marB="9144" anchor="ctr">
                    <a:solidFill>
                      <a:srgbClr val="FCE6DE"/>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ë-C3 €94/month, E-Car &lt;€15k</a:t>
                      </a:r>
                    </a:p>
                  </a:txBody>
                  <a:tcPr marL="54864" marR="54864" marT="9144" marB="9144" anchor="ctr">
                    <a:solidFill>
                      <a:srgbClr val="EEF0FA"/>
                    </a:solidFill>
                  </a:tcPr>
                </a:tc>
                <a:tc>
                  <a:txBody>
                    <a:bodyPr/>
                    <a:lstStyle/>
                    <a:p>
                      <a:r>
                        <a:rPr sz="900" b="1" i="0">
                          <a:solidFill>
                            <a:srgbClr val="243782"/>
                          </a:solidFill>
                          <a:latin typeface="Encode Sans Expanded"/>
                        </a:rPr>
                        <a:t>Weak: </a:t>
                      </a:r>
                      <a:r>
                        <a:rPr sz="900" b="0" i="0">
                          <a:solidFill>
                            <a:srgbClr val="272B35"/>
                          </a:solidFill>
                          <a:latin typeface="Encode Sans ExpandedLight"/>
                        </a:rPr>
                        <a:t>US recalls, privacy; quality reset</a:t>
                      </a:r>
                    </a:p>
                  </a:txBody>
                  <a:tcPr marL="54864" marR="54864" marT="9144" marB="9144" anchor="ctr">
                    <a:solidFill>
                      <a:srgbClr val="FCE6DE"/>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SUSTAINera, Reuse +51%</a:t>
                      </a:r>
                    </a:p>
                  </a:txBody>
                  <a:tcPr marL="54864" marR="54864" marT="9144" marB="9144" anchor="ctr">
                    <a:solidFill>
                      <a:srgbClr val="EEF0FA"/>
                    </a:solidFill>
                  </a:tcPr>
                </a:tc>
                <a:tc>
                  <a:txBody>
                    <a:bodyPr/>
                    <a:lstStyle/>
                    <a:p>
                      <a:r>
                        <a:rPr sz="900" b="1" i="0">
                          <a:solidFill>
                            <a:srgbClr val="243782"/>
                          </a:solidFill>
                          <a:latin typeface="Encode Sans Expanded"/>
                        </a:rPr>
                        <a:t>Weak: </a:t>
                      </a:r>
                      <a:r>
                        <a:rPr sz="900" b="0" i="0">
                          <a:solidFill>
                            <a:srgbClr val="272B35"/>
                          </a:solidFill>
                          <a:latin typeface="Encode Sans ExpandedLight"/>
                        </a:rPr>
                        <a:t>CSRD only, no reset story</a:t>
                      </a:r>
                    </a:p>
                  </a:txBody>
                  <a:tcPr marL="54864" marR="54864" marT="9144" marB="9144" anchor="ctr">
                    <a:solidFill>
                      <a:srgbClr val="FCE6DE"/>
                    </a:solidFill>
                  </a:tcPr>
                </a:tc>
              </a:tr>
            </a:tbl>
          </a:graphicData>
        </a:graphic>
      </p:graphicFrame>
      <p:sp>
        <p:nvSpPr>
          <p:cNvPr id="8" name="Footnote"/>
          <p:cNvSpPr txBox="1"/>
          <p:nvPr/>
        </p:nvSpPr>
        <p:spPr>
          <a:xfrm>
            <a:off x="612648" y="6382512"/>
            <a:ext cx="10241280" cy="274320"/>
          </a:xfrm>
          <a:prstGeom prst="rect">
            <a:avLst/>
          </a:prstGeom>
          <a:noFill/>
        </p:spPr>
        <p:txBody>
          <a:bodyPr wrap="square" lIns="0" rIns="0" tIns="0" bIns="0" anchor="t">
            <a:spAutoFit/>
          </a:bodyPr>
          <a:lstStyle/>
          <a:p>
            <a:pPr algn="l">
              <a:spcAft>
                <a:spcPts val="0"/>
              </a:spcAft>
            </a:pPr>
            <a:r>
              <a:rPr sz="900" b="0" i="1">
                <a:solidFill>
                  <a:srgbClr val="5E6370"/>
                </a:solidFill>
                <a:latin typeface="Encode Sans ExpandedLight"/>
              </a:rPr>
              <a:t>Qualitative reading by the research team, not a rating. “Not found” = not found in our sources, not absent. Mostly self-reported figures.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Positioning map</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Title"/>
          <p:cNvSpPr txBox="1"/>
          <p:nvPr/>
        </p:nvSpPr>
        <p:spPr>
          <a:xfrm>
            <a:off x="612648" y="1024128"/>
            <a:ext cx="10972800" cy="548640"/>
          </a:xfrm>
          <a:prstGeom prst="rect">
            <a:avLst/>
          </a:prstGeom>
          <a:noFill/>
        </p:spPr>
        <p:txBody>
          <a:bodyPr wrap="square" lIns="0" rIns="0" tIns="0" bIns="0" anchor="t">
            <a:spAutoFit/>
          </a:bodyPr>
          <a:lstStyle/>
          <a:p>
            <a:pPr algn="l">
              <a:spcAft>
                <a:spcPts val="0"/>
              </a:spcAft>
            </a:pPr>
            <a:r>
              <a:rPr sz="2200" b="1" i="0">
                <a:solidFill>
                  <a:srgbClr val="243782"/>
                </a:solidFill>
                <a:latin typeface="Encode Sans Expanded"/>
              </a:rPr>
              <a:t>What the map tells us</a:t>
            </a:r>
          </a:p>
        </p:txBody>
      </p:sp>
      <p:sp>
        <p:nvSpPr>
          <p:cNvPr id="7" name="Reading 1"/>
          <p:cNvSpPr/>
          <p:nvPr/>
        </p:nvSpPr>
        <p:spPr>
          <a:xfrm>
            <a:off x="612648" y="1783080"/>
            <a:ext cx="5394960" cy="178308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ading 1 badge"/>
          <p:cNvSpPr/>
          <p:nvPr/>
        </p:nvSpPr>
        <p:spPr>
          <a:xfrm>
            <a:off x="886968" y="2057400"/>
            <a:ext cx="685800" cy="685800"/>
          </a:xfrm>
          <a:prstGeom prst="ellipse">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800" b="1" i="0">
                <a:solidFill>
                  <a:srgbClr val="FFFFFF"/>
                </a:solidFill>
                <a:latin typeface="Encode Sans Expanded"/>
              </a:rPr>
              <a:t>01</a:t>
            </a:r>
          </a:p>
        </p:txBody>
      </p:sp>
      <p:sp>
        <p:nvSpPr>
          <p:cNvPr id="9" name="Reading 1 text"/>
          <p:cNvSpPr txBox="1"/>
          <p:nvPr/>
        </p:nvSpPr>
        <p:spPr>
          <a:xfrm>
            <a:off x="1801368" y="2057400"/>
            <a:ext cx="3977639" cy="1371600"/>
          </a:xfrm>
          <a:prstGeom prst="rect">
            <a:avLst/>
          </a:prstGeom>
          <a:noFill/>
        </p:spPr>
        <p:txBody>
          <a:bodyPr wrap="square" lIns="0" rIns="0" tIns="0" bIns="0" anchor="t">
            <a:spAutoFit/>
          </a:bodyPr>
          <a:lstStyle/>
          <a:p>
            <a:pPr algn="l">
              <a:spcAft>
                <a:spcPts val="600"/>
              </a:spcAft>
            </a:pPr>
            <a:r>
              <a:rPr sz="1600" b="1" i="0">
                <a:solidFill>
                  <a:srgbClr val="243782"/>
                </a:solidFill>
                <a:latin typeface="Encode Sans Expanded"/>
              </a:rPr>
              <a:t>No player is strong everywhere</a:t>
            </a:r>
          </a:p>
          <a:p>
            <a:pPr algn="l">
              <a:spcAft>
                <a:spcPts val="0"/>
              </a:spcAft>
            </a:pPr>
            <a:r>
              <a:rPr sz="1400" b="0" i="0">
                <a:solidFill>
                  <a:srgbClr val="272B35"/>
                </a:solidFill>
                <a:latin typeface="Encode Sans ExpandedLight"/>
              </a:rPr>
              <a:t>Renault, Schneider Electric and Patagonia are strong on three territories; nobody on four.</a:t>
            </a:r>
          </a:p>
        </p:txBody>
      </p:sp>
      <p:sp>
        <p:nvSpPr>
          <p:cNvPr id="10" name="Reading 2"/>
          <p:cNvSpPr/>
          <p:nvPr/>
        </p:nvSpPr>
        <p:spPr>
          <a:xfrm>
            <a:off x="6190488" y="1783080"/>
            <a:ext cx="5394960" cy="178308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ading 2 badge"/>
          <p:cNvSpPr/>
          <p:nvPr/>
        </p:nvSpPr>
        <p:spPr>
          <a:xfrm>
            <a:off x="6464807" y="2057400"/>
            <a:ext cx="685800" cy="685800"/>
          </a:xfrm>
          <a:prstGeom prst="ellipse">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800" b="1" i="0">
                <a:solidFill>
                  <a:srgbClr val="FFFFFF"/>
                </a:solidFill>
                <a:latin typeface="Encode Sans Expanded"/>
              </a:rPr>
              <a:t>02</a:t>
            </a:r>
          </a:p>
        </p:txBody>
      </p:sp>
      <p:sp>
        <p:nvSpPr>
          <p:cNvPr id="12" name="Reading 2 text"/>
          <p:cNvSpPr txBox="1"/>
          <p:nvPr/>
        </p:nvSpPr>
        <p:spPr>
          <a:xfrm>
            <a:off x="7379208" y="2057400"/>
            <a:ext cx="3977639" cy="1371600"/>
          </a:xfrm>
          <a:prstGeom prst="rect">
            <a:avLst/>
          </a:prstGeom>
          <a:noFill/>
        </p:spPr>
        <p:txBody>
          <a:bodyPr wrap="square" lIns="0" rIns="0" tIns="0" bIns="0" anchor="t">
            <a:spAutoFit/>
          </a:bodyPr>
          <a:lstStyle/>
          <a:p>
            <a:pPr algn="l">
              <a:spcAft>
                <a:spcPts val="600"/>
              </a:spcAft>
            </a:pPr>
            <a:r>
              <a:rPr sz="1600" b="1" i="0">
                <a:solidFill>
                  <a:srgbClr val="243782"/>
                </a:solidFill>
                <a:latin typeface="Encode Sans Expanded"/>
              </a:rPr>
              <a:t>No carmaker owns Transparency</a:t>
            </a:r>
          </a:p>
          <a:p>
            <a:pPr algn="l">
              <a:spcAft>
                <a:spcPts val="0"/>
              </a:spcAft>
            </a:pPr>
            <a:r>
              <a:rPr sz="1400" b="0" i="0">
                <a:solidFill>
                  <a:srgbClr val="272B35"/>
                </a:solidFill>
                <a:latin typeface="Encode Sans ExpandedLight"/>
              </a:rPr>
              <a:t>Only Mercedes (versioned transition plan) and Polestar (public LCA method) are strong: the space is still open.</a:t>
            </a:r>
          </a:p>
        </p:txBody>
      </p:sp>
      <p:sp>
        <p:nvSpPr>
          <p:cNvPr id="13" name="Reading 3"/>
          <p:cNvSpPr/>
          <p:nvPr/>
        </p:nvSpPr>
        <p:spPr>
          <a:xfrm>
            <a:off x="612648" y="3749039"/>
            <a:ext cx="5394960" cy="178308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ading 3 badge"/>
          <p:cNvSpPr/>
          <p:nvPr/>
        </p:nvSpPr>
        <p:spPr>
          <a:xfrm>
            <a:off x="886968" y="4023359"/>
            <a:ext cx="685800" cy="685800"/>
          </a:xfrm>
          <a:prstGeom prst="ellipse">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800" b="1" i="0">
                <a:solidFill>
                  <a:srgbClr val="FFFFFF"/>
                </a:solidFill>
                <a:latin typeface="Encode Sans Expanded"/>
              </a:rPr>
              <a:t>03</a:t>
            </a:r>
          </a:p>
        </p:txBody>
      </p:sp>
      <p:sp>
        <p:nvSpPr>
          <p:cNvPr id="15" name="Reading 3 text"/>
          <p:cNvSpPr txBox="1"/>
          <p:nvPr/>
        </p:nvSpPr>
        <p:spPr>
          <a:xfrm>
            <a:off x="1801368" y="4023359"/>
            <a:ext cx="3977639" cy="1371600"/>
          </a:xfrm>
          <a:prstGeom prst="rect">
            <a:avLst/>
          </a:prstGeom>
          <a:noFill/>
        </p:spPr>
        <p:txBody>
          <a:bodyPr wrap="square" lIns="0" rIns="0" tIns="0" bIns="0" anchor="t">
            <a:spAutoFit/>
          </a:bodyPr>
          <a:lstStyle/>
          <a:p>
            <a:pPr algn="l">
              <a:spcAft>
                <a:spcPts val="600"/>
              </a:spcAft>
            </a:pPr>
            <a:r>
              <a:rPr sz="1600" b="1" i="0">
                <a:solidFill>
                  <a:srgbClr val="243782"/>
                </a:solidFill>
                <a:latin typeface="Encode Sans Expanded"/>
              </a:rPr>
              <a:t>Fair Transition is least crowded</a:t>
            </a:r>
          </a:p>
          <a:p>
            <a:pPr algn="l">
              <a:spcAft>
                <a:spcPts val="0"/>
              </a:spcAft>
            </a:pPr>
            <a:r>
              <a:rPr sz="1400" b="0" i="0">
                <a:solidFill>
                  <a:srgbClr val="272B35"/>
                </a:solidFill>
                <a:latin typeface="Encode Sans ExpandedLight"/>
              </a:rPr>
              <a:t>Premium carmakers barely use it, and FaSTLAne 2030 gives Stellantis the most natural material: price and European plants.</a:t>
            </a:r>
          </a:p>
        </p:txBody>
      </p:sp>
      <p:sp>
        <p:nvSpPr>
          <p:cNvPr id="16" name="Reading 4"/>
          <p:cNvSpPr/>
          <p:nvPr/>
        </p:nvSpPr>
        <p:spPr>
          <a:xfrm>
            <a:off x="6190488" y="3749039"/>
            <a:ext cx="5394960" cy="178308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ading 4 badge"/>
          <p:cNvSpPr/>
          <p:nvPr/>
        </p:nvSpPr>
        <p:spPr>
          <a:xfrm>
            <a:off x="6464807" y="4023359"/>
            <a:ext cx="685800" cy="685800"/>
          </a:xfrm>
          <a:prstGeom prst="ellipse">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800" b="1" i="0">
                <a:solidFill>
                  <a:srgbClr val="FFFFFF"/>
                </a:solidFill>
                <a:latin typeface="Encode Sans Expanded"/>
              </a:rPr>
              <a:t>04</a:t>
            </a:r>
          </a:p>
        </p:txBody>
      </p:sp>
      <p:sp>
        <p:nvSpPr>
          <p:cNvPr id="18" name="Reading 4 text"/>
          <p:cNvSpPr txBox="1"/>
          <p:nvPr/>
        </p:nvSpPr>
        <p:spPr>
          <a:xfrm>
            <a:off x="7379208" y="4023359"/>
            <a:ext cx="3977639" cy="1371600"/>
          </a:xfrm>
          <a:prstGeom prst="rect">
            <a:avLst/>
          </a:prstGeom>
          <a:noFill/>
        </p:spPr>
        <p:txBody>
          <a:bodyPr wrap="square" lIns="0" rIns="0" tIns="0" bIns="0" anchor="t">
            <a:spAutoFit/>
          </a:bodyPr>
          <a:lstStyle/>
          <a:p>
            <a:pPr algn="l">
              <a:spcAft>
                <a:spcPts val="600"/>
              </a:spcAft>
            </a:pPr>
            <a:r>
              <a:rPr sz="1600" b="1" i="0">
                <a:solidFill>
                  <a:srgbClr val="243782"/>
                </a:solidFill>
                <a:latin typeface="Encode Sans Expanded"/>
              </a:rPr>
              <a:t>Customer Trust is the exposure</a:t>
            </a:r>
          </a:p>
          <a:p>
            <a:pPr algn="l">
              <a:spcAft>
                <a:spcPts val="0"/>
              </a:spcAft>
            </a:pPr>
            <a:r>
              <a:rPr sz="1400" b="0" i="0">
                <a:solidFill>
                  <a:srgbClr val="272B35"/>
                </a:solidFill>
                <a:latin typeface="Encode Sans ExpandedLight"/>
              </a:rPr>
              <a:t>The territory where Stellantis is most vulnerable today: a claim without proof would backfire.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Key insight</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Statement"/>
          <p:cNvSpPr txBox="1"/>
          <p:nvPr/>
        </p:nvSpPr>
        <p:spPr>
          <a:xfrm>
            <a:off x="612648" y="1097280"/>
            <a:ext cx="10607040" cy="1188720"/>
          </a:xfrm>
          <a:prstGeom prst="rect">
            <a:avLst/>
          </a:prstGeom>
          <a:noFill/>
        </p:spPr>
        <p:txBody>
          <a:bodyPr wrap="square" lIns="0" rIns="0" tIns="0" bIns="0" anchor="t">
            <a:spAutoFit/>
          </a:bodyPr>
          <a:lstStyle/>
          <a:p>
            <a:pPr algn="l">
              <a:spcAft>
                <a:spcPts val="0"/>
              </a:spcAft>
            </a:pPr>
            <a:r>
              <a:rPr sz="2200" b="1" i="0">
                <a:solidFill>
                  <a:srgbClr val="243782"/>
                </a:solidFill>
                <a:latin typeface="Encode Sans Expanded"/>
              </a:rPr>
              <a:t>The best players do not have the smartest slogan. They have one organising idea repeated everywhere, and they prove it territory by territory with a measurable, recurring proof.</a:t>
            </a:r>
          </a:p>
        </p:txBody>
      </p:sp>
      <p:sp>
        <p:nvSpPr>
          <p:cNvPr id="7" name="Card 01"/>
          <p:cNvSpPr/>
          <p:nvPr/>
        </p:nvSpPr>
        <p:spPr>
          <a:xfrm>
            <a:off x="612648" y="2743200"/>
            <a:ext cx="3520440" cy="25146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ard 01 text"/>
          <p:cNvSpPr txBox="1"/>
          <p:nvPr/>
        </p:nvSpPr>
        <p:spPr>
          <a:xfrm>
            <a:off x="886968" y="3017520"/>
            <a:ext cx="2971800" cy="2103120"/>
          </a:xfrm>
          <a:prstGeom prst="rect">
            <a:avLst/>
          </a:prstGeom>
          <a:noFill/>
        </p:spPr>
        <p:txBody>
          <a:bodyPr wrap="square" lIns="0" rIns="0" tIns="0" bIns="0" anchor="t">
            <a:spAutoFit/>
          </a:bodyPr>
          <a:lstStyle/>
          <a:p>
            <a:pPr algn="l">
              <a:spcAft>
                <a:spcPts val="1000"/>
              </a:spcAft>
            </a:pPr>
            <a:r>
              <a:rPr sz="2800" b="1" i="0">
                <a:solidFill>
                  <a:srgbClr val="E94E24"/>
                </a:solidFill>
                <a:latin typeface="Encode Sans Expanded"/>
              </a:rPr>
              <a:t>01</a:t>
            </a:r>
          </a:p>
          <a:p>
            <a:pPr algn="l">
              <a:spcAft>
                <a:spcPts val="800"/>
              </a:spcAft>
            </a:pPr>
            <a:r>
              <a:rPr sz="1800" b="1" i="0">
                <a:solidFill>
                  <a:srgbClr val="243782"/>
                </a:solidFill>
                <a:latin typeface="Encode Sans Expanded"/>
              </a:rPr>
              <a:t>One grid, everywhere</a:t>
            </a:r>
          </a:p>
          <a:p>
            <a:pPr algn="l">
              <a:spcAft>
                <a:spcPts val="0"/>
              </a:spcAft>
            </a:pPr>
            <a:r>
              <a:rPr sz="1500" b="0" i="0">
                <a:solidFill>
                  <a:srgbClr val="272B35"/>
                </a:solidFill>
                <a:latin typeface="Encode Sans ExpandedLight"/>
              </a:rPr>
              <a:t>Hub, KPIs, report, governance and local sites use the same dimensions (VW, Toyota).</a:t>
            </a:r>
          </a:p>
        </p:txBody>
      </p:sp>
      <p:sp>
        <p:nvSpPr>
          <p:cNvPr id="9" name="Card 02"/>
          <p:cNvSpPr/>
          <p:nvPr/>
        </p:nvSpPr>
        <p:spPr>
          <a:xfrm>
            <a:off x="4334256" y="2743200"/>
            <a:ext cx="3520440" cy="25146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ard 02 text"/>
          <p:cNvSpPr txBox="1"/>
          <p:nvPr/>
        </p:nvSpPr>
        <p:spPr>
          <a:xfrm>
            <a:off x="4608576" y="3017520"/>
            <a:ext cx="2971800" cy="2103120"/>
          </a:xfrm>
          <a:prstGeom prst="rect">
            <a:avLst/>
          </a:prstGeom>
          <a:noFill/>
        </p:spPr>
        <p:txBody>
          <a:bodyPr wrap="square" lIns="0" rIns="0" tIns="0" bIns="0" anchor="t">
            <a:spAutoFit/>
          </a:bodyPr>
          <a:lstStyle/>
          <a:p>
            <a:pPr algn="l">
              <a:spcAft>
                <a:spcPts val="1000"/>
              </a:spcAft>
            </a:pPr>
            <a:r>
              <a:rPr sz="2800" b="1" i="0">
                <a:solidFill>
                  <a:srgbClr val="E94E24"/>
                </a:solidFill>
                <a:latin typeface="Encode Sans Expanded"/>
              </a:rPr>
              <a:t>02</a:t>
            </a:r>
          </a:p>
          <a:p>
            <a:pPr algn="l">
              <a:spcAft>
                <a:spcPts val="800"/>
              </a:spcAft>
            </a:pPr>
            <a:r>
              <a:rPr sz="1800" b="1" i="0">
                <a:solidFill>
                  <a:srgbClr val="243782"/>
                </a:solidFill>
                <a:latin typeface="Encode Sans Expanded"/>
              </a:rPr>
              <a:t>Impact areas, not dates</a:t>
            </a:r>
          </a:p>
          <a:p>
            <a:pPr algn="l">
              <a:spcAft>
                <a:spcPts val="0"/>
              </a:spcAft>
            </a:pPr>
            <a:r>
              <a:rPr sz="1500" b="0" i="0">
                <a:solidFill>
                  <a:srgbClr val="272B35"/>
                </a:solidFill>
                <a:latin typeface="Encode Sans ExpandedLight"/>
              </a:rPr>
              <a:t>Frameworks built on impact areas survived the 2024-26 target changes; those built on an end date did not.</a:t>
            </a:r>
          </a:p>
        </p:txBody>
      </p:sp>
      <p:sp>
        <p:nvSpPr>
          <p:cNvPr id="11" name="Card 03"/>
          <p:cNvSpPr/>
          <p:nvPr/>
        </p:nvSpPr>
        <p:spPr>
          <a:xfrm>
            <a:off x="8055864" y="2743200"/>
            <a:ext cx="3520440" cy="25146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ard 03 text"/>
          <p:cNvSpPr txBox="1"/>
          <p:nvPr/>
        </p:nvSpPr>
        <p:spPr>
          <a:xfrm>
            <a:off x="8330184" y="3017520"/>
            <a:ext cx="2971800" cy="2103120"/>
          </a:xfrm>
          <a:prstGeom prst="rect">
            <a:avLst/>
          </a:prstGeom>
          <a:noFill/>
        </p:spPr>
        <p:txBody>
          <a:bodyPr wrap="square" lIns="0" rIns="0" tIns="0" bIns="0" anchor="t">
            <a:spAutoFit/>
          </a:bodyPr>
          <a:lstStyle/>
          <a:p>
            <a:pPr algn="l">
              <a:spcAft>
                <a:spcPts val="1000"/>
              </a:spcAft>
            </a:pPr>
            <a:r>
              <a:rPr sz="2800" b="1" i="0">
                <a:solidFill>
                  <a:srgbClr val="E94E24"/>
                </a:solidFill>
                <a:latin typeface="Encode Sans Expanded"/>
              </a:rPr>
              <a:t>03</a:t>
            </a:r>
          </a:p>
          <a:p>
            <a:pPr algn="l">
              <a:spcAft>
                <a:spcPts val="800"/>
              </a:spcAft>
            </a:pPr>
            <a:r>
              <a:rPr sz="1800" b="1" i="0">
                <a:solidFill>
                  <a:srgbClr val="243782"/>
                </a:solidFill>
                <a:latin typeface="Encode Sans Expanded"/>
              </a:rPr>
              <a:t>A proof per territory</a:t>
            </a:r>
          </a:p>
          <a:p>
            <a:pPr algn="l">
              <a:spcAft>
                <a:spcPts val="0"/>
              </a:spcAft>
            </a:pPr>
            <a:r>
              <a:rPr sz="1500" b="0" i="0">
                <a:solidFill>
                  <a:srgbClr val="272B35"/>
                </a:solidFill>
                <a:latin typeface="Encode Sans ExpandedLight"/>
              </a:rPr>
              <a:t>A monthly payment, a patent given away, tonnes of CO₂ per car, a quarterly score: never an adjective alone.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Competitors · Automotive (1/3)</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Side label"/>
          <p:cNvSpPr txBox="1"/>
          <p:nvPr/>
        </p:nvSpPr>
        <p:spPr>
          <a:xfrm rot="16200000">
            <a:off x="-868680" y="3566160"/>
            <a:ext cx="2377440" cy="274320"/>
          </a:xfrm>
          <a:prstGeom prst="rect">
            <a:avLst/>
          </a:prstGeom>
          <a:noFill/>
        </p:spPr>
        <p:txBody>
          <a:bodyPr wrap="square" lIns="0" rIns="0" tIns="0" bIns="0" anchor="t">
            <a:spAutoFit/>
          </a:bodyPr>
          <a:lstStyle/>
          <a:p>
            <a:pPr algn="ctr">
              <a:spcAft>
                <a:spcPts val="0"/>
              </a:spcAft>
            </a:pPr>
            <a:r>
              <a:rPr sz="1200" b="1" i="0">
                <a:solidFill>
                  <a:srgbClr val="243782"/>
                </a:solidFill>
                <a:latin typeface="Encode Sans Expanded"/>
              </a:rPr>
              <a:t>ESG Narrative</a:t>
            </a:r>
          </a:p>
        </p:txBody>
      </p:sp>
      <p:sp>
        <p:nvSpPr>
          <p:cNvPr id="7" name="Logo placeholder Volkswagen Group"/>
          <p:cNvSpPr txBox="1"/>
          <p:nvPr/>
        </p:nvSpPr>
        <p:spPr>
          <a:xfrm>
            <a:off x="694944" y="987552"/>
            <a:ext cx="3383280" cy="548640"/>
          </a:xfrm>
          <a:prstGeom prst="rect">
            <a:avLst/>
          </a:prstGeom>
          <a:noFill/>
        </p:spPr>
        <p:txBody>
          <a:bodyPr wrap="square" lIns="0" rIns="0" tIns="0" bIns="0" anchor="ctr">
            <a:spAutoFit/>
          </a:bodyPr>
          <a:lstStyle/>
          <a:p>
            <a:pPr algn="ctr">
              <a:spcAft>
                <a:spcPts val="0"/>
              </a:spcAft>
            </a:pPr>
            <a:r>
              <a:rPr sz="2200" b="1" i="0">
                <a:solidFill>
                  <a:srgbClr val="243782"/>
                </a:solidFill>
                <a:latin typeface="Encode Sans Expanded"/>
              </a:rPr>
              <a:t>Volkswagen Group</a:t>
            </a:r>
          </a:p>
        </p:txBody>
      </p:sp>
      <p:sp>
        <p:nvSpPr>
          <p:cNvPr id="8" name="Card 1"/>
          <p:cNvSpPr/>
          <p:nvPr/>
        </p:nvSpPr>
        <p:spPr>
          <a:xfrm>
            <a:off x="603504" y="1600200"/>
            <a:ext cx="3566160" cy="4681728"/>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ard 1 text"/>
          <p:cNvSpPr txBox="1"/>
          <p:nvPr/>
        </p:nvSpPr>
        <p:spPr>
          <a:xfrm>
            <a:off x="832104" y="1783080"/>
            <a:ext cx="3108960" cy="4114800"/>
          </a:xfrm>
          <a:prstGeom prst="rect">
            <a:avLst/>
          </a:prstGeom>
          <a:noFill/>
        </p:spPr>
        <p:txBody>
          <a:bodyPr wrap="square" lIns="0" rIns="0" tIns="0" bIns="0" anchor="t">
            <a:spAutoFit/>
          </a:bodyPr>
          <a:lstStyle/>
          <a:p>
            <a:pPr algn="l">
              <a:spcAft>
                <a:spcPts val="100"/>
              </a:spcAft>
            </a:pPr>
            <a:r>
              <a:rPr sz="1200" b="1" i="0">
                <a:solidFill>
                  <a:srgbClr val="E94E24"/>
                </a:solidFill>
                <a:latin typeface="Encode Sans Expanded"/>
              </a:rPr>
              <a:t>Title</a:t>
            </a:r>
          </a:p>
          <a:p>
            <a:pPr algn="l">
              <a:spcAft>
                <a:spcPts val="1000"/>
              </a:spcAft>
            </a:pPr>
            <a:r>
              <a:rPr sz="1400" b="1" i="0">
                <a:solidFill>
                  <a:srgbClr val="243782"/>
                </a:solidFill>
                <a:latin typeface="Encode Sans Expanded"/>
              </a:rPr>
              <a:t>One grid that runs site, report and Board pay</a:t>
            </a:r>
          </a:p>
          <a:p>
            <a:pPr algn="l">
              <a:spcAft>
                <a:spcPts val="100"/>
              </a:spcAft>
            </a:pPr>
            <a:r>
              <a:rPr sz="1200" b="1" i="0">
                <a:solidFill>
                  <a:srgbClr val="E94E24"/>
                </a:solidFill>
                <a:latin typeface="Encode Sans Expanded"/>
              </a:rPr>
              <a:t>Global storytelling</a:t>
            </a:r>
          </a:p>
          <a:p>
            <a:pPr algn="l">
              <a:spcAft>
                <a:spcPts val="1000"/>
              </a:spcAft>
            </a:pPr>
            <a:r>
              <a:rPr sz="1150" b="0" i="0">
                <a:solidFill>
                  <a:srgbClr val="272B35"/>
                </a:solidFill>
                <a:latin typeface="Encode Sans ExpandedLight"/>
              </a:rPr>
              <a:t>regenerate+: four dimensions (Nature, Our People, Society, Business) with 3 Top-KPIs each; the same grid runs the hub, the Progress Report, the external council and pay.</a:t>
            </a:r>
          </a:p>
          <a:p>
            <a:pPr algn="l">
              <a:spcAft>
                <a:spcPts val="100"/>
              </a:spcAft>
            </a:pPr>
            <a:r>
              <a:rPr sz="1200" b="1" i="0">
                <a:solidFill>
                  <a:srgbClr val="E94E24"/>
                </a:solidFill>
                <a:latin typeface="Encode Sans Expanded"/>
              </a:rPr>
              <a:t>ESG territories</a:t>
            </a:r>
          </a:p>
          <a:p>
            <a:pPr algn="l">
              <a:spcAft>
                <a:spcPts val="1000"/>
              </a:spcAft>
            </a:pPr>
            <a:r>
              <a:rPr sz="1150" b="0" i="0">
                <a:solidFill>
                  <a:srgbClr val="272B35"/>
                </a:solidFill>
                <a:latin typeface="Encode Sans ExpandedLight"/>
              </a:rPr>
              <a:t>Transparency: Decarbonization Index in the Board bonus. Fair Transition contradictory: ID.Polo at €24,995 next to 35,000 jobs cut. Supply-chain exposure (Xinjiang).</a:t>
            </a:r>
          </a:p>
          <a:p>
            <a:pPr algn="l">
              <a:spcAft>
                <a:spcPts val="100"/>
              </a:spcAft>
            </a:pPr>
            <a:r>
              <a:rPr sz="1200" b="1" i="0">
                <a:solidFill>
                  <a:srgbClr val="E94E24"/>
                </a:solidFill>
                <a:latin typeface="Encode Sans Expanded"/>
              </a:rPr>
              <a:t>Why it matters for Stellantis</a:t>
            </a:r>
          </a:p>
          <a:p>
            <a:pPr algn="l">
              <a:spcAft>
                <a:spcPts val="0"/>
              </a:spcAft>
            </a:pPr>
            <a:r>
              <a:rPr sz="1150" b="0" i="0">
                <a:solidFill>
                  <a:srgbClr val="272B35"/>
                </a:solidFill>
                <a:latin typeface="Encode Sans ExpandedLight"/>
              </a:rPr>
              <a:t>Adopt the skeleton, then add what VW lacks: its own voice and an explicit link to FaSTLAne 2030.</a:t>
            </a:r>
          </a:p>
        </p:txBody>
      </p:sp>
      <p:sp>
        <p:nvSpPr>
          <p:cNvPr id="10" name="Hashtag 1"/>
          <p:cNvSpPr txBox="1"/>
          <p:nvPr/>
        </p:nvSpPr>
        <p:spPr>
          <a:xfrm>
            <a:off x="1700784" y="5961888"/>
            <a:ext cx="2267712" cy="228600"/>
          </a:xfrm>
          <a:prstGeom prst="rect">
            <a:avLst/>
          </a:prstGeom>
          <a:noFill/>
        </p:spPr>
        <p:txBody>
          <a:bodyPr wrap="square" lIns="0" rIns="0" tIns="0" bIns="0" anchor="t">
            <a:spAutoFit/>
          </a:bodyPr>
          <a:lstStyle/>
          <a:p>
            <a:pPr algn="r">
              <a:spcAft>
                <a:spcPts val="0"/>
              </a:spcAft>
            </a:pPr>
            <a:r>
              <a:rPr sz="1000" b="0" i="1">
                <a:solidFill>
                  <a:srgbClr val="243782"/>
                </a:solidFill>
                <a:latin typeface="Encode Sans ExpandedLight"/>
              </a:rPr>
              <a:t>#OneGridEverywhere</a:t>
            </a:r>
          </a:p>
        </p:txBody>
      </p:sp>
      <p:sp>
        <p:nvSpPr>
          <p:cNvPr id="11" name="Logo placeholder Mercedes-Benz Group"/>
          <p:cNvSpPr txBox="1"/>
          <p:nvPr/>
        </p:nvSpPr>
        <p:spPr>
          <a:xfrm>
            <a:off x="4416552" y="987552"/>
            <a:ext cx="3383280" cy="548640"/>
          </a:xfrm>
          <a:prstGeom prst="rect">
            <a:avLst/>
          </a:prstGeom>
          <a:noFill/>
        </p:spPr>
        <p:txBody>
          <a:bodyPr wrap="square" lIns="0" rIns="0" tIns="0" bIns="0" anchor="ctr">
            <a:spAutoFit/>
          </a:bodyPr>
          <a:lstStyle/>
          <a:p>
            <a:pPr algn="ctr">
              <a:spcAft>
                <a:spcPts val="0"/>
              </a:spcAft>
            </a:pPr>
            <a:r>
              <a:rPr sz="2200" b="1" i="0">
                <a:solidFill>
                  <a:srgbClr val="243782"/>
                </a:solidFill>
                <a:latin typeface="Encode Sans Expanded"/>
              </a:rPr>
              <a:t>Mercedes-Benz Group</a:t>
            </a:r>
          </a:p>
        </p:txBody>
      </p:sp>
      <p:sp>
        <p:nvSpPr>
          <p:cNvPr id="12" name="Card 2"/>
          <p:cNvSpPr/>
          <p:nvPr/>
        </p:nvSpPr>
        <p:spPr>
          <a:xfrm>
            <a:off x="4325112" y="1600200"/>
            <a:ext cx="3566160" cy="4681728"/>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ard 2 text"/>
          <p:cNvSpPr txBox="1"/>
          <p:nvPr/>
        </p:nvSpPr>
        <p:spPr>
          <a:xfrm>
            <a:off x="4553712" y="1783080"/>
            <a:ext cx="3108960" cy="4114800"/>
          </a:xfrm>
          <a:prstGeom prst="rect">
            <a:avLst/>
          </a:prstGeom>
          <a:noFill/>
        </p:spPr>
        <p:txBody>
          <a:bodyPr wrap="square" lIns="0" rIns="0" tIns="0" bIns="0" anchor="t">
            <a:spAutoFit/>
          </a:bodyPr>
          <a:lstStyle/>
          <a:p>
            <a:pPr algn="l">
              <a:spcAft>
                <a:spcPts val="100"/>
              </a:spcAft>
            </a:pPr>
            <a:r>
              <a:rPr sz="1200" b="1" i="0">
                <a:solidFill>
                  <a:srgbClr val="E94E24"/>
                </a:solidFill>
                <a:latin typeface="Encode Sans Expanded"/>
              </a:rPr>
              <a:t>Title</a:t>
            </a:r>
          </a:p>
          <a:p>
            <a:pPr algn="l">
              <a:spcAft>
                <a:spcPts val="1000"/>
              </a:spcAft>
            </a:pPr>
            <a:r>
              <a:rPr sz="1400" b="1" i="0">
                <a:solidFill>
                  <a:srgbClr val="243782"/>
                </a:solidFill>
                <a:latin typeface="Encode Sans Expanded"/>
              </a:rPr>
              <a:t>The deepest hub, from promise to single model</a:t>
            </a:r>
          </a:p>
          <a:p>
            <a:pPr algn="l">
              <a:spcAft>
                <a:spcPts val="100"/>
              </a:spcAft>
            </a:pPr>
            <a:r>
              <a:rPr sz="1200" b="1" i="0">
                <a:solidFill>
                  <a:srgbClr val="E94E24"/>
                </a:solidFill>
                <a:latin typeface="Encode Sans Expanded"/>
              </a:rPr>
              <a:t>Global storytelling</a:t>
            </a:r>
          </a:p>
          <a:p>
            <a:pPr algn="l">
              <a:spcAft>
                <a:spcPts val="1000"/>
              </a:spcAft>
            </a:pPr>
            <a:r>
              <a:rPr sz="1150" b="0" i="0">
                <a:solidFill>
                  <a:srgbClr val="272B35"/>
                </a:solidFill>
                <a:latin typeface="Encode Sans ExpandedLight"/>
              </a:rPr>
              <a:t>One path, five layers: overview, six strategic areas, Ambition 2039, a 360° Environmental Check per model, investor metrics.</a:t>
            </a:r>
          </a:p>
          <a:p>
            <a:pPr algn="l">
              <a:spcAft>
                <a:spcPts val="100"/>
              </a:spcAft>
            </a:pPr>
            <a:r>
              <a:rPr sz="1200" b="1" i="0">
                <a:solidFill>
                  <a:srgbClr val="E94E24"/>
                </a:solidFill>
                <a:latin typeface="Encode Sans Expanded"/>
              </a:rPr>
              <a:t>ESG territories</a:t>
            </a:r>
          </a:p>
          <a:p>
            <a:pPr algn="l">
              <a:spcAft>
                <a:spcPts val="1000"/>
              </a:spcAft>
            </a:pPr>
            <a:r>
              <a:rPr sz="1150" b="0" i="0">
                <a:solidFill>
                  <a:srgbClr val="272B35"/>
                </a:solidFill>
                <a:latin typeface="Encode Sans ExpandedLight"/>
              </a:rPr>
              <a:t>Customer Trust: Traffic Safety and Digital Trust as ESG pillars. Transparency: Climate Transition Action Plan versioned every year (2023-2026).</a:t>
            </a:r>
          </a:p>
          <a:p>
            <a:pPr algn="l">
              <a:spcAft>
                <a:spcPts val="100"/>
              </a:spcAft>
            </a:pPr>
            <a:r>
              <a:rPr sz="1200" b="1" i="0">
                <a:solidFill>
                  <a:srgbClr val="E94E24"/>
                </a:solidFill>
                <a:latin typeface="Encode Sans Expanded"/>
              </a:rPr>
              <a:t>Why it matters for Stellantis</a:t>
            </a:r>
          </a:p>
          <a:p>
            <a:pPr algn="l">
              <a:spcAft>
                <a:spcPts val="0"/>
              </a:spcAft>
            </a:pPr>
            <a:r>
              <a:rPr sz="1150" b="0" i="0">
                <a:solidFill>
                  <a:srgbClr val="272B35"/>
                </a:solidFill>
                <a:latin typeface="Encode Sans ExpandedLight"/>
              </a:rPr>
              <a:t>A public transition plan linked from the 2050 page, as EmpCo will require, and data trust as an ESG topic.</a:t>
            </a:r>
          </a:p>
        </p:txBody>
      </p:sp>
      <p:sp>
        <p:nvSpPr>
          <p:cNvPr id="14" name="Hashtag 2"/>
          <p:cNvSpPr txBox="1"/>
          <p:nvPr/>
        </p:nvSpPr>
        <p:spPr>
          <a:xfrm>
            <a:off x="5422392" y="5961888"/>
            <a:ext cx="2267712" cy="228600"/>
          </a:xfrm>
          <a:prstGeom prst="rect">
            <a:avLst/>
          </a:prstGeom>
          <a:noFill/>
        </p:spPr>
        <p:txBody>
          <a:bodyPr wrap="square" lIns="0" rIns="0" tIns="0" bIns="0" anchor="t">
            <a:spAutoFit/>
          </a:bodyPr>
          <a:lstStyle/>
          <a:p>
            <a:pPr algn="r">
              <a:spcAft>
                <a:spcPts val="0"/>
              </a:spcAft>
            </a:pPr>
            <a:r>
              <a:rPr sz="1000" b="0" i="1">
                <a:solidFill>
                  <a:srgbClr val="243782"/>
                </a:solidFill>
                <a:latin typeface="Encode Sans ExpandedLight"/>
              </a:rPr>
              <a:t>#LayeredHub</a:t>
            </a:r>
          </a:p>
        </p:txBody>
      </p:sp>
      <p:sp>
        <p:nvSpPr>
          <p:cNvPr id="15" name="Logo placeholder BMW Group"/>
          <p:cNvSpPr txBox="1"/>
          <p:nvPr/>
        </p:nvSpPr>
        <p:spPr>
          <a:xfrm>
            <a:off x="8138160" y="987552"/>
            <a:ext cx="3383280" cy="548640"/>
          </a:xfrm>
          <a:prstGeom prst="rect">
            <a:avLst/>
          </a:prstGeom>
          <a:noFill/>
        </p:spPr>
        <p:txBody>
          <a:bodyPr wrap="square" lIns="0" rIns="0" tIns="0" bIns="0" anchor="ctr">
            <a:spAutoFit/>
          </a:bodyPr>
          <a:lstStyle/>
          <a:p>
            <a:pPr algn="ctr">
              <a:spcAft>
                <a:spcPts val="0"/>
              </a:spcAft>
            </a:pPr>
            <a:r>
              <a:rPr sz="2200" b="1" i="0">
                <a:solidFill>
                  <a:srgbClr val="243782"/>
                </a:solidFill>
                <a:latin typeface="Encode Sans Expanded"/>
              </a:rPr>
              <a:t>BMW Group</a:t>
            </a:r>
          </a:p>
        </p:txBody>
      </p:sp>
      <p:sp>
        <p:nvSpPr>
          <p:cNvPr id="16" name="Card 3"/>
          <p:cNvSpPr/>
          <p:nvPr/>
        </p:nvSpPr>
        <p:spPr>
          <a:xfrm>
            <a:off x="8046720" y="1600200"/>
            <a:ext cx="3566160" cy="4681728"/>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ard 3 text"/>
          <p:cNvSpPr txBox="1"/>
          <p:nvPr/>
        </p:nvSpPr>
        <p:spPr>
          <a:xfrm>
            <a:off x="8275320" y="1783080"/>
            <a:ext cx="3108960" cy="4114800"/>
          </a:xfrm>
          <a:prstGeom prst="rect">
            <a:avLst/>
          </a:prstGeom>
          <a:noFill/>
        </p:spPr>
        <p:txBody>
          <a:bodyPr wrap="square" lIns="0" rIns="0" tIns="0" bIns="0" anchor="t">
            <a:spAutoFit/>
          </a:bodyPr>
          <a:lstStyle/>
          <a:p>
            <a:pPr algn="l">
              <a:spcAft>
                <a:spcPts val="100"/>
              </a:spcAft>
            </a:pPr>
            <a:r>
              <a:rPr sz="1200" b="1" i="0">
                <a:solidFill>
                  <a:srgbClr val="E94E24"/>
                </a:solidFill>
                <a:latin typeface="Encode Sans Expanded"/>
              </a:rPr>
              <a:t>Title</a:t>
            </a:r>
          </a:p>
          <a:p>
            <a:pPr algn="l">
              <a:spcAft>
                <a:spcPts val="1000"/>
              </a:spcAft>
            </a:pPr>
            <a:r>
              <a:rPr sz="1400" b="1" i="0">
                <a:solidFill>
                  <a:srgbClr val="243782"/>
                </a:solidFill>
                <a:latin typeface="Encode Sans Expanded"/>
              </a:rPr>
              <a:t>One product carries the whole transformation</a:t>
            </a:r>
          </a:p>
          <a:p>
            <a:pPr algn="l">
              <a:spcAft>
                <a:spcPts val="100"/>
              </a:spcAft>
            </a:pPr>
            <a:r>
              <a:rPr sz="1200" b="1" i="0">
                <a:solidFill>
                  <a:srgbClr val="E94E24"/>
                </a:solidFill>
                <a:latin typeface="Encode Sans Expanded"/>
              </a:rPr>
              <a:t>Global storytelling</a:t>
            </a:r>
          </a:p>
          <a:p>
            <a:pPr algn="l">
              <a:spcAft>
                <a:spcPts val="1000"/>
              </a:spcAft>
            </a:pPr>
            <a:r>
              <a:rPr sz="1150" b="0" i="0">
                <a:solidFill>
                  <a:srgbClr val="272B35"/>
                </a:solidFill>
                <a:latin typeface="Encode Sans ExpandedLight"/>
              </a:rPr>
              <a:t>Neue Klasse and the Debrecen plant tell CO₂, circularity and supply chain through one car and one place; “carbon neutral” became “fossil-free”.</a:t>
            </a:r>
          </a:p>
          <a:p>
            <a:pPr algn="l">
              <a:spcAft>
                <a:spcPts val="100"/>
              </a:spcAft>
            </a:pPr>
            <a:r>
              <a:rPr sz="1200" b="1" i="0">
                <a:solidFill>
                  <a:srgbClr val="E94E24"/>
                </a:solidFill>
                <a:latin typeface="Encode Sans Expanded"/>
              </a:rPr>
              <a:t>ESG territories</a:t>
            </a:r>
          </a:p>
          <a:p>
            <a:pPr algn="l">
              <a:spcAft>
                <a:spcPts val="1000"/>
              </a:spcAft>
            </a:pPr>
            <a:r>
              <a:rPr sz="1150" b="0" i="0">
                <a:solidFill>
                  <a:srgbClr val="272B35"/>
                </a:solidFill>
                <a:latin typeface="Encode Sans ExpandedLight"/>
              </a:rPr>
              <a:t>Environmental: 0.1 t CO₂ in production per iX3, about one third secondary material, −35% supply-chain CO₂e. Transparency: fleet CO₂ weighted 25% in long-term pay.</a:t>
            </a:r>
          </a:p>
          <a:p>
            <a:pPr algn="l">
              <a:spcAft>
                <a:spcPts val="100"/>
              </a:spcAft>
            </a:pPr>
            <a:r>
              <a:rPr sz="1200" b="1" i="0">
                <a:solidFill>
                  <a:srgbClr val="E94E24"/>
                </a:solidFill>
                <a:latin typeface="Encode Sans Expanded"/>
              </a:rPr>
              <a:t>Why it matters for Stellantis</a:t>
            </a:r>
          </a:p>
          <a:p>
            <a:pPr algn="l">
              <a:spcAft>
                <a:spcPts val="0"/>
              </a:spcAft>
            </a:pPr>
            <a:r>
              <a:rPr sz="1150" b="0" i="0">
                <a:solidFill>
                  <a:srgbClr val="272B35"/>
                </a:solidFill>
                <a:latin typeface="Encode Sans ExpandedLight"/>
              </a:rPr>
              <a:t>The model for STLA One and the Pomigliano E-Car: one object that unites the whole transformation.</a:t>
            </a:r>
          </a:p>
        </p:txBody>
      </p:sp>
      <p:sp>
        <p:nvSpPr>
          <p:cNvPr id="18" name="Hashtag 3"/>
          <p:cNvSpPr txBox="1"/>
          <p:nvPr/>
        </p:nvSpPr>
        <p:spPr>
          <a:xfrm>
            <a:off x="9144000" y="5961888"/>
            <a:ext cx="2267712" cy="228600"/>
          </a:xfrm>
          <a:prstGeom prst="rect">
            <a:avLst/>
          </a:prstGeom>
          <a:noFill/>
        </p:spPr>
        <p:txBody>
          <a:bodyPr wrap="square" lIns="0" rIns="0" tIns="0" bIns="0" anchor="t">
            <a:spAutoFit/>
          </a:bodyPr>
          <a:lstStyle/>
          <a:p>
            <a:pPr algn="r">
              <a:spcAft>
                <a:spcPts val="0"/>
              </a:spcAft>
            </a:pPr>
            <a:r>
              <a:rPr sz="1000" b="0" i="1">
                <a:solidFill>
                  <a:srgbClr val="243782"/>
                </a:solidFill>
                <a:latin typeface="Encode Sans ExpandedLight"/>
              </a:rPr>
              <a:t>#OneProductOneStory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Competitors · Automotive (2/3)</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Side label"/>
          <p:cNvSpPr txBox="1"/>
          <p:nvPr/>
        </p:nvSpPr>
        <p:spPr>
          <a:xfrm rot="16200000">
            <a:off x="-868680" y="3566160"/>
            <a:ext cx="2377440" cy="274320"/>
          </a:xfrm>
          <a:prstGeom prst="rect">
            <a:avLst/>
          </a:prstGeom>
          <a:noFill/>
        </p:spPr>
        <p:txBody>
          <a:bodyPr wrap="square" lIns="0" rIns="0" tIns="0" bIns="0" anchor="t">
            <a:spAutoFit/>
          </a:bodyPr>
          <a:lstStyle/>
          <a:p>
            <a:pPr algn="ctr">
              <a:spcAft>
                <a:spcPts val="0"/>
              </a:spcAft>
            </a:pPr>
            <a:r>
              <a:rPr sz="1200" b="1" i="0">
                <a:solidFill>
                  <a:srgbClr val="243782"/>
                </a:solidFill>
                <a:latin typeface="Encode Sans Expanded"/>
              </a:rPr>
              <a:t>ESG Narrative</a:t>
            </a:r>
          </a:p>
        </p:txBody>
      </p:sp>
      <p:sp>
        <p:nvSpPr>
          <p:cNvPr id="7" name="Logo placeholder Renault Group"/>
          <p:cNvSpPr txBox="1"/>
          <p:nvPr/>
        </p:nvSpPr>
        <p:spPr>
          <a:xfrm>
            <a:off x="694944" y="987552"/>
            <a:ext cx="3383280" cy="548640"/>
          </a:xfrm>
          <a:prstGeom prst="rect">
            <a:avLst/>
          </a:prstGeom>
          <a:noFill/>
        </p:spPr>
        <p:txBody>
          <a:bodyPr wrap="square" lIns="0" rIns="0" tIns="0" bIns="0" anchor="ctr">
            <a:spAutoFit/>
          </a:bodyPr>
          <a:lstStyle/>
          <a:p>
            <a:pPr algn="ctr">
              <a:spcAft>
                <a:spcPts val="0"/>
              </a:spcAft>
            </a:pPr>
            <a:r>
              <a:rPr sz="2200" b="1" i="0">
                <a:solidFill>
                  <a:srgbClr val="243782"/>
                </a:solidFill>
                <a:latin typeface="Encode Sans Expanded"/>
              </a:rPr>
              <a:t>Renault Group</a:t>
            </a:r>
          </a:p>
        </p:txBody>
      </p:sp>
      <p:sp>
        <p:nvSpPr>
          <p:cNvPr id="8" name="Card 1"/>
          <p:cNvSpPr/>
          <p:nvPr/>
        </p:nvSpPr>
        <p:spPr>
          <a:xfrm>
            <a:off x="603504" y="1600200"/>
            <a:ext cx="3566160" cy="4681728"/>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ard 1 text"/>
          <p:cNvSpPr txBox="1"/>
          <p:nvPr/>
        </p:nvSpPr>
        <p:spPr>
          <a:xfrm>
            <a:off x="832104" y="1783080"/>
            <a:ext cx="3108960" cy="4114800"/>
          </a:xfrm>
          <a:prstGeom prst="rect">
            <a:avLst/>
          </a:prstGeom>
          <a:noFill/>
        </p:spPr>
        <p:txBody>
          <a:bodyPr wrap="square" lIns="0" rIns="0" tIns="0" bIns="0" anchor="t">
            <a:spAutoFit/>
          </a:bodyPr>
          <a:lstStyle/>
          <a:p>
            <a:pPr algn="l">
              <a:spcAft>
                <a:spcPts val="100"/>
              </a:spcAft>
            </a:pPr>
            <a:r>
              <a:rPr sz="1200" b="1" i="0">
                <a:solidFill>
                  <a:srgbClr val="E94E24"/>
                </a:solidFill>
                <a:latin typeface="Encode Sans Expanded"/>
              </a:rPr>
              <a:t>Title</a:t>
            </a:r>
          </a:p>
          <a:p>
            <a:pPr algn="l">
              <a:spcAft>
                <a:spcPts val="1000"/>
              </a:spcAft>
            </a:pPr>
            <a:r>
              <a:rPr sz="1400" b="1" i="0">
                <a:solidFill>
                  <a:srgbClr val="243782"/>
                </a:solidFill>
                <a:latin typeface="Encode Sans Expanded"/>
              </a:rPr>
              <a:t>Sustainability in the brand menu and in the monthly payment</a:t>
            </a:r>
          </a:p>
          <a:p>
            <a:pPr algn="l">
              <a:spcAft>
                <a:spcPts val="100"/>
              </a:spcAft>
            </a:pPr>
            <a:r>
              <a:rPr sz="1200" b="1" i="0">
                <a:solidFill>
                  <a:srgbClr val="E94E24"/>
                </a:solidFill>
                <a:latin typeface="Encode Sans Expanded"/>
              </a:rPr>
              <a:t>Global storytelling</a:t>
            </a:r>
          </a:p>
          <a:p>
            <a:pPr algn="l">
              <a:spcAft>
                <a:spcPts val="1000"/>
              </a:spcAft>
            </a:pPr>
            <a:r>
              <a:rPr sz="1150" b="0" i="0">
                <a:solidFill>
                  <a:srgbClr val="272B35"/>
                </a:solidFill>
                <a:latin typeface="Encode Sans ExpandedLight"/>
              </a:rPr>
              <a:t>The Future is NEUTRAL sits under “brands &amp; entities” next to Renault, Dacia and Alpine, with revenue and margin targets (over €2.3bn, over 10% by 2030, self-reported).</a:t>
            </a:r>
          </a:p>
          <a:p>
            <a:pPr algn="l">
              <a:spcAft>
                <a:spcPts val="100"/>
              </a:spcAft>
            </a:pPr>
            <a:r>
              <a:rPr sz="1200" b="1" i="0">
                <a:solidFill>
                  <a:srgbClr val="E94E24"/>
                </a:solidFill>
                <a:latin typeface="Encode Sans Expanded"/>
              </a:rPr>
              <a:t>ESG territories</a:t>
            </a:r>
          </a:p>
          <a:p>
            <a:pPr algn="l">
              <a:spcAft>
                <a:spcPts val="1000"/>
              </a:spcAft>
            </a:pPr>
            <a:r>
              <a:rPr sz="1150" b="0" i="0">
                <a:solidFill>
                  <a:srgbClr val="272B35"/>
                </a:solidFill>
                <a:latin typeface="Encode Sans ExpandedLight"/>
              </a:rPr>
              <a:t>Fair Transition: Twingo from €19,490, social leasing €130-139/month, Flins Re-Factory. Customer Trust: Fireman Access patents licensed free to the industry.</a:t>
            </a:r>
          </a:p>
          <a:p>
            <a:pPr algn="l">
              <a:spcAft>
                <a:spcPts val="100"/>
              </a:spcAft>
            </a:pPr>
            <a:r>
              <a:rPr sz="1200" b="1" i="0">
                <a:solidFill>
                  <a:srgbClr val="E94E24"/>
                </a:solidFill>
                <a:latin typeface="Encode Sans Expanded"/>
              </a:rPr>
              <a:t>Why it matters for Stellantis</a:t>
            </a:r>
          </a:p>
          <a:p>
            <a:pPr algn="l">
              <a:spcAft>
                <a:spcPts val="0"/>
              </a:spcAft>
            </a:pPr>
            <a:r>
              <a:rPr sz="1150" b="0" i="0">
                <a:solidFill>
                  <a:srgbClr val="272B35"/>
                </a:solidFill>
                <a:latin typeface="Encode Sans ExpandedLight"/>
              </a:rPr>
              <a:t>The closest competitor, strong on three territories. SUSTAINera and the ë-C3 at €94/month can answer it.</a:t>
            </a:r>
          </a:p>
        </p:txBody>
      </p:sp>
      <p:sp>
        <p:nvSpPr>
          <p:cNvPr id="10" name="Hashtag 1"/>
          <p:cNvSpPr txBox="1"/>
          <p:nvPr/>
        </p:nvSpPr>
        <p:spPr>
          <a:xfrm>
            <a:off x="1700784" y="5961888"/>
            <a:ext cx="2267712" cy="228600"/>
          </a:xfrm>
          <a:prstGeom prst="rect">
            <a:avLst/>
          </a:prstGeom>
          <a:noFill/>
        </p:spPr>
        <p:txBody>
          <a:bodyPr wrap="square" lIns="0" rIns="0" tIns="0" bIns="0" anchor="t">
            <a:spAutoFit/>
          </a:bodyPr>
          <a:lstStyle/>
          <a:p>
            <a:pPr algn="r">
              <a:spcAft>
                <a:spcPts val="0"/>
              </a:spcAft>
            </a:pPr>
            <a:r>
              <a:rPr sz="1000" b="0" i="1">
                <a:solidFill>
                  <a:srgbClr val="243782"/>
                </a:solidFill>
                <a:latin typeface="Encode Sans ExpandedLight"/>
              </a:rPr>
              <a:t>#CircularityAsBusiness</a:t>
            </a:r>
          </a:p>
        </p:txBody>
      </p:sp>
      <p:sp>
        <p:nvSpPr>
          <p:cNvPr id="11" name="Logo placeholder Volvo Cars"/>
          <p:cNvSpPr txBox="1"/>
          <p:nvPr/>
        </p:nvSpPr>
        <p:spPr>
          <a:xfrm>
            <a:off x="4416552" y="987552"/>
            <a:ext cx="3383280" cy="548640"/>
          </a:xfrm>
          <a:prstGeom prst="rect">
            <a:avLst/>
          </a:prstGeom>
          <a:noFill/>
        </p:spPr>
        <p:txBody>
          <a:bodyPr wrap="square" lIns="0" rIns="0" tIns="0" bIns="0" anchor="ctr">
            <a:spAutoFit/>
          </a:bodyPr>
          <a:lstStyle/>
          <a:p>
            <a:pPr algn="ctr">
              <a:spcAft>
                <a:spcPts val="0"/>
              </a:spcAft>
            </a:pPr>
            <a:r>
              <a:rPr sz="2200" b="1" i="0">
                <a:solidFill>
                  <a:srgbClr val="243782"/>
                </a:solidFill>
                <a:latin typeface="Encode Sans Expanded"/>
              </a:rPr>
              <a:t>Volvo Cars</a:t>
            </a:r>
          </a:p>
        </p:txBody>
      </p:sp>
      <p:sp>
        <p:nvSpPr>
          <p:cNvPr id="12" name="Card 2"/>
          <p:cNvSpPr/>
          <p:nvPr/>
        </p:nvSpPr>
        <p:spPr>
          <a:xfrm>
            <a:off x="4325112" y="1600200"/>
            <a:ext cx="3566160" cy="4681728"/>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ard 2 text"/>
          <p:cNvSpPr txBox="1"/>
          <p:nvPr/>
        </p:nvSpPr>
        <p:spPr>
          <a:xfrm>
            <a:off x="4553712" y="1783080"/>
            <a:ext cx="3108960" cy="4114800"/>
          </a:xfrm>
          <a:prstGeom prst="rect">
            <a:avLst/>
          </a:prstGeom>
          <a:noFill/>
        </p:spPr>
        <p:txBody>
          <a:bodyPr wrap="square" lIns="0" rIns="0" tIns="0" bIns="0" anchor="t">
            <a:spAutoFit/>
          </a:bodyPr>
          <a:lstStyle/>
          <a:p>
            <a:pPr algn="l">
              <a:spcAft>
                <a:spcPts val="100"/>
              </a:spcAft>
            </a:pPr>
            <a:r>
              <a:rPr sz="1200" b="1" i="0">
                <a:solidFill>
                  <a:srgbClr val="E94E24"/>
                </a:solidFill>
                <a:latin typeface="Encode Sans Expanded"/>
              </a:rPr>
              <a:t>Title</a:t>
            </a:r>
          </a:p>
          <a:p>
            <a:pPr algn="l">
              <a:spcAft>
                <a:spcPts val="1000"/>
              </a:spcAft>
            </a:pPr>
            <a:r>
              <a:rPr sz="1400" b="1" i="0">
                <a:solidFill>
                  <a:srgbClr val="243782"/>
                </a:solidFill>
                <a:latin typeface="Encode Sans Expanded"/>
              </a:rPr>
              <a:t>Safety given away, a reset explained</a:t>
            </a:r>
          </a:p>
          <a:p>
            <a:pPr algn="l">
              <a:spcAft>
                <a:spcPts val="100"/>
              </a:spcAft>
            </a:pPr>
            <a:r>
              <a:rPr sz="1200" b="1" i="0">
                <a:solidFill>
                  <a:srgbClr val="E94E24"/>
                </a:solidFill>
                <a:latin typeface="Encode Sans Expanded"/>
              </a:rPr>
              <a:t>Global storytelling</a:t>
            </a:r>
          </a:p>
          <a:p>
            <a:pPr algn="l">
              <a:spcAft>
                <a:spcPts val="1000"/>
              </a:spcAft>
            </a:pPr>
            <a:r>
              <a:rPr sz="1150" b="0" i="0">
                <a:solidFill>
                  <a:srgbClr val="272B35"/>
                </a:solidFill>
                <a:latin typeface="Encode Sans ExpandedLight"/>
              </a:rPr>
              <a:t>Safety as brand DNA for decades; one integrated Annual and Sustainability Report.</a:t>
            </a:r>
          </a:p>
          <a:p>
            <a:pPr algn="l">
              <a:spcAft>
                <a:spcPts val="100"/>
              </a:spcAft>
            </a:pPr>
            <a:r>
              <a:rPr sz="1200" b="1" i="0">
                <a:solidFill>
                  <a:srgbClr val="E94E24"/>
                </a:solidFill>
                <a:latin typeface="Encode Sans Expanded"/>
              </a:rPr>
              <a:t>ESG territories</a:t>
            </a:r>
          </a:p>
          <a:p>
            <a:pPr algn="l">
              <a:spcAft>
                <a:spcPts val="1000"/>
              </a:spcAft>
            </a:pPr>
            <a:r>
              <a:rPr sz="1150" b="0" i="0">
                <a:solidFill>
                  <a:srgbClr val="272B35"/>
                </a:solidFill>
                <a:latin typeface="Encode Sans ExpandedLight"/>
              </a:rPr>
              <a:t>Customer Trust: seatbelt patent shared, E.V.A. crash data (women 71% more likely to be injured). Environmental: EX90 battery passport with QR. Transparency: 2024 target reset explained with causes, net zero 2040 kept.</a:t>
            </a:r>
          </a:p>
          <a:p>
            <a:pPr algn="l">
              <a:spcAft>
                <a:spcPts val="100"/>
              </a:spcAft>
            </a:pPr>
            <a:r>
              <a:rPr sz="1200" b="1" i="0">
                <a:solidFill>
                  <a:srgbClr val="E94E24"/>
                </a:solidFill>
                <a:latin typeface="Encode Sans Expanded"/>
              </a:rPr>
              <a:t>Why it matters for Stellantis</a:t>
            </a:r>
          </a:p>
          <a:p>
            <a:pPr algn="l">
              <a:spcAft>
                <a:spcPts val="0"/>
              </a:spcAft>
            </a:pPr>
            <a:r>
              <a:rPr sz="1150" b="0" i="0">
                <a:solidFill>
                  <a:srgbClr val="272B35"/>
                </a:solidFill>
                <a:latin typeface="Encode Sans ExpandedLight"/>
              </a:rPr>
              <a:t>The template for an open safety gesture and for the missing “why 2050” message.</a:t>
            </a:r>
          </a:p>
        </p:txBody>
      </p:sp>
      <p:sp>
        <p:nvSpPr>
          <p:cNvPr id="14" name="Hashtag 2"/>
          <p:cNvSpPr txBox="1"/>
          <p:nvPr/>
        </p:nvSpPr>
        <p:spPr>
          <a:xfrm>
            <a:off x="5422392" y="5961888"/>
            <a:ext cx="2267712" cy="228600"/>
          </a:xfrm>
          <a:prstGeom prst="rect">
            <a:avLst/>
          </a:prstGeom>
          <a:noFill/>
        </p:spPr>
        <p:txBody>
          <a:bodyPr wrap="square" lIns="0" rIns="0" tIns="0" bIns="0" anchor="t">
            <a:spAutoFit/>
          </a:bodyPr>
          <a:lstStyle/>
          <a:p>
            <a:pPr algn="r">
              <a:spcAft>
                <a:spcPts val="0"/>
              </a:spcAft>
            </a:pPr>
            <a:r>
              <a:rPr sz="1000" b="0" i="1">
                <a:solidFill>
                  <a:srgbClr val="243782"/>
                </a:solidFill>
                <a:latin typeface="Encode Sans ExpandedLight"/>
              </a:rPr>
              <a:t>#SafetyForAll</a:t>
            </a:r>
          </a:p>
        </p:txBody>
      </p:sp>
      <p:sp>
        <p:nvSpPr>
          <p:cNvPr id="15" name="Logo placeholder Toyota"/>
          <p:cNvSpPr txBox="1"/>
          <p:nvPr/>
        </p:nvSpPr>
        <p:spPr>
          <a:xfrm>
            <a:off x="8138160" y="987552"/>
            <a:ext cx="3383280" cy="548640"/>
          </a:xfrm>
          <a:prstGeom prst="rect">
            <a:avLst/>
          </a:prstGeom>
          <a:noFill/>
        </p:spPr>
        <p:txBody>
          <a:bodyPr wrap="square" lIns="0" rIns="0" tIns="0" bIns="0" anchor="ctr">
            <a:spAutoFit/>
          </a:bodyPr>
          <a:lstStyle/>
          <a:p>
            <a:pPr algn="ctr">
              <a:spcAft>
                <a:spcPts val="0"/>
              </a:spcAft>
            </a:pPr>
            <a:r>
              <a:rPr sz="2200" b="1" i="0">
                <a:solidFill>
                  <a:srgbClr val="243782"/>
                </a:solidFill>
                <a:latin typeface="Encode Sans Expanded"/>
              </a:rPr>
              <a:t>Toyota</a:t>
            </a:r>
          </a:p>
        </p:txBody>
      </p:sp>
      <p:sp>
        <p:nvSpPr>
          <p:cNvPr id="16" name="Card 3"/>
          <p:cNvSpPr/>
          <p:nvPr/>
        </p:nvSpPr>
        <p:spPr>
          <a:xfrm>
            <a:off x="8046720" y="1600200"/>
            <a:ext cx="3566160" cy="4681728"/>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ard 3 text"/>
          <p:cNvSpPr txBox="1"/>
          <p:nvPr/>
        </p:nvSpPr>
        <p:spPr>
          <a:xfrm>
            <a:off x="8275320" y="1783080"/>
            <a:ext cx="3108960" cy="4114800"/>
          </a:xfrm>
          <a:prstGeom prst="rect">
            <a:avLst/>
          </a:prstGeom>
          <a:noFill/>
        </p:spPr>
        <p:txBody>
          <a:bodyPr wrap="square" lIns="0" rIns="0" tIns="0" bIns="0" anchor="t">
            <a:spAutoFit/>
          </a:bodyPr>
          <a:lstStyle/>
          <a:p>
            <a:pPr algn="l">
              <a:spcAft>
                <a:spcPts val="100"/>
              </a:spcAft>
            </a:pPr>
            <a:r>
              <a:rPr sz="1200" b="1" i="0">
                <a:solidFill>
                  <a:srgbClr val="E94E24"/>
                </a:solidFill>
                <a:latin typeface="Encode Sans Expanded"/>
              </a:rPr>
              <a:t>Title</a:t>
            </a:r>
          </a:p>
          <a:p>
            <a:pPr algn="l">
              <a:spcAft>
                <a:spcPts val="1000"/>
              </a:spcAft>
            </a:pPr>
            <a:r>
              <a:rPr sz="1400" b="1" i="0">
                <a:solidFill>
                  <a:srgbClr val="243782"/>
                </a:solidFill>
                <a:latin typeface="Encode Sans Expanded"/>
              </a:rPr>
              <a:t>Environmental Challenge 2050: eleven years, same frame</a:t>
            </a:r>
          </a:p>
          <a:p>
            <a:pPr algn="l">
              <a:spcAft>
                <a:spcPts val="100"/>
              </a:spcAft>
            </a:pPr>
            <a:r>
              <a:rPr sz="1200" b="1" i="0">
                <a:solidFill>
                  <a:srgbClr val="E94E24"/>
                </a:solidFill>
                <a:latin typeface="Encode Sans Expanded"/>
              </a:rPr>
              <a:t>Global storytelling</a:t>
            </a:r>
          </a:p>
          <a:p>
            <a:pPr algn="l">
              <a:spcAft>
                <a:spcPts val="1000"/>
              </a:spcAft>
            </a:pPr>
            <a:r>
              <a:rPr sz="1150" b="0" i="0">
                <a:solidFill>
                  <a:srgbClr val="272B35"/>
                </a:solidFill>
                <a:latin typeface="Encode Sans ExpandedLight"/>
              </a:rPr>
              <a:t>Six numbered challenges since 2015: impact areas, not deadlines. The same icon set travels across UK, US, Lebanese and dealer sites.</a:t>
            </a:r>
          </a:p>
          <a:p>
            <a:pPr algn="l">
              <a:spcAft>
                <a:spcPts val="100"/>
              </a:spcAft>
            </a:pPr>
            <a:r>
              <a:rPr sz="1200" b="1" i="0">
                <a:solidFill>
                  <a:srgbClr val="E94E24"/>
                </a:solidFill>
                <a:latin typeface="Encode Sans Expanded"/>
              </a:rPr>
              <a:t>ESG territories</a:t>
            </a:r>
          </a:p>
          <a:p>
            <a:pPr algn="l">
              <a:spcAft>
                <a:spcPts val="1000"/>
              </a:spcAft>
            </a:pPr>
            <a:r>
              <a:rPr sz="1150" b="0" i="0">
                <a:solidFill>
                  <a:srgbClr val="272B35"/>
                </a:solidFill>
                <a:latin typeface="Encode Sans ExpandedLight"/>
              </a:rPr>
              <a:t>Customer Trust: 10-year hybrid battery warranty. Fair Transition contested: “multi-pathway” read as an alibi; rated worst on climate lobbying (InfluenceMap).</a:t>
            </a:r>
          </a:p>
          <a:p>
            <a:pPr algn="l">
              <a:spcAft>
                <a:spcPts val="100"/>
              </a:spcAft>
            </a:pPr>
            <a:r>
              <a:rPr sz="1200" b="1" i="0">
                <a:solidFill>
                  <a:srgbClr val="E94E24"/>
                </a:solidFill>
                <a:latin typeface="Encode Sans Expanded"/>
              </a:rPr>
              <a:t>Why it matters for Stellantis</a:t>
            </a:r>
          </a:p>
          <a:p>
            <a:pPr algn="l">
              <a:spcAft>
                <a:spcPts val="0"/>
              </a:spcAft>
            </a:pPr>
            <a:r>
              <a:rPr sz="1150" b="0" i="0">
                <a:solidFill>
                  <a:srgbClr val="272B35"/>
                </a:solidFill>
                <a:latin typeface="Encode Sans ExpandedLight"/>
              </a:rPr>
              <a:t>Dateless, iconic dimensions survive target changes; a multi-energy plan still needs proof, not a slogan.</a:t>
            </a:r>
          </a:p>
        </p:txBody>
      </p:sp>
      <p:sp>
        <p:nvSpPr>
          <p:cNvPr id="18" name="Hashtag 3"/>
          <p:cNvSpPr txBox="1"/>
          <p:nvPr/>
        </p:nvSpPr>
        <p:spPr>
          <a:xfrm>
            <a:off x="9144000" y="5961888"/>
            <a:ext cx="2267712" cy="228600"/>
          </a:xfrm>
          <a:prstGeom prst="rect">
            <a:avLst/>
          </a:prstGeom>
          <a:noFill/>
        </p:spPr>
        <p:txBody>
          <a:bodyPr wrap="square" lIns="0" rIns="0" tIns="0" bIns="0" anchor="t">
            <a:spAutoFit/>
          </a:bodyPr>
          <a:lstStyle/>
          <a:p>
            <a:pPr algn="r">
              <a:spcAft>
                <a:spcPts val="0"/>
              </a:spcAft>
            </a:pPr>
            <a:r>
              <a:rPr sz="1000" b="0" i="1">
                <a:solidFill>
                  <a:srgbClr val="243782"/>
                </a:solidFill>
                <a:latin typeface="Encode Sans ExpandedLight"/>
              </a:rPr>
              <a:t>#ImpactAreasNotDates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Competitors · Automotive (3/3)</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Side label"/>
          <p:cNvSpPr txBox="1"/>
          <p:nvPr/>
        </p:nvSpPr>
        <p:spPr>
          <a:xfrm rot="16200000">
            <a:off x="-868680" y="3566160"/>
            <a:ext cx="2377440" cy="274320"/>
          </a:xfrm>
          <a:prstGeom prst="rect">
            <a:avLst/>
          </a:prstGeom>
          <a:noFill/>
        </p:spPr>
        <p:txBody>
          <a:bodyPr wrap="square" lIns="0" rIns="0" tIns="0" bIns="0" anchor="t">
            <a:spAutoFit/>
          </a:bodyPr>
          <a:lstStyle/>
          <a:p>
            <a:pPr algn="ctr">
              <a:spcAft>
                <a:spcPts val="0"/>
              </a:spcAft>
            </a:pPr>
            <a:r>
              <a:rPr sz="1200" b="1" i="0">
                <a:solidFill>
                  <a:srgbClr val="243782"/>
                </a:solidFill>
                <a:latin typeface="Encode Sans Expanded"/>
              </a:rPr>
              <a:t>ESG Narrative</a:t>
            </a:r>
          </a:p>
        </p:txBody>
      </p:sp>
      <p:sp>
        <p:nvSpPr>
          <p:cNvPr id="7" name="Logo placeholder Polestar"/>
          <p:cNvSpPr txBox="1"/>
          <p:nvPr/>
        </p:nvSpPr>
        <p:spPr>
          <a:xfrm>
            <a:off x="694944" y="987552"/>
            <a:ext cx="3383280" cy="548640"/>
          </a:xfrm>
          <a:prstGeom prst="rect">
            <a:avLst/>
          </a:prstGeom>
          <a:noFill/>
        </p:spPr>
        <p:txBody>
          <a:bodyPr wrap="square" lIns="0" rIns="0" tIns="0" bIns="0" anchor="ctr">
            <a:spAutoFit/>
          </a:bodyPr>
          <a:lstStyle/>
          <a:p>
            <a:pPr algn="ctr">
              <a:spcAft>
                <a:spcPts val="0"/>
              </a:spcAft>
            </a:pPr>
            <a:r>
              <a:rPr sz="2200" b="1" i="0">
                <a:solidFill>
                  <a:srgbClr val="243782"/>
                </a:solidFill>
                <a:latin typeface="Encode Sans Expanded"/>
              </a:rPr>
              <a:t>Polestar</a:t>
            </a:r>
          </a:p>
        </p:txBody>
      </p:sp>
      <p:sp>
        <p:nvSpPr>
          <p:cNvPr id="8" name="Card 1"/>
          <p:cNvSpPr/>
          <p:nvPr/>
        </p:nvSpPr>
        <p:spPr>
          <a:xfrm>
            <a:off x="603504" y="1600200"/>
            <a:ext cx="3566160" cy="4681728"/>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ard 1 text"/>
          <p:cNvSpPr txBox="1"/>
          <p:nvPr/>
        </p:nvSpPr>
        <p:spPr>
          <a:xfrm>
            <a:off x="832104" y="1783080"/>
            <a:ext cx="3108960" cy="4114800"/>
          </a:xfrm>
          <a:prstGeom prst="rect">
            <a:avLst/>
          </a:prstGeom>
          <a:noFill/>
        </p:spPr>
        <p:txBody>
          <a:bodyPr wrap="square" lIns="0" rIns="0" tIns="0" bIns="0" anchor="t">
            <a:spAutoFit/>
          </a:bodyPr>
          <a:lstStyle/>
          <a:p>
            <a:pPr algn="l">
              <a:spcAft>
                <a:spcPts val="100"/>
              </a:spcAft>
            </a:pPr>
            <a:r>
              <a:rPr sz="1200" b="1" i="0">
                <a:solidFill>
                  <a:srgbClr val="E94E24"/>
                </a:solidFill>
                <a:latin typeface="Encode Sans Expanded"/>
              </a:rPr>
              <a:t>Title</a:t>
            </a:r>
          </a:p>
          <a:p>
            <a:pPr algn="l">
              <a:spcAft>
                <a:spcPts val="1000"/>
              </a:spcAft>
            </a:pPr>
            <a:r>
              <a:rPr sz="1400" b="1" i="0">
                <a:solidFill>
                  <a:srgbClr val="243782"/>
                </a:solidFill>
                <a:latin typeface="Encode Sans Expanded"/>
              </a:rPr>
              <a:t>The car with a label and an honest vocabulary</a:t>
            </a:r>
          </a:p>
          <a:p>
            <a:pPr algn="l">
              <a:spcAft>
                <a:spcPts val="100"/>
              </a:spcAft>
            </a:pPr>
            <a:r>
              <a:rPr sz="1200" b="1" i="0">
                <a:solidFill>
                  <a:srgbClr val="E94E24"/>
                </a:solidFill>
                <a:latin typeface="Encode Sans Expanded"/>
              </a:rPr>
              <a:t>Global storytelling</a:t>
            </a:r>
          </a:p>
          <a:p>
            <a:pPr algn="l">
              <a:spcAft>
                <a:spcPts val="1000"/>
              </a:spcAft>
            </a:pPr>
            <a:r>
              <a:rPr sz="1150" b="0" i="0">
                <a:solidFill>
                  <a:srgbClr val="272B35"/>
                </a:solidFill>
                <a:latin typeface="Encode Sans ExpandedLight"/>
              </a:rPr>
              <a:t>A Product Sustainability Declaration per model, online and in Spaces; an editorial report with its own name (“The Beep Report”).</a:t>
            </a:r>
          </a:p>
          <a:p>
            <a:pPr algn="l">
              <a:spcAft>
                <a:spcPts val="100"/>
              </a:spcAft>
            </a:pPr>
            <a:r>
              <a:rPr sz="1200" b="1" i="0">
                <a:solidFill>
                  <a:srgbClr val="E94E24"/>
                </a:solidFill>
                <a:latin typeface="Encode Sans Expanded"/>
              </a:rPr>
              <a:t>ESG territories</a:t>
            </a:r>
          </a:p>
          <a:p>
            <a:pPr algn="l">
              <a:spcAft>
                <a:spcPts val="1000"/>
              </a:spcAft>
            </a:pPr>
            <a:r>
              <a:rPr sz="1150" b="0" i="0">
                <a:solidFill>
                  <a:srgbClr val="272B35"/>
                </a:solidFill>
                <a:latin typeface="Encode Sans ExpandedLight"/>
              </a:rPr>
              <a:t>Environmental: minerals “traced vs mapped”, per-car footprint 31.7 t (−31%). Transparency: public LCA method; discloses +24% absolute emissions; Polestar 0 moved to 2035.</a:t>
            </a:r>
          </a:p>
          <a:p>
            <a:pPr algn="l">
              <a:spcAft>
                <a:spcPts val="100"/>
              </a:spcAft>
            </a:pPr>
            <a:r>
              <a:rPr sz="1200" b="1" i="0">
                <a:solidFill>
                  <a:srgbClr val="E94E24"/>
                </a:solidFill>
                <a:latin typeface="Encode Sans Expanded"/>
              </a:rPr>
              <a:t>Why it matters for Stellantis</a:t>
            </a:r>
          </a:p>
          <a:p>
            <a:pPr algn="l">
              <a:spcAft>
                <a:spcPts val="0"/>
              </a:spcAft>
            </a:pPr>
            <a:r>
              <a:rPr sz="1150" b="0" i="0">
                <a:solidFill>
                  <a:srgbClr val="272B35"/>
                </a:solidFill>
                <a:latin typeface="Encode Sans ExpandedLight"/>
              </a:rPr>
              <a:t>A label and a vocabulary that hold under EmpCo and anticipate the 2027 battery passport.</a:t>
            </a:r>
          </a:p>
        </p:txBody>
      </p:sp>
      <p:sp>
        <p:nvSpPr>
          <p:cNvPr id="10" name="Hashtag 1"/>
          <p:cNvSpPr txBox="1"/>
          <p:nvPr/>
        </p:nvSpPr>
        <p:spPr>
          <a:xfrm>
            <a:off x="1700784" y="5961888"/>
            <a:ext cx="2267712" cy="228600"/>
          </a:xfrm>
          <a:prstGeom prst="rect">
            <a:avLst/>
          </a:prstGeom>
          <a:noFill/>
        </p:spPr>
        <p:txBody>
          <a:bodyPr wrap="square" lIns="0" rIns="0" tIns="0" bIns="0" anchor="t">
            <a:spAutoFit/>
          </a:bodyPr>
          <a:lstStyle/>
          <a:p>
            <a:pPr algn="r">
              <a:spcAft>
                <a:spcPts val="0"/>
              </a:spcAft>
            </a:pPr>
            <a:r>
              <a:rPr sz="1000" b="0" i="1">
                <a:solidFill>
                  <a:srgbClr val="243782"/>
                </a:solidFill>
                <a:latin typeface="Encode Sans ExpandedLight"/>
              </a:rPr>
              <a:t>#TracedVsMapped</a:t>
            </a:r>
          </a:p>
        </p:txBody>
      </p:sp>
      <p:sp>
        <p:nvSpPr>
          <p:cNvPr id="11" name="Logo placeholder Hyundai · Kia"/>
          <p:cNvSpPr txBox="1"/>
          <p:nvPr/>
        </p:nvSpPr>
        <p:spPr>
          <a:xfrm>
            <a:off x="4416552" y="987552"/>
            <a:ext cx="3383280" cy="548640"/>
          </a:xfrm>
          <a:prstGeom prst="rect">
            <a:avLst/>
          </a:prstGeom>
          <a:noFill/>
        </p:spPr>
        <p:txBody>
          <a:bodyPr wrap="square" lIns="0" rIns="0" tIns="0" bIns="0" anchor="ctr">
            <a:spAutoFit/>
          </a:bodyPr>
          <a:lstStyle/>
          <a:p>
            <a:pPr algn="ctr">
              <a:spcAft>
                <a:spcPts val="0"/>
              </a:spcAft>
            </a:pPr>
            <a:r>
              <a:rPr sz="2200" b="1" i="0">
                <a:solidFill>
                  <a:srgbClr val="243782"/>
                </a:solidFill>
                <a:latin typeface="Encode Sans Expanded"/>
              </a:rPr>
              <a:t>Hyundai · Kia</a:t>
            </a:r>
          </a:p>
        </p:txBody>
      </p:sp>
      <p:sp>
        <p:nvSpPr>
          <p:cNvPr id="12" name="Card 2"/>
          <p:cNvSpPr/>
          <p:nvPr/>
        </p:nvSpPr>
        <p:spPr>
          <a:xfrm>
            <a:off x="4325112" y="1600200"/>
            <a:ext cx="3566160" cy="4681728"/>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ard 2 text"/>
          <p:cNvSpPr txBox="1"/>
          <p:nvPr/>
        </p:nvSpPr>
        <p:spPr>
          <a:xfrm>
            <a:off x="4553712" y="1783080"/>
            <a:ext cx="3108960" cy="4114800"/>
          </a:xfrm>
          <a:prstGeom prst="rect">
            <a:avLst/>
          </a:prstGeom>
          <a:noFill/>
        </p:spPr>
        <p:txBody>
          <a:bodyPr wrap="square" lIns="0" rIns="0" tIns="0" bIns="0" anchor="t">
            <a:spAutoFit/>
          </a:bodyPr>
          <a:lstStyle/>
          <a:p>
            <a:pPr algn="l">
              <a:spcAft>
                <a:spcPts val="100"/>
              </a:spcAft>
            </a:pPr>
            <a:r>
              <a:rPr sz="1200" b="1" i="0">
                <a:solidFill>
                  <a:srgbClr val="E94E24"/>
                </a:solidFill>
                <a:latin typeface="Encode Sans Expanded"/>
              </a:rPr>
              <a:t>Title</a:t>
            </a:r>
          </a:p>
          <a:p>
            <a:pPr algn="l">
              <a:spcAft>
                <a:spcPts val="1000"/>
              </a:spcAft>
            </a:pPr>
            <a:r>
              <a:rPr sz="1400" b="1" i="0">
                <a:solidFill>
                  <a:srgbClr val="243782"/>
                </a:solidFill>
                <a:latin typeface="Encode Sans Expanded"/>
              </a:rPr>
              <a:t>Award-winning platforms, thinner proof</a:t>
            </a:r>
          </a:p>
          <a:p>
            <a:pPr algn="l">
              <a:spcAft>
                <a:spcPts val="100"/>
              </a:spcAft>
            </a:pPr>
            <a:r>
              <a:rPr sz="1200" b="1" i="0">
                <a:solidFill>
                  <a:srgbClr val="E94E24"/>
                </a:solidFill>
                <a:latin typeface="Encode Sans Expanded"/>
              </a:rPr>
              <a:t>Global storytelling</a:t>
            </a:r>
          </a:p>
          <a:p>
            <a:pPr algn="l">
              <a:spcAft>
                <a:spcPts val="1000"/>
              </a:spcAft>
            </a:pPr>
            <a:r>
              <a:rPr sz="1150" b="0" i="0">
                <a:solidFill>
                  <a:srgbClr val="272B35"/>
                </a:solidFill>
                <a:latin typeface="Encode Sans ExpandedLight"/>
              </a:rPr>
              <a:t>Hyundai “Progress for Humanity” and IONIQ Forest (1m+ trees, 13 countries, Cannes Lions 2025-26); Kia trunk liner from Ocean Cleanup plastic, with a QR code.</a:t>
            </a:r>
          </a:p>
          <a:p>
            <a:pPr algn="l">
              <a:spcAft>
                <a:spcPts val="100"/>
              </a:spcAft>
            </a:pPr>
            <a:r>
              <a:rPr sz="1200" b="1" i="0">
                <a:solidFill>
                  <a:srgbClr val="E94E24"/>
                </a:solidFill>
                <a:latin typeface="Encode Sans Expanded"/>
              </a:rPr>
              <a:t>ESG territories</a:t>
            </a:r>
          </a:p>
          <a:p>
            <a:pPr algn="l">
              <a:spcAft>
                <a:spcPts val="1000"/>
              </a:spcAft>
            </a:pPr>
            <a:r>
              <a:rPr sz="1150" b="0" i="0">
                <a:solidFill>
                  <a:srgbClr val="272B35"/>
                </a:solidFill>
                <a:latin typeface="Encode Sans ExpandedLight"/>
              </a:rPr>
              <a:t>Fair Transition weak: EV3 “affordable” at €35,990. Transparency: Hyundai at 40% supply-chain disclosure (Lead the Charge).</a:t>
            </a:r>
          </a:p>
          <a:p>
            <a:pPr algn="l">
              <a:spcAft>
                <a:spcPts val="100"/>
              </a:spcAft>
            </a:pPr>
            <a:r>
              <a:rPr sz="1200" b="1" i="0">
                <a:solidFill>
                  <a:srgbClr val="E94E24"/>
                </a:solidFill>
                <a:latin typeface="Encode Sans Expanded"/>
              </a:rPr>
              <a:t>Why it matters for Stellantis</a:t>
            </a:r>
          </a:p>
          <a:p>
            <a:pPr algn="l">
              <a:spcAft>
                <a:spcPts val="0"/>
              </a:spcAft>
            </a:pPr>
            <a:r>
              <a:rPr sz="1150" b="0" i="0">
                <a:solidFill>
                  <a:srgbClr val="272B35"/>
                </a:solidFill>
                <a:latin typeface="Encode Sans ExpandedLight"/>
              </a:rPr>
              <a:t>Borrow the creativity of long platforms and objects; add what they lack: impact in CO₂, not trees or kilos.</a:t>
            </a:r>
          </a:p>
        </p:txBody>
      </p:sp>
      <p:sp>
        <p:nvSpPr>
          <p:cNvPr id="14" name="Hashtag 2"/>
          <p:cNvSpPr txBox="1"/>
          <p:nvPr/>
        </p:nvSpPr>
        <p:spPr>
          <a:xfrm>
            <a:off x="5422392" y="5961888"/>
            <a:ext cx="2267712" cy="228600"/>
          </a:xfrm>
          <a:prstGeom prst="rect">
            <a:avLst/>
          </a:prstGeom>
          <a:noFill/>
        </p:spPr>
        <p:txBody>
          <a:bodyPr wrap="square" lIns="0" rIns="0" tIns="0" bIns="0" anchor="t">
            <a:spAutoFit/>
          </a:bodyPr>
          <a:lstStyle/>
          <a:p>
            <a:pPr algn="r">
              <a:spcAft>
                <a:spcPts val="0"/>
              </a:spcAft>
            </a:pPr>
            <a:r>
              <a:rPr sz="1000" b="0" i="1">
                <a:solidFill>
                  <a:srgbClr val="243782"/>
                </a:solidFill>
                <a:latin typeface="Encode Sans ExpandedLight"/>
              </a:rPr>
              <a:t>#PlatformNeedsProof</a:t>
            </a:r>
          </a:p>
        </p:txBody>
      </p:sp>
      <p:sp>
        <p:nvSpPr>
          <p:cNvPr id="15" name="Logo placeholder BYD"/>
          <p:cNvSpPr txBox="1"/>
          <p:nvPr/>
        </p:nvSpPr>
        <p:spPr>
          <a:xfrm>
            <a:off x="8138160" y="987552"/>
            <a:ext cx="3383280" cy="548640"/>
          </a:xfrm>
          <a:prstGeom prst="rect">
            <a:avLst/>
          </a:prstGeom>
          <a:noFill/>
        </p:spPr>
        <p:txBody>
          <a:bodyPr wrap="square" lIns="0" rIns="0" tIns="0" bIns="0" anchor="ctr">
            <a:spAutoFit/>
          </a:bodyPr>
          <a:lstStyle/>
          <a:p>
            <a:pPr algn="ctr">
              <a:spcAft>
                <a:spcPts val="0"/>
              </a:spcAft>
            </a:pPr>
            <a:r>
              <a:rPr sz="2200" b="1" i="0">
                <a:solidFill>
                  <a:srgbClr val="243782"/>
                </a:solidFill>
                <a:latin typeface="Encode Sans Expanded"/>
              </a:rPr>
              <a:t>BYD</a:t>
            </a:r>
          </a:p>
        </p:txBody>
      </p:sp>
      <p:sp>
        <p:nvSpPr>
          <p:cNvPr id="16" name="Card 3"/>
          <p:cNvSpPr/>
          <p:nvPr/>
        </p:nvSpPr>
        <p:spPr>
          <a:xfrm>
            <a:off x="8046720" y="1600200"/>
            <a:ext cx="3566160" cy="4681728"/>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ard 3 text"/>
          <p:cNvSpPr txBox="1"/>
          <p:nvPr/>
        </p:nvSpPr>
        <p:spPr>
          <a:xfrm>
            <a:off x="8275320" y="1783080"/>
            <a:ext cx="3108960" cy="4114800"/>
          </a:xfrm>
          <a:prstGeom prst="rect">
            <a:avLst/>
          </a:prstGeom>
          <a:noFill/>
        </p:spPr>
        <p:txBody>
          <a:bodyPr wrap="square" lIns="0" rIns="0" tIns="0" bIns="0" anchor="t">
            <a:spAutoFit/>
          </a:bodyPr>
          <a:lstStyle/>
          <a:p>
            <a:pPr algn="l">
              <a:spcAft>
                <a:spcPts val="100"/>
              </a:spcAft>
            </a:pPr>
            <a:r>
              <a:rPr sz="1200" b="1" i="0">
                <a:solidFill>
                  <a:srgbClr val="E94E24"/>
                </a:solidFill>
                <a:latin typeface="Encode Sans Expanded"/>
              </a:rPr>
              <a:t>Title</a:t>
            </a:r>
          </a:p>
          <a:p>
            <a:pPr algn="l">
              <a:spcAft>
                <a:spcPts val="1000"/>
              </a:spcAft>
            </a:pPr>
            <a:r>
              <a:rPr sz="1400" b="1" i="0">
                <a:solidFill>
                  <a:srgbClr val="243782"/>
                </a:solidFill>
                <a:latin typeface="Encode Sans Expanded"/>
              </a:rPr>
              <a:t>A memorable slogan without depth</a:t>
            </a:r>
          </a:p>
          <a:p>
            <a:pPr algn="l">
              <a:spcAft>
                <a:spcPts val="100"/>
              </a:spcAft>
            </a:pPr>
            <a:r>
              <a:rPr sz="1200" b="1" i="0">
                <a:solidFill>
                  <a:srgbClr val="E94E24"/>
                </a:solidFill>
                <a:latin typeface="Encode Sans Expanded"/>
              </a:rPr>
              <a:t>Global storytelling</a:t>
            </a:r>
          </a:p>
          <a:p>
            <a:pPr algn="l">
              <a:spcAft>
                <a:spcPts val="1000"/>
              </a:spcAft>
            </a:pPr>
            <a:r>
              <a:rPr sz="1150" b="0" i="0">
                <a:solidFill>
                  <a:srgbClr val="272B35"/>
                </a:solidFill>
                <a:latin typeface="Encode Sans ExpandedLight"/>
              </a:rPr>
              <a:t>“Cool the Earth by 1°C”: the most memorable organising idea of the sample, with little depth behind it on the hub.</a:t>
            </a:r>
          </a:p>
          <a:p>
            <a:pPr algn="l">
              <a:spcAft>
                <a:spcPts val="100"/>
              </a:spcAft>
            </a:pPr>
            <a:r>
              <a:rPr sz="1200" b="1" i="0">
                <a:solidFill>
                  <a:srgbClr val="E94E24"/>
                </a:solidFill>
                <a:latin typeface="Encode Sans Expanded"/>
              </a:rPr>
              <a:t>ESG territories</a:t>
            </a:r>
          </a:p>
          <a:p>
            <a:pPr algn="l">
              <a:spcAft>
                <a:spcPts val="1000"/>
              </a:spcAft>
            </a:pPr>
            <a:r>
              <a:rPr sz="1150" b="0" i="0">
                <a:solidFill>
                  <a:srgbClr val="272B35"/>
                </a:solidFill>
                <a:latin typeface="Encode Sans ExpandedLight"/>
              </a:rPr>
              <a:t>Fair Transition: price only (Dolphin Surf €22,990 at launch). Environmental: 46.6 Mt “avoided” claim. Transparency: 0% supply-chain disclosure.</a:t>
            </a:r>
          </a:p>
          <a:p>
            <a:pPr algn="l">
              <a:spcAft>
                <a:spcPts val="100"/>
              </a:spcAft>
            </a:pPr>
            <a:r>
              <a:rPr sz="1200" b="1" i="0">
                <a:solidFill>
                  <a:srgbClr val="E94E24"/>
                </a:solidFill>
                <a:latin typeface="Encode Sans Expanded"/>
              </a:rPr>
              <a:t>Why it matters for Stellantis</a:t>
            </a:r>
          </a:p>
          <a:p>
            <a:pPr algn="l">
              <a:spcAft>
                <a:spcPts val="0"/>
              </a:spcAft>
            </a:pPr>
            <a:r>
              <a:rPr sz="1150" b="0" i="0">
                <a:solidFill>
                  <a:srgbClr val="272B35"/>
                </a:solidFill>
                <a:latin typeface="Encode Sans ExpandedLight"/>
              </a:rPr>
              <a:t>The risk case: a slogan without proof is exactly what EmpCo now makes risky.</a:t>
            </a:r>
          </a:p>
        </p:txBody>
      </p:sp>
      <p:sp>
        <p:nvSpPr>
          <p:cNvPr id="18" name="Hashtag 3"/>
          <p:cNvSpPr txBox="1"/>
          <p:nvPr/>
        </p:nvSpPr>
        <p:spPr>
          <a:xfrm>
            <a:off x="9144000" y="5961888"/>
            <a:ext cx="2267712" cy="228600"/>
          </a:xfrm>
          <a:prstGeom prst="rect">
            <a:avLst/>
          </a:prstGeom>
          <a:noFill/>
        </p:spPr>
        <p:txBody>
          <a:bodyPr wrap="square" lIns="0" rIns="0" tIns="0" bIns="0" anchor="t">
            <a:spAutoFit/>
          </a:bodyPr>
          <a:lstStyle/>
          <a:p>
            <a:pPr algn="r">
              <a:spcAft>
                <a:spcPts val="0"/>
              </a:spcAft>
            </a:pPr>
            <a:r>
              <a:rPr sz="1000" b="0" i="1">
                <a:solidFill>
                  <a:srgbClr val="243782"/>
                </a:solidFill>
                <a:latin typeface="Encode Sans ExpandedLight"/>
              </a:rPr>
              <a:t>#SloganVsProof</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Remarkable · Global storytelling</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Side label"/>
          <p:cNvSpPr txBox="1"/>
          <p:nvPr/>
        </p:nvSpPr>
        <p:spPr>
          <a:xfrm rot="16200000">
            <a:off x="-868680" y="3566160"/>
            <a:ext cx="2377440" cy="274320"/>
          </a:xfrm>
          <a:prstGeom prst="rect">
            <a:avLst/>
          </a:prstGeom>
          <a:noFill/>
        </p:spPr>
        <p:txBody>
          <a:bodyPr wrap="square" lIns="0" rIns="0" tIns="0" bIns="0" anchor="t">
            <a:spAutoFit/>
          </a:bodyPr>
          <a:lstStyle/>
          <a:p>
            <a:pPr algn="ctr">
              <a:spcAft>
                <a:spcPts val="0"/>
              </a:spcAft>
            </a:pPr>
            <a:r>
              <a:rPr sz="1200" b="1" i="0">
                <a:solidFill>
                  <a:srgbClr val="243782"/>
                </a:solidFill>
                <a:latin typeface="Encode Sans Expanded"/>
              </a:rPr>
              <a:t>Remarkable cases</a:t>
            </a:r>
          </a:p>
        </p:txBody>
      </p:sp>
      <p:sp>
        <p:nvSpPr>
          <p:cNvPr id="7" name="Logo placeholder Microsoft"/>
          <p:cNvSpPr txBox="1"/>
          <p:nvPr/>
        </p:nvSpPr>
        <p:spPr>
          <a:xfrm>
            <a:off x="694944" y="987552"/>
            <a:ext cx="3383280" cy="548640"/>
          </a:xfrm>
          <a:prstGeom prst="rect">
            <a:avLst/>
          </a:prstGeom>
          <a:noFill/>
        </p:spPr>
        <p:txBody>
          <a:bodyPr wrap="square" lIns="0" rIns="0" tIns="0" bIns="0" anchor="ctr">
            <a:spAutoFit/>
          </a:bodyPr>
          <a:lstStyle/>
          <a:p>
            <a:pPr algn="ctr">
              <a:spcAft>
                <a:spcPts val="0"/>
              </a:spcAft>
            </a:pPr>
            <a:r>
              <a:rPr sz="2200" b="1" i="0">
                <a:solidFill>
                  <a:srgbClr val="243782"/>
                </a:solidFill>
                <a:latin typeface="Encode Sans Expanded"/>
              </a:rPr>
              <a:t>Microsoft</a:t>
            </a:r>
          </a:p>
        </p:txBody>
      </p:sp>
      <p:sp>
        <p:nvSpPr>
          <p:cNvPr id="8" name="Card 1"/>
          <p:cNvSpPr/>
          <p:nvPr/>
        </p:nvSpPr>
        <p:spPr>
          <a:xfrm>
            <a:off x="603504" y="1600200"/>
            <a:ext cx="3566160" cy="4681728"/>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ard 1 text"/>
          <p:cNvSpPr txBox="1"/>
          <p:nvPr/>
        </p:nvSpPr>
        <p:spPr>
          <a:xfrm>
            <a:off x="832104" y="1783080"/>
            <a:ext cx="3108960" cy="4114800"/>
          </a:xfrm>
          <a:prstGeom prst="rect">
            <a:avLst/>
          </a:prstGeom>
          <a:noFill/>
        </p:spPr>
        <p:txBody>
          <a:bodyPr wrap="square" lIns="0" rIns="0" tIns="0" bIns="0" anchor="t">
            <a:spAutoFit/>
          </a:bodyPr>
          <a:lstStyle/>
          <a:p>
            <a:pPr algn="l">
              <a:spcAft>
                <a:spcPts val="100"/>
              </a:spcAft>
            </a:pPr>
            <a:r>
              <a:rPr sz="1200" b="1" i="0">
                <a:solidFill>
                  <a:srgbClr val="E94E24"/>
                </a:solidFill>
                <a:latin typeface="Encode Sans Expanded"/>
              </a:rPr>
              <a:t>Title</a:t>
            </a:r>
          </a:p>
          <a:p>
            <a:pPr algn="l">
              <a:spcAft>
                <a:spcPts val="1000"/>
              </a:spcAft>
            </a:pPr>
            <a:r>
              <a:rPr sz="1400" b="1" i="0">
                <a:solidFill>
                  <a:srgbClr val="243782"/>
                </a:solidFill>
                <a:latin typeface="Encode Sans Expanded"/>
              </a:rPr>
              <a:t>Promise, proof, people, depth</a:t>
            </a:r>
          </a:p>
          <a:p>
            <a:pPr algn="l">
              <a:spcAft>
                <a:spcPts val="100"/>
              </a:spcAft>
            </a:pPr>
            <a:r>
              <a:rPr sz="1200" b="1" i="0">
                <a:solidFill>
                  <a:srgbClr val="E94E24"/>
                </a:solidFill>
                <a:latin typeface="Encode Sans Expanded"/>
              </a:rPr>
              <a:t>Why it works</a:t>
            </a:r>
          </a:p>
          <a:p>
            <a:pPr algn="l">
              <a:spcAft>
                <a:spcPts val="1000"/>
              </a:spcAft>
            </a:pPr>
            <a:r>
              <a:rPr sz="1150" b="0" i="0">
                <a:solidFill>
                  <a:srgbClr val="272B35"/>
                </a:solidFill>
                <a:latin typeface="Encode Sans ExpandedLight"/>
              </a:rPr>
              <a:t>Four 2030 commitments, one big proof number and one sub-page each, then the CSO's voice, stories and a reports hub. It owns the bad news in the first person: emissions up about 25% in 2025, with the cause.</a:t>
            </a:r>
          </a:p>
          <a:p>
            <a:pPr algn="l">
              <a:spcAft>
                <a:spcPts val="100"/>
              </a:spcAft>
            </a:pPr>
            <a:r>
              <a:rPr sz="1200" b="1" i="0">
                <a:solidFill>
                  <a:srgbClr val="E94E24"/>
                </a:solidFill>
                <a:latin typeface="Encode Sans Expanded"/>
              </a:rPr>
              <a:t>ESG territories</a:t>
            </a:r>
          </a:p>
          <a:p>
            <a:pPr algn="l">
              <a:spcAft>
                <a:spcPts val="1000"/>
              </a:spcAft>
            </a:pPr>
            <a:r>
              <a:rPr sz="1150" b="0" i="0">
                <a:solidFill>
                  <a:srgbClr val="272B35"/>
                </a:solidFill>
                <a:latin typeface="Encode Sans ExpandedLight"/>
              </a:rPr>
              <a:t>Fair Transition: $4bn Elevate reskilling. Transparency: admits +25% emissions with the cause. Environmental: supplier clause, but Scope 3 rising. Customer Trust: not found.</a:t>
            </a:r>
          </a:p>
          <a:p>
            <a:pPr algn="l">
              <a:spcAft>
                <a:spcPts val="100"/>
              </a:spcAft>
            </a:pPr>
            <a:r>
              <a:rPr sz="1200" b="1" i="0">
                <a:solidFill>
                  <a:srgbClr val="E94E24"/>
                </a:solidFill>
                <a:latin typeface="Encode Sans Expanded"/>
              </a:rPr>
              <a:t>Why it matters for Stellantis</a:t>
            </a:r>
          </a:p>
          <a:p>
            <a:pPr algn="l">
              <a:spcAft>
                <a:spcPts val="0"/>
              </a:spcAft>
            </a:pPr>
            <a:r>
              <a:rPr sz="1150" b="0" i="0">
                <a:solidFill>
                  <a:srgbClr val="272B35"/>
                </a:solidFill>
                <a:latin typeface="Encode Sans ExpandedLight"/>
              </a:rPr>
              <a:t>The model for the first two layers of a hub, and the register for 2050: name the setback before the press does.</a:t>
            </a:r>
          </a:p>
        </p:txBody>
      </p:sp>
      <p:sp>
        <p:nvSpPr>
          <p:cNvPr id="10" name="Hashtag 1"/>
          <p:cNvSpPr txBox="1"/>
          <p:nvPr/>
        </p:nvSpPr>
        <p:spPr>
          <a:xfrm>
            <a:off x="1700784" y="5961888"/>
            <a:ext cx="2267712" cy="228600"/>
          </a:xfrm>
          <a:prstGeom prst="rect">
            <a:avLst/>
          </a:prstGeom>
          <a:noFill/>
        </p:spPr>
        <p:txBody>
          <a:bodyPr wrap="square" lIns="0" rIns="0" tIns="0" bIns="0" anchor="t">
            <a:spAutoFit/>
          </a:bodyPr>
          <a:lstStyle/>
          <a:p>
            <a:pPr algn="r">
              <a:spcAft>
                <a:spcPts val="0"/>
              </a:spcAft>
            </a:pPr>
            <a:r>
              <a:rPr sz="1000" b="0" i="1">
                <a:solidFill>
                  <a:srgbClr val="243782"/>
                </a:solidFill>
                <a:latin typeface="Encode Sans ExpandedLight"/>
              </a:rPr>
              <a:t>#PromiseProofPeople</a:t>
            </a:r>
          </a:p>
        </p:txBody>
      </p:sp>
      <p:sp>
        <p:nvSpPr>
          <p:cNvPr id="11" name="Logo placeholder Schneider Electric"/>
          <p:cNvSpPr txBox="1"/>
          <p:nvPr/>
        </p:nvSpPr>
        <p:spPr>
          <a:xfrm>
            <a:off x="4416552" y="987552"/>
            <a:ext cx="3383280" cy="548640"/>
          </a:xfrm>
          <a:prstGeom prst="rect">
            <a:avLst/>
          </a:prstGeom>
          <a:noFill/>
        </p:spPr>
        <p:txBody>
          <a:bodyPr wrap="square" lIns="0" rIns="0" tIns="0" bIns="0" anchor="ctr">
            <a:spAutoFit/>
          </a:bodyPr>
          <a:lstStyle/>
          <a:p>
            <a:pPr algn="ctr">
              <a:spcAft>
                <a:spcPts val="0"/>
              </a:spcAft>
            </a:pPr>
            <a:r>
              <a:rPr sz="2200" b="1" i="0">
                <a:solidFill>
                  <a:srgbClr val="243782"/>
                </a:solidFill>
                <a:latin typeface="Encode Sans Expanded"/>
              </a:rPr>
              <a:t>Schneider Electric</a:t>
            </a:r>
          </a:p>
        </p:txBody>
      </p:sp>
      <p:sp>
        <p:nvSpPr>
          <p:cNvPr id="12" name="Card 2"/>
          <p:cNvSpPr/>
          <p:nvPr/>
        </p:nvSpPr>
        <p:spPr>
          <a:xfrm>
            <a:off x="4325112" y="1600200"/>
            <a:ext cx="3566160" cy="4681728"/>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ard 2 text"/>
          <p:cNvSpPr txBox="1"/>
          <p:nvPr/>
        </p:nvSpPr>
        <p:spPr>
          <a:xfrm>
            <a:off x="4553712" y="1783080"/>
            <a:ext cx="3108960" cy="4114800"/>
          </a:xfrm>
          <a:prstGeom prst="rect">
            <a:avLst/>
          </a:prstGeom>
          <a:noFill/>
        </p:spPr>
        <p:txBody>
          <a:bodyPr wrap="square" lIns="0" rIns="0" tIns="0" bIns="0" anchor="t">
            <a:spAutoFit/>
          </a:bodyPr>
          <a:lstStyle/>
          <a:p>
            <a:pPr algn="l">
              <a:spcAft>
                <a:spcPts val="100"/>
              </a:spcAft>
            </a:pPr>
            <a:r>
              <a:rPr sz="1200" b="1" i="0">
                <a:solidFill>
                  <a:srgbClr val="E94E24"/>
                </a:solidFill>
                <a:latin typeface="Encode Sans Expanded"/>
              </a:rPr>
              <a:t>Title</a:t>
            </a:r>
          </a:p>
          <a:p>
            <a:pPr algn="l">
              <a:spcAft>
                <a:spcPts val="1000"/>
              </a:spcAft>
            </a:pPr>
            <a:r>
              <a:rPr sz="1400" b="1" i="0">
                <a:solidFill>
                  <a:srgbClr val="243782"/>
                </a:solidFill>
                <a:latin typeface="Encode Sans Expanded"/>
              </a:rPr>
              <a:t>A score out of 10 that survives a change of plan</a:t>
            </a:r>
          </a:p>
          <a:p>
            <a:pPr algn="l">
              <a:spcAft>
                <a:spcPts val="100"/>
              </a:spcAft>
            </a:pPr>
            <a:r>
              <a:rPr sz="1200" b="1" i="0">
                <a:solidFill>
                  <a:srgbClr val="E94E24"/>
                </a:solidFill>
                <a:latin typeface="Encode Sans Expanded"/>
              </a:rPr>
              <a:t>Why it works</a:t>
            </a:r>
          </a:p>
          <a:p>
            <a:pPr algn="l">
              <a:spcAft>
                <a:spcPts val="1000"/>
              </a:spcAft>
            </a:pPr>
            <a:r>
              <a:rPr sz="1150" b="0" i="0">
                <a:solidFill>
                  <a:srgbClr val="272B35"/>
                </a:solidFill>
                <a:latin typeface="Encode Sans ExpandedLight"/>
              </a:rPr>
              <a:t>SSI 2021-25 closed at 8.86/10; Impact 2030 restarts the scale (3.69 at H1 2026 vs 4.20 target). Published quarterly with results; pillars written as business missions; linked to incentives.</a:t>
            </a:r>
          </a:p>
          <a:p>
            <a:pPr algn="l">
              <a:spcAft>
                <a:spcPts val="100"/>
              </a:spcAft>
            </a:pPr>
            <a:r>
              <a:rPr sz="1200" b="1" i="0">
                <a:solidFill>
                  <a:srgbClr val="E94E24"/>
                </a:solidFill>
                <a:latin typeface="Encode Sans Expanded"/>
              </a:rPr>
              <a:t>ESG territories</a:t>
            </a:r>
          </a:p>
          <a:p>
            <a:pPr algn="l">
              <a:spcAft>
                <a:spcPts val="1000"/>
              </a:spcAft>
            </a:pPr>
            <a:r>
              <a:rPr sz="1150" b="0" i="0">
                <a:solidFill>
                  <a:srgbClr val="272B35"/>
                </a:solidFill>
                <a:latin typeface="Encode Sans ExpandedLight"/>
              </a:rPr>
              <a:t>Fair Transition: Access to Energy (61m people vs 50m target), 1m trained. Environmental: −56% operational CO₂ at top 1,000 suppliers. Transparency: quarterly score. Customer Trust: not found.</a:t>
            </a:r>
          </a:p>
          <a:p>
            <a:pPr algn="l">
              <a:spcAft>
                <a:spcPts val="100"/>
              </a:spcAft>
            </a:pPr>
            <a:r>
              <a:rPr sz="1200" b="1" i="0">
                <a:solidFill>
                  <a:srgbClr val="E94E24"/>
                </a:solidFill>
                <a:latin typeface="Encode Sans Expanded"/>
              </a:rPr>
              <a:t>Why it matters for Stellantis</a:t>
            </a:r>
          </a:p>
          <a:p>
            <a:pPr algn="l">
              <a:spcAft>
                <a:spcPts val="0"/>
              </a:spcAft>
            </a:pPr>
            <a:r>
              <a:rPr sz="1150" b="0" i="0">
                <a:solidFill>
                  <a:srgbClr val="272B35"/>
                </a:solidFill>
                <a:latin typeface="Encode Sans ExpandedLight"/>
              </a:rPr>
              <a:t>A “Stellantis Impact Score” restarting with FaSTLAne turns the new plan into a chapter, not a retreat.</a:t>
            </a:r>
          </a:p>
        </p:txBody>
      </p:sp>
      <p:sp>
        <p:nvSpPr>
          <p:cNvPr id="14" name="Hashtag 2"/>
          <p:cNvSpPr txBox="1"/>
          <p:nvPr/>
        </p:nvSpPr>
        <p:spPr>
          <a:xfrm>
            <a:off x="5422392" y="5961888"/>
            <a:ext cx="2267712" cy="228600"/>
          </a:xfrm>
          <a:prstGeom prst="rect">
            <a:avLst/>
          </a:prstGeom>
          <a:noFill/>
        </p:spPr>
        <p:txBody>
          <a:bodyPr wrap="square" lIns="0" rIns="0" tIns="0" bIns="0" anchor="t">
            <a:spAutoFit/>
          </a:bodyPr>
          <a:lstStyle/>
          <a:p>
            <a:pPr algn="r">
              <a:spcAft>
                <a:spcPts val="0"/>
              </a:spcAft>
            </a:pPr>
            <a:r>
              <a:rPr sz="1000" b="0" i="1">
                <a:solidFill>
                  <a:srgbClr val="243782"/>
                </a:solidFill>
                <a:latin typeface="Encode Sans ExpandedLight"/>
              </a:rPr>
              <a:t>#OneScore</a:t>
            </a:r>
          </a:p>
        </p:txBody>
      </p:sp>
      <p:sp>
        <p:nvSpPr>
          <p:cNvPr id="15" name="Logo placeholder Patagonia"/>
          <p:cNvSpPr txBox="1"/>
          <p:nvPr/>
        </p:nvSpPr>
        <p:spPr>
          <a:xfrm>
            <a:off x="8138160" y="987552"/>
            <a:ext cx="3383280" cy="548640"/>
          </a:xfrm>
          <a:prstGeom prst="rect">
            <a:avLst/>
          </a:prstGeom>
          <a:noFill/>
        </p:spPr>
        <p:txBody>
          <a:bodyPr wrap="square" lIns="0" rIns="0" tIns="0" bIns="0" anchor="ctr">
            <a:spAutoFit/>
          </a:bodyPr>
          <a:lstStyle/>
          <a:p>
            <a:pPr algn="ctr">
              <a:spcAft>
                <a:spcPts val="0"/>
              </a:spcAft>
            </a:pPr>
            <a:r>
              <a:rPr sz="2200" b="1" i="0">
                <a:solidFill>
                  <a:srgbClr val="243782"/>
                </a:solidFill>
                <a:latin typeface="Encode Sans Expanded"/>
              </a:rPr>
              <a:t>Patagonia</a:t>
            </a:r>
          </a:p>
        </p:txBody>
      </p:sp>
      <p:sp>
        <p:nvSpPr>
          <p:cNvPr id="16" name="Card 3"/>
          <p:cNvSpPr/>
          <p:nvPr/>
        </p:nvSpPr>
        <p:spPr>
          <a:xfrm>
            <a:off x="8046720" y="1600200"/>
            <a:ext cx="3566160" cy="4681728"/>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ard 3 text"/>
          <p:cNvSpPr txBox="1"/>
          <p:nvPr/>
        </p:nvSpPr>
        <p:spPr>
          <a:xfrm>
            <a:off x="8275320" y="1783080"/>
            <a:ext cx="3108960" cy="4114800"/>
          </a:xfrm>
          <a:prstGeom prst="rect">
            <a:avLst/>
          </a:prstGeom>
          <a:noFill/>
        </p:spPr>
        <p:txBody>
          <a:bodyPr wrap="square" lIns="0" rIns="0" tIns="0" bIns="0" anchor="t">
            <a:spAutoFit/>
          </a:bodyPr>
          <a:lstStyle/>
          <a:p>
            <a:pPr algn="l">
              <a:spcAft>
                <a:spcPts val="100"/>
              </a:spcAft>
            </a:pPr>
            <a:r>
              <a:rPr sz="1200" b="1" i="0">
                <a:solidFill>
                  <a:srgbClr val="E94E24"/>
                </a:solidFill>
                <a:latin typeface="Encode Sans Expanded"/>
              </a:rPr>
              <a:t>Title</a:t>
            </a:r>
          </a:p>
          <a:p>
            <a:pPr algn="l">
              <a:spcAft>
                <a:spcPts val="1000"/>
              </a:spcAft>
            </a:pPr>
            <a:r>
              <a:rPr sz="1400" b="1" i="0">
                <a:solidFill>
                  <a:srgbClr val="243782"/>
                </a:solidFill>
                <a:latin typeface="Encode Sans Expanded"/>
              </a:rPr>
              <a:t>“Work in Progress”: candour as a brand trait</a:t>
            </a:r>
          </a:p>
          <a:p>
            <a:pPr algn="l">
              <a:spcAft>
                <a:spcPts val="100"/>
              </a:spcAft>
            </a:pPr>
            <a:r>
              <a:rPr sz="1200" b="1" i="0">
                <a:solidFill>
                  <a:srgbClr val="E94E24"/>
                </a:solidFill>
                <a:latin typeface="Encode Sans Expanded"/>
              </a:rPr>
              <a:t>Why it works</a:t>
            </a:r>
          </a:p>
          <a:p>
            <a:pPr algn="l">
              <a:spcAft>
                <a:spcPts val="1000"/>
              </a:spcAft>
            </a:pPr>
            <a:r>
              <a:rPr sz="1150" b="0" i="0">
                <a:solidFill>
                  <a:srgbClr val="272B35"/>
                </a:solidFill>
                <a:latin typeface="Encode Sans ExpandedLight"/>
              </a:rPr>
              <a:t>A purpose, an act that proves it (“Earth is now our only shareholder”) and an impact report with missed targets on the cover (footprint +2%). First for GlobeScan/ERM experts in 2025.</a:t>
            </a:r>
          </a:p>
          <a:p>
            <a:pPr algn="l">
              <a:spcAft>
                <a:spcPts val="100"/>
              </a:spcAft>
            </a:pPr>
            <a:r>
              <a:rPr sz="1200" b="1" i="0">
                <a:solidFill>
                  <a:srgbClr val="E94E24"/>
                </a:solidFill>
                <a:latin typeface="Encode Sans Expanded"/>
              </a:rPr>
              <a:t>ESG territories</a:t>
            </a:r>
          </a:p>
          <a:p>
            <a:pPr algn="l">
              <a:spcAft>
                <a:spcPts val="1000"/>
              </a:spcAft>
            </a:pPr>
            <a:r>
              <a:rPr sz="1150" b="0" i="0">
                <a:solidFill>
                  <a:srgbClr val="272B35"/>
                </a:solidFill>
                <a:latin typeface="Encode Sans ExpandedLight"/>
              </a:rPr>
              <a:t>Customer Trust: Ironclad Guarantee and repairs. Environmental: Footprint Chronicles supply-chain map. Transparency: “Work in Progress” report. Fair Transition: not found.</a:t>
            </a:r>
          </a:p>
          <a:p>
            <a:pPr algn="l">
              <a:spcAft>
                <a:spcPts val="100"/>
              </a:spcAft>
            </a:pPr>
            <a:r>
              <a:rPr sz="1200" b="1" i="0">
                <a:solidFill>
                  <a:srgbClr val="E94E24"/>
                </a:solidFill>
                <a:latin typeface="Encode Sans Expanded"/>
              </a:rPr>
              <a:t>Why it matters for Stellantis</a:t>
            </a:r>
          </a:p>
          <a:p>
            <a:pPr algn="l">
              <a:spcAft>
                <a:spcPts val="0"/>
              </a:spcAft>
            </a:pPr>
            <a:r>
              <a:rPr sz="1150" b="0" i="0">
                <a:solidFill>
                  <a:srgbClr val="272B35"/>
                </a:solidFill>
                <a:latin typeface="Encode Sans ExpandedLight"/>
              </a:rPr>
              <a:t>One lesson: name the step back, explain why, reaffirm the path. The tone itself is not transferable.</a:t>
            </a:r>
          </a:p>
        </p:txBody>
      </p:sp>
      <p:sp>
        <p:nvSpPr>
          <p:cNvPr id="18" name="Hashtag 3"/>
          <p:cNvSpPr txBox="1"/>
          <p:nvPr/>
        </p:nvSpPr>
        <p:spPr>
          <a:xfrm>
            <a:off x="9144000" y="5961888"/>
            <a:ext cx="2267712" cy="228600"/>
          </a:xfrm>
          <a:prstGeom prst="rect">
            <a:avLst/>
          </a:prstGeom>
          <a:noFill/>
        </p:spPr>
        <p:txBody>
          <a:bodyPr wrap="square" lIns="0" rIns="0" tIns="0" bIns="0" anchor="t">
            <a:spAutoFit/>
          </a:bodyPr>
          <a:lstStyle/>
          <a:p>
            <a:pPr algn="r">
              <a:spcAft>
                <a:spcPts val="0"/>
              </a:spcAft>
            </a:pPr>
            <a:r>
              <a:rPr sz="1000" b="0" i="1">
                <a:solidFill>
                  <a:srgbClr val="243782"/>
                </a:solidFill>
                <a:latin typeface="Encode Sans ExpandedLight"/>
              </a:rPr>
              <a:t>#RadicalCandour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Remarkable · ESG topics</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Side label"/>
          <p:cNvSpPr txBox="1"/>
          <p:nvPr/>
        </p:nvSpPr>
        <p:spPr>
          <a:xfrm rot="16200000">
            <a:off x="-868680" y="3566160"/>
            <a:ext cx="2377440" cy="274320"/>
          </a:xfrm>
          <a:prstGeom prst="rect">
            <a:avLst/>
          </a:prstGeom>
          <a:noFill/>
        </p:spPr>
        <p:txBody>
          <a:bodyPr wrap="square" lIns="0" rIns="0" tIns="0" bIns="0" anchor="t">
            <a:spAutoFit/>
          </a:bodyPr>
          <a:lstStyle/>
          <a:p>
            <a:pPr algn="ctr">
              <a:spcAft>
                <a:spcPts val="0"/>
              </a:spcAft>
            </a:pPr>
            <a:r>
              <a:rPr sz="1200" b="1" i="0">
                <a:solidFill>
                  <a:srgbClr val="243782"/>
                </a:solidFill>
                <a:latin typeface="Encode Sans Expanded"/>
              </a:rPr>
              <a:t>Remarkable cases</a:t>
            </a:r>
          </a:p>
        </p:txBody>
      </p:sp>
      <p:sp>
        <p:nvSpPr>
          <p:cNvPr id="7" name="Logo placeholder Enel"/>
          <p:cNvSpPr txBox="1"/>
          <p:nvPr/>
        </p:nvSpPr>
        <p:spPr>
          <a:xfrm>
            <a:off x="694944" y="987552"/>
            <a:ext cx="3383280" cy="548640"/>
          </a:xfrm>
          <a:prstGeom prst="rect">
            <a:avLst/>
          </a:prstGeom>
          <a:noFill/>
        </p:spPr>
        <p:txBody>
          <a:bodyPr wrap="square" lIns="0" rIns="0" tIns="0" bIns="0" anchor="ctr">
            <a:spAutoFit/>
          </a:bodyPr>
          <a:lstStyle/>
          <a:p>
            <a:pPr algn="ctr">
              <a:spcAft>
                <a:spcPts val="0"/>
              </a:spcAft>
            </a:pPr>
            <a:r>
              <a:rPr sz="2200" b="1" i="0">
                <a:solidFill>
                  <a:srgbClr val="243782"/>
                </a:solidFill>
                <a:latin typeface="Encode Sans Expanded"/>
              </a:rPr>
              <a:t>Enel</a:t>
            </a:r>
          </a:p>
        </p:txBody>
      </p:sp>
      <p:sp>
        <p:nvSpPr>
          <p:cNvPr id="8" name="Card 1"/>
          <p:cNvSpPr/>
          <p:nvPr/>
        </p:nvSpPr>
        <p:spPr>
          <a:xfrm>
            <a:off x="603504" y="1600200"/>
            <a:ext cx="3566160" cy="4681728"/>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ard 1 text"/>
          <p:cNvSpPr txBox="1"/>
          <p:nvPr/>
        </p:nvSpPr>
        <p:spPr>
          <a:xfrm>
            <a:off x="832104" y="1783080"/>
            <a:ext cx="3108960" cy="4114800"/>
          </a:xfrm>
          <a:prstGeom prst="rect">
            <a:avLst/>
          </a:prstGeom>
          <a:noFill/>
        </p:spPr>
        <p:txBody>
          <a:bodyPr wrap="square" lIns="0" rIns="0" tIns="0" bIns="0" anchor="t">
            <a:spAutoFit/>
          </a:bodyPr>
          <a:lstStyle/>
          <a:p>
            <a:pPr algn="l">
              <a:spcAft>
                <a:spcPts val="100"/>
              </a:spcAft>
            </a:pPr>
            <a:r>
              <a:rPr sz="1200" b="1" i="0">
                <a:solidFill>
                  <a:srgbClr val="E94E24"/>
                </a:solidFill>
                <a:latin typeface="Encode Sans Expanded"/>
              </a:rPr>
              <a:t>Title</a:t>
            </a:r>
          </a:p>
          <a:p>
            <a:pPr algn="l">
              <a:spcAft>
                <a:spcPts val="1000"/>
              </a:spcAft>
            </a:pPr>
            <a:r>
              <a:rPr sz="1400" b="1" i="0">
                <a:solidFill>
                  <a:srgbClr val="243782"/>
                </a:solidFill>
                <a:latin typeface="Encode Sans Expanded"/>
              </a:rPr>
              <a:t>Fair Transition: just transition as a report with KPIs</a:t>
            </a:r>
          </a:p>
          <a:p>
            <a:pPr algn="l">
              <a:spcAft>
                <a:spcPts val="100"/>
              </a:spcAft>
            </a:pPr>
            <a:r>
              <a:rPr sz="1200" b="1" i="0">
                <a:solidFill>
                  <a:srgbClr val="E94E24"/>
                </a:solidFill>
                <a:latin typeface="Encode Sans Expanded"/>
              </a:rPr>
              <a:t>Why it works</a:t>
            </a:r>
          </a:p>
          <a:p>
            <a:pPr algn="l">
              <a:spcAft>
                <a:spcPts val="1000"/>
              </a:spcAft>
            </a:pPr>
            <a:r>
              <a:rPr sz="1150" b="0" i="0">
                <a:solidFill>
                  <a:srgbClr val="272B35"/>
                </a:solidFill>
                <a:latin typeface="Encode Sans ExpandedLight"/>
              </a:rPr>
              <a:t>Futur-e converts 23 Italian coal plants and a mining area; a dedicated Just Transition Report tracks people redeployed after reskilling (about 55%, 110 hours each in 2021).</a:t>
            </a:r>
          </a:p>
          <a:p>
            <a:pPr algn="l">
              <a:spcAft>
                <a:spcPts val="100"/>
              </a:spcAft>
            </a:pPr>
            <a:r>
              <a:rPr sz="1200" b="1" i="0">
                <a:solidFill>
                  <a:srgbClr val="E94E24"/>
                </a:solidFill>
                <a:latin typeface="Encode Sans Expanded"/>
              </a:rPr>
              <a:t>ESG territories</a:t>
            </a:r>
          </a:p>
          <a:p>
            <a:pPr algn="l">
              <a:spcAft>
                <a:spcPts val="1000"/>
              </a:spcAft>
            </a:pPr>
            <a:r>
              <a:rPr sz="1150" b="0" i="0">
                <a:solidFill>
                  <a:srgbClr val="272B35"/>
                </a:solidFill>
                <a:latin typeface="Encode Sans ExpandedLight"/>
              </a:rPr>
              <a:t>Fair Transition: strong (Futur-e, Just Transition Report). Customer Trust, Environmental and Transparency: not found in our sources.</a:t>
            </a:r>
          </a:p>
          <a:p>
            <a:pPr algn="l">
              <a:spcAft>
                <a:spcPts val="100"/>
              </a:spcAft>
            </a:pPr>
            <a:r>
              <a:rPr sz="1200" b="1" i="0">
                <a:solidFill>
                  <a:srgbClr val="E94E24"/>
                </a:solidFill>
                <a:latin typeface="Encode Sans Expanded"/>
              </a:rPr>
              <a:t>Why it matters for Stellantis</a:t>
            </a:r>
          </a:p>
          <a:p>
            <a:pPr algn="l">
              <a:spcAft>
                <a:spcPts val="0"/>
              </a:spcAft>
            </a:pPr>
            <a:r>
              <a:rPr sz="1150" b="0" i="0">
                <a:solidFill>
                  <a:srgbClr val="272B35"/>
                </a:solidFill>
                <a:latin typeface="Encode Sans ExpandedLight"/>
              </a:rPr>
              <a:t>Italian, industrial, transferable to the ICE-to-EV shift at Mirafiori, Pomigliano, Melfi, Termoli: a joint ESG and HR format.</a:t>
            </a:r>
          </a:p>
        </p:txBody>
      </p:sp>
      <p:sp>
        <p:nvSpPr>
          <p:cNvPr id="10" name="Hashtag 1"/>
          <p:cNvSpPr txBox="1"/>
          <p:nvPr/>
        </p:nvSpPr>
        <p:spPr>
          <a:xfrm>
            <a:off x="1700784" y="5961888"/>
            <a:ext cx="2267712" cy="228600"/>
          </a:xfrm>
          <a:prstGeom prst="rect">
            <a:avLst/>
          </a:prstGeom>
          <a:noFill/>
        </p:spPr>
        <p:txBody>
          <a:bodyPr wrap="square" lIns="0" rIns="0" tIns="0" bIns="0" anchor="t">
            <a:spAutoFit/>
          </a:bodyPr>
          <a:lstStyle/>
          <a:p>
            <a:pPr algn="r">
              <a:spcAft>
                <a:spcPts val="0"/>
              </a:spcAft>
            </a:pPr>
            <a:r>
              <a:rPr sz="1000" b="0" i="1">
                <a:solidFill>
                  <a:srgbClr val="243782"/>
                </a:solidFill>
                <a:latin typeface="Encode Sans ExpandedLight"/>
              </a:rPr>
              <a:t>#JustTransitionReport</a:t>
            </a:r>
          </a:p>
        </p:txBody>
      </p:sp>
      <p:sp>
        <p:nvSpPr>
          <p:cNvPr id="11" name="Logo placeholder Miele"/>
          <p:cNvSpPr txBox="1"/>
          <p:nvPr/>
        </p:nvSpPr>
        <p:spPr>
          <a:xfrm>
            <a:off x="4416552" y="987552"/>
            <a:ext cx="3383280" cy="548640"/>
          </a:xfrm>
          <a:prstGeom prst="rect">
            <a:avLst/>
          </a:prstGeom>
          <a:noFill/>
        </p:spPr>
        <p:txBody>
          <a:bodyPr wrap="square" lIns="0" rIns="0" tIns="0" bIns="0" anchor="ctr">
            <a:spAutoFit/>
          </a:bodyPr>
          <a:lstStyle/>
          <a:p>
            <a:pPr algn="ctr">
              <a:spcAft>
                <a:spcPts val="0"/>
              </a:spcAft>
            </a:pPr>
            <a:r>
              <a:rPr sz="2200" b="1" i="0">
                <a:solidFill>
                  <a:srgbClr val="243782"/>
                </a:solidFill>
                <a:latin typeface="Encode Sans Expanded"/>
              </a:rPr>
              <a:t>Miele</a:t>
            </a:r>
          </a:p>
        </p:txBody>
      </p:sp>
      <p:sp>
        <p:nvSpPr>
          <p:cNvPr id="12" name="Card 2"/>
          <p:cNvSpPr/>
          <p:nvPr/>
        </p:nvSpPr>
        <p:spPr>
          <a:xfrm>
            <a:off x="4325112" y="1600200"/>
            <a:ext cx="3566160" cy="4681728"/>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ard 2 text"/>
          <p:cNvSpPr txBox="1"/>
          <p:nvPr/>
        </p:nvSpPr>
        <p:spPr>
          <a:xfrm>
            <a:off x="4553712" y="1783080"/>
            <a:ext cx="3108960" cy="4114800"/>
          </a:xfrm>
          <a:prstGeom prst="rect">
            <a:avLst/>
          </a:prstGeom>
          <a:noFill/>
        </p:spPr>
        <p:txBody>
          <a:bodyPr wrap="square" lIns="0" rIns="0" tIns="0" bIns="0" anchor="t">
            <a:spAutoFit/>
          </a:bodyPr>
          <a:lstStyle/>
          <a:p>
            <a:pPr algn="l">
              <a:spcAft>
                <a:spcPts val="100"/>
              </a:spcAft>
            </a:pPr>
            <a:r>
              <a:rPr sz="1200" b="1" i="0">
                <a:solidFill>
                  <a:srgbClr val="E94E24"/>
                </a:solidFill>
                <a:latin typeface="Encode Sans Expanded"/>
              </a:rPr>
              <a:t>Title</a:t>
            </a:r>
          </a:p>
          <a:p>
            <a:pPr algn="l">
              <a:spcAft>
                <a:spcPts val="1000"/>
              </a:spcAft>
            </a:pPr>
            <a:r>
              <a:rPr sz="1400" b="1" i="0">
                <a:solidFill>
                  <a:srgbClr val="243782"/>
                </a:solidFill>
                <a:latin typeface="Encode Sans Expanded"/>
              </a:rPr>
              <a:t>Customer Trust: “longevity is the ultimate sustainability”</a:t>
            </a:r>
          </a:p>
          <a:p>
            <a:pPr algn="l">
              <a:spcAft>
                <a:spcPts val="100"/>
              </a:spcAft>
            </a:pPr>
            <a:r>
              <a:rPr sz="1200" b="1" i="0">
                <a:solidFill>
                  <a:srgbClr val="E94E24"/>
                </a:solidFill>
                <a:latin typeface="Encode Sans Expanded"/>
              </a:rPr>
              <a:t>Why it works</a:t>
            </a:r>
          </a:p>
          <a:p>
            <a:pPr algn="l">
              <a:spcAft>
                <a:spcPts val="1000"/>
              </a:spcAft>
            </a:pPr>
            <a:r>
              <a:rPr sz="1150" b="0" i="0">
                <a:solidFill>
                  <a:srgbClr val="272B35"/>
                </a:solidFill>
                <a:latin typeface="Encode Sans ExpandedLight"/>
              </a:rPr>
              <a:t>Machines tested for 5,000 cycles, about 20 years of use, reviewed by Fraunhofer, with an honest note that this is not a guarantee.</a:t>
            </a:r>
          </a:p>
          <a:p>
            <a:pPr algn="l">
              <a:spcAft>
                <a:spcPts val="100"/>
              </a:spcAft>
            </a:pPr>
            <a:r>
              <a:rPr sz="1200" b="1" i="0">
                <a:solidFill>
                  <a:srgbClr val="E94E24"/>
                </a:solidFill>
                <a:latin typeface="Encode Sans Expanded"/>
              </a:rPr>
              <a:t>ESG territories</a:t>
            </a:r>
          </a:p>
          <a:p>
            <a:pPr algn="l">
              <a:spcAft>
                <a:spcPts val="1000"/>
              </a:spcAft>
            </a:pPr>
            <a:r>
              <a:rPr sz="1150" b="0" i="0">
                <a:solidFill>
                  <a:srgbClr val="272B35"/>
                </a:solidFill>
                <a:latin typeface="Encode Sans ExpandedLight"/>
              </a:rPr>
              <a:t>Customer Trust: strong (5,000-cycle durability testing). The other three territories were not analysed in our sources.</a:t>
            </a:r>
          </a:p>
          <a:p>
            <a:pPr algn="l">
              <a:spcAft>
                <a:spcPts val="100"/>
              </a:spcAft>
            </a:pPr>
            <a:r>
              <a:rPr sz="1200" b="1" i="0">
                <a:solidFill>
                  <a:srgbClr val="E94E24"/>
                </a:solidFill>
                <a:latin typeface="Encode Sans Expanded"/>
              </a:rPr>
              <a:t>Why it matters for Stellantis</a:t>
            </a:r>
          </a:p>
          <a:p>
            <a:pPr algn="l">
              <a:spcAft>
                <a:spcPts val="0"/>
              </a:spcAft>
            </a:pPr>
            <a:r>
              <a:rPr sz="1150" b="0" i="0">
                <a:solidFill>
                  <a:srgbClr val="272B35"/>
                </a:solidFill>
                <a:latin typeface="Encode Sans ExpandedLight"/>
              </a:rPr>
              <a:t>Durability told as sustainability, with a test and a caveat: a model for SUSTAINera parts and Spoticar battery certificates.</a:t>
            </a:r>
          </a:p>
        </p:txBody>
      </p:sp>
      <p:sp>
        <p:nvSpPr>
          <p:cNvPr id="14" name="Hashtag 2"/>
          <p:cNvSpPr txBox="1"/>
          <p:nvPr/>
        </p:nvSpPr>
        <p:spPr>
          <a:xfrm>
            <a:off x="5422392" y="5961888"/>
            <a:ext cx="2267712" cy="228600"/>
          </a:xfrm>
          <a:prstGeom prst="rect">
            <a:avLst/>
          </a:prstGeom>
          <a:noFill/>
        </p:spPr>
        <p:txBody>
          <a:bodyPr wrap="square" lIns="0" rIns="0" tIns="0" bIns="0" anchor="t">
            <a:spAutoFit/>
          </a:bodyPr>
          <a:lstStyle/>
          <a:p>
            <a:pPr algn="r">
              <a:spcAft>
                <a:spcPts val="0"/>
              </a:spcAft>
            </a:pPr>
            <a:r>
              <a:rPr sz="1000" b="0" i="1">
                <a:solidFill>
                  <a:srgbClr val="243782"/>
                </a:solidFill>
                <a:latin typeface="Encode Sans ExpandedLight"/>
              </a:rPr>
              <a:t>#DurabilityIsSustainability</a:t>
            </a:r>
          </a:p>
        </p:txBody>
      </p:sp>
      <p:sp>
        <p:nvSpPr>
          <p:cNvPr id="15" name="Logo placeholder Holcim"/>
          <p:cNvSpPr txBox="1"/>
          <p:nvPr/>
        </p:nvSpPr>
        <p:spPr>
          <a:xfrm>
            <a:off x="8138160" y="987552"/>
            <a:ext cx="3383280" cy="548640"/>
          </a:xfrm>
          <a:prstGeom prst="rect">
            <a:avLst/>
          </a:prstGeom>
          <a:noFill/>
        </p:spPr>
        <p:txBody>
          <a:bodyPr wrap="square" lIns="0" rIns="0" tIns="0" bIns="0" anchor="ctr">
            <a:spAutoFit/>
          </a:bodyPr>
          <a:lstStyle/>
          <a:p>
            <a:pPr algn="ctr">
              <a:spcAft>
                <a:spcPts val="0"/>
              </a:spcAft>
            </a:pPr>
            <a:r>
              <a:rPr sz="2200" b="1" i="0">
                <a:solidFill>
                  <a:srgbClr val="243782"/>
                </a:solidFill>
                <a:latin typeface="Encode Sans Expanded"/>
              </a:rPr>
              <a:t>Holcim</a:t>
            </a:r>
          </a:p>
        </p:txBody>
      </p:sp>
      <p:sp>
        <p:nvSpPr>
          <p:cNvPr id="16" name="Card 3"/>
          <p:cNvSpPr/>
          <p:nvPr/>
        </p:nvSpPr>
        <p:spPr>
          <a:xfrm>
            <a:off x="8046720" y="1600200"/>
            <a:ext cx="3566160" cy="4681728"/>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ard 3 text"/>
          <p:cNvSpPr txBox="1"/>
          <p:nvPr/>
        </p:nvSpPr>
        <p:spPr>
          <a:xfrm>
            <a:off x="8275320" y="1783080"/>
            <a:ext cx="3108960" cy="4114800"/>
          </a:xfrm>
          <a:prstGeom prst="rect">
            <a:avLst/>
          </a:prstGeom>
          <a:noFill/>
        </p:spPr>
        <p:txBody>
          <a:bodyPr wrap="square" lIns="0" rIns="0" tIns="0" bIns="0" anchor="t">
            <a:spAutoFit/>
          </a:bodyPr>
          <a:lstStyle/>
          <a:p>
            <a:pPr algn="l">
              <a:spcAft>
                <a:spcPts val="100"/>
              </a:spcAft>
            </a:pPr>
            <a:r>
              <a:rPr sz="1200" b="1" i="0">
                <a:solidFill>
                  <a:srgbClr val="E94E24"/>
                </a:solidFill>
                <a:latin typeface="Encode Sans Expanded"/>
              </a:rPr>
              <a:t>Title</a:t>
            </a:r>
          </a:p>
          <a:p>
            <a:pPr algn="l">
              <a:spcAft>
                <a:spcPts val="1000"/>
              </a:spcAft>
            </a:pPr>
            <a:r>
              <a:rPr sz="1400" b="1" i="0">
                <a:solidFill>
                  <a:srgbClr val="243782"/>
                </a:solidFill>
                <a:latin typeface="Encode Sans Expanded"/>
              </a:rPr>
              <a:t>Environmental Transformation: green product lines that grow</a:t>
            </a:r>
          </a:p>
          <a:p>
            <a:pPr algn="l">
              <a:spcAft>
                <a:spcPts val="100"/>
              </a:spcAft>
            </a:pPr>
            <a:r>
              <a:rPr sz="1200" b="1" i="0">
                <a:solidFill>
                  <a:srgbClr val="E94E24"/>
                </a:solidFill>
                <a:latin typeface="Encode Sans Expanded"/>
              </a:rPr>
              <a:t>Why it works</a:t>
            </a:r>
          </a:p>
          <a:p>
            <a:pPr algn="l">
              <a:spcAft>
                <a:spcPts val="1000"/>
              </a:spcAft>
            </a:pPr>
            <a:r>
              <a:rPr sz="1150" b="0" i="0">
                <a:solidFill>
                  <a:srgbClr val="272B35"/>
                </a:solidFill>
                <a:latin typeface="Encode Sans ExpandedLight"/>
              </a:rPr>
              <a:t>ECOPact, ECOPlanet and ECOCycle are brands with a share of sales (31% and 36%) and 8 Mt recycled, reported next to the financial results.</a:t>
            </a:r>
          </a:p>
          <a:p>
            <a:pPr algn="l">
              <a:spcAft>
                <a:spcPts val="100"/>
              </a:spcAft>
            </a:pPr>
            <a:r>
              <a:rPr sz="1200" b="1" i="0">
                <a:solidFill>
                  <a:srgbClr val="E94E24"/>
                </a:solidFill>
                <a:latin typeface="Encode Sans Expanded"/>
              </a:rPr>
              <a:t>ESG territories</a:t>
            </a:r>
          </a:p>
          <a:p>
            <a:pPr algn="l">
              <a:spcAft>
                <a:spcPts val="1000"/>
              </a:spcAft>
            </a:pPr>
            <a:r>
              <a:rPr sz="1150" b="0" i="0">
                <a:solidFill>
                  <a:srgbClr val="272B35"/>
                </a:solidFill>
                <a:latin typeface="Encode Sans ExpandedLight"/>
              </a:rPr>
              <a:t>Environmental: strong (ECO brands with share of sales). Transparency: medium (ECO KPIs next to results). Fair Transition and Customer Trust: not found.</a:t>
            </a:r>
          </a:p>
          <a:p>
            <a:pPr algn="l">
              <a:spcAft>
                <a:spcPts val="100"/>
              </a:spcAft>
            </a:pPr>
            <a:r>
              <a:rPr sz="1200" b="1" i="0">
                <a:solidFill>
                  <a:srgbClr val="E94E24"/>
                </a:solidFill>
                <a:latin typeface="Encode Sans Expanded"/>
              </a:rPr>
              <a:t>Why it matters for Stellantis</a:t>
            </a:r>
          </a:p>
          <a:p>
            <a:pPr algn="l">
              <a:spcAft>
                <a:spcPts val="0"/>
              </a:spcAft>
            </a:pPr>
            <a:r>
              <a:rPr sz="1150" b="0" i="0">
                <a:solidFill>
                  <a:srgbClr val="272B35"/>
                </a:solidFill>
                <a:latin typeface="Encode Sans ExpandedLight"/>
              </a:rPr>
              <a:t>Template for SUSTAINera as a brand with a revenue-share KPI, instead of “up to 80%” claims.</a:t>
            </a:r>
          </a:p>
        </p:txBody>
      </p:sp>
      <p:sp>
        <p:nvSpPr>
          <p:cNvPr id="18" name="Hashtag 3"/>
          <p:cNvSpPr txBox="1"/>
          <p:nvPr/>
        </p:nvSpPr>
        <p:spPr>
          <a:xfrm>
            <a:off x="9144000" y="5961888"/>
            <a:ext cx="2267712" cy="228600"/>
          </a:xfrm>
          <a:prstGeom prst="rect">
            <a:avLst/>
          </a:prstGeom>
          <a:noFill/>
        </p:spPr>
        <p:txBody>
          <a:bodyPr wrap="square" lIns="0" rIns="0" tIns="0" bIns="0" anchor="t">
            <a:spAutoFit/>
          </a:bodyPr>
          <a:lstStyle/>
          <a:p>
            <a:pPr algn="r">
              <a:spcAft>
                <a:spcPts val="0"/>
              </a:spcAft>
            </a:pPr>
            <a:r>
              <a:rPr sz="1000" b="0" i="1">
                <a:solidFill>
                  <a:srgbClr val="243782"/>
                </a:solidFill>
                <a:latin typeface="Encode Sans ExpandedLight"/>
              </a:rPr>
              <a:t>#GreenRevenue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ESG territory map</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Title"/>
          <p:cNvSpPr txBox="1"/>
          <p:nvPr/>
        </p:nvSpPr>
        <p:spPr>
          <a:xfrm>
            <a:off x="612648" y="932688"/>
            <a:ext cx="10972800" cy="548640"/>
          </a:xfrm>
          <a:prstGeom prst="rect">
            <a:avLst/>
          </a:prstGeom>
          <a:noFill/>
        </p:spPr>
        <p:txBody>
          <a:bodyPr wrap="square" lIns="0" rIns="0" tIns="0" bIns="0" anchor="t">
            <a:spAutoFit/>
          </a:bodyPr>
          <a:lstStyle/>
          <a:p>
            <a:pPr algn="l">
              <a:spcAft>
                <a:spcPts val="0"/>
              </a:spcAft>
            </a:pPr>
            <a:r>
              <a:rPr sz="2000" b="1" i="0">
                <a:solidFill>
                  <a:srgbClr val="243782"/>
                </a:solidFill>
                <a:latin typeface="Encode Sans Expanded"/>
              </a:rPr>
              <a:t>Who is strong where: selected players on the four ESG territories</a:t>
            </a:r>
          </a:p>
        </p:txBody>
      </p:sp>
      <p:sp>
        <p:nvSpPr>
          <p:cNvPr id="7" name="Head Fair Transition"/>
          <p:cNvSpPr/>
          <p:nvPr/>
        </p:nvSpPr>
        <p:spPr>
          <a:xfrm>
            <a:off x="2331720" y="1481328"/>
            <a:ext cx="2121408" cy="457200"/>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050" b="1" i="0">
                <a:solidFill>
                  <a:srgbClr val="FFFFFF"/>
                </a:solidFill>
                <a:latin typeface="Encode Sans Expanded"/>
              </a:rPr>
              <a:t>Fair Transition</a:t>
            </a:r>
          </a:p>
        </p:txBody>
      </p:sp>
      <p:sp>
        <p:nvSpPr>
          <p:cNvPr id="8" name="Head Customer Trust"/>
          <p:cNvSpPr/>
          <p:nvPr/>
        </p:nvSpPr>
        <p:spPr>
          <a:xfrm>
            <a:off x="4507992" y="1481328"/>
            <a:ext cx="2121408" cy="457200"/>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050" b="1" i="0">
                <a:solidFill>
                  <a:srgbClr val="FFFFFF"/>
                </a:solidFill>
                <a:latin typeface="Encode Sans Expanded"/>
              </a:rPr>
              <a:t>Customer Trust</a:t>
            </a:r>
          </a:p>
        </p:txBody>
      </p:sp>
      <p:sp>
        <p:nvSpPr>
          <p:cNvPr id="9" name="Head Environmental Transformation"/>
          <p:cNvSpPr/>
          <p:nvPr/>
        </p:nvSpPr>
        <p:spPr>
          <a:xfrm>
            <a:off x="6684264" y="1481328"/>
            <a:ext cx="2121408" cy="457200"/>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050" b="1" i="0">
                <a:solidFill>
                  <a:srgbClr val="FFFFFF"/>
                </a:solidFill>
                <a:latin typeface="Encode Sans Expanded"/>
              </a:rPr>
              <a:t>Environmental Transformation</a:t>
            </a:r>
          </a:p>
        </p:txBody>
      </p:sp>
      <p:sp>
        <p:nvSpPr>
          <p:cNvPr id="10" name="Head Transparency &amp; Accountability"/>
          <p:cNvSpPr/>
          <p:nvPr/>
        </p:nvSpPr>
        <p:spPr>
          <a:xfrm>
            <a:off x="8860536" y="1481328"/>
            <a:ext cx="2121408" cy="457200"/>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050" b="1" i="0">
                <a:solidFill>
                  <a:srgbClr val="FFFFFF"/>
                </a:solidFill>
                <a:latin typeface="Encode Sans Expanded"/>
              </a:rPr>
              <a:t>Transparency &amp; Accountability</a:t>
            </a:r>
          </a:p>
        </p:txBody>
      </p:sp>
      <p:sp>
        <p:nvSpPr>
          <p:cNvPr id="11" name="Head strong"/>
          <p:cNvSpPr/>
          <p:nvPr/>
        </p:nvSpPr>
        <p:spPr>
          <a:xfrm>
            <a:off x="11036807" y="1481328"/>
            <a:ext cx="548640" cy="457200"/>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950" b="1" i="0">
                <a:solidFill>
                  <a:srgbClr val="FFFFFF"/>
                </a:solidFill>
                <a:latin typeface="Encode Sans Expanded"/>
              </a:rPr>
              <a:t># Strong</a:t>
            </a:r>
          </a:p>
        </p:txBody>
      </p:sp>
      <p:sp>
        <p:nvSpPr>
          <p:cNvPr id="12" name="Player Volkswagen"/>
          <p:cNvSpPr txBox="1"/>
          <p:nvPr/>
        </p:nvSpPr>
        <p:spPr>
          <a:xfrm>
            <a:off x="685800" y="2011680"/>
            <a:ext cx="1600200" cy="338328"/>
          </a:xfrm>
          <a:prstGeom prst="rect">
            <a:avLst/>
          </a:prstGeom>
          <a:noFill/>
        </p:spPr>
        <p:txBody>
          <a:bodyPr wrap="square" lIns="0" rIns="0" tIns="0" bIns="0" anchor="ctr">
            <a:spAutoFit/>
          </a:bodyPr>
          <a:lstStyle/>
          <a:p>
            <a:pPr algn="l">
              <a:spcAft>
                <a:spcPts val="0"/>
              </a:spcAft>
            </a:pPr>
            <a:r>
              <a:rPr sz="1100" b="1" i="0">
                <a:solidFill>
                  <a:srgbClr val="243782"/>
                </a:solidFill>
                <a:latin typeface="Encode Sans Expanded"/>
              </a:rPr>
              <a:t>Volkswagen</a:t>
            </a:r>
          </a:p>
        </p:txBody>
      </p:sp>
      <p:sp>
        <p:nvSpPr>
          <p:cNvPr id="13" name="Dot Volkswagen 0"/>
          <p:cNvSpPr/>
          <p:nvPr/>
        </p:nvSpPr>
        <p:spPr>
          <a:xfrm>
            <a:off x="2414016" y="2061972"/>
            <a:ext cx="237744" cy="237744"/>
          </a:xfrm>
          <a:prstGeom prst="ellipse">
            <a:avLst/>
          </a:prstGeom>
          <a:solidFill>
            <a:srgbClr val="9F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Act Volkswagen 0"/>
          <p:cNvSpPr txBox="1"/>
          <p:nvPr/>
        </p:nvSpPr>
        <p:spPr>
          <a:xfrm>
            <a:off x="2743200" y="2011680"/>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ID.Polo €24,995 vs 35k jobs cut</a:t>
            </a:r>
          </a:p>
        </p:txBody>
      </p:sp>
      <p:sp>
        <p:nvSpPr>
          <p:cNvPr id="15" name="Dot Volkswagen 1"/>
          <p:cNvSpPr/>
          <p:nvPr/>
        </p:nvSpPr>
        <p:spPr>
          <a:xfrm>
            <a:off x="4590288" y="2061972"/>
            <a:ext cx="237744" cy="237744"/>
          </a:xfrm>
          <a:prstGeom prst="ellipse">
            <a:avLst/>
          </a:prstGeom>
          <a:solidFill>
            <a:srgbClr val="9F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Act Volkswagen 1"/>
          <p:cNvSpPr txBox="1"/>
          <p:nvPr/>
        </p:nvSpPr>
        <p:spPr>
          <a:xfrm>
            <a:off x="4919472" y="2011680"/>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Integrity, inward-facing</a:t>
            </a:r>
          </a:p>
        </p:txBody>
      </p:sp>
      <p:sp>
        <p:nvSpPr>
          <p:cNvPr id="17" name="Dot Volkswagen 2"/>
          <p:cNvSpPr/>
          <p:nvPr/>
        </p:nvSpPr>
        <p:spPr>
          <a:xfrm>
            <a:off x="6766559" y="2061972"/>
            <a:ext cx="237744" cy="237744"/>
          </a:xfrm>
          <a:prstGeom prst="ellipse">
            <a:avLst/>
          </a:prstGeom>
          <a:solidFill>
            <a:srgbClr val="9F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Act Volkswagen 2"/>
          <p:cNvSpPr txBox="1"/>
          <p:nvPr/>
        </p:nvSpPr>
        <p:spPr>
          <a:xfrm>
            <a:off x="7095744" y="2011680"/>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regenerate+, raw materials</a:t>
            </a:r>
          </a:p>
        </p:txBody>
      </p:sp>
      <p:sp>
        <p:nvSpPr>
          <p:cNvPr id="19" name="Dot Volkswagen 3"/>
          <p:cNvSpPr/>
          <p:nvPr/>
        </p:nvSpPr>
        <p:spPr>
          <a:xfrm>
            <a:off x="8942832" y="2061972"/>
            <a:ext cx="237744" cy="237744"/>
          </a:xfrm>
          <a:prstGeom prst="ellipse">
            <a:avLst/>
          </a:prstGeom>
          <a:solidFill>
            <a:srgbClr val="9F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Act Volkswagen 3"/>
          <p:cNvSpPr txBox="1"/>
          <p:nvPr/>
        </p:nvSpPr>
        <p:spPr>
          <a:xfrm>
            <a:off x="9272015" y="2011680"/>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CO₂ index in Board bonus</a:t>
            </a:r>
          </a:p>
        </p:txBody>
      </p:sp>
      <p:sp>
        <p:nvSpPr>
          <p:cNvPr id="21" name="Count Volkswagen"/>
          <p:cNvSpPr txBox="1"/>
          <p:nvPr/>
        </p:nvSpPr>
        <p:spPr>
          <a:xfrm>
            <a:off x="11009376" y="2011680"/>
            <a:ext cx="548640" cy="338328"/>
          </a:xfrm>
          <a:prstGeom prst="rect">
            <a:avLst/>
          </a:prstGeom>
          <a:noFill/>
        </p:spPr>
        <p:txBody>
          <a:bodyPr wrap="square" lIns="0" rIns="0" tIns="0" bIns="0" anchor="ctr">
            <a:spAutoFit/>
          </a:bodyPr>
          <a:lstStyle/>
          <a:p>
            <a:pPr algn="ctr">
              <a:spcAft>
                <a:spcPts val="0"/>
              </a:spcAft>
            </a:pPr>
            <a:r>
              <a:rPr sz="1300" b="1" i="0">
                <a:solidFill>
                  <a:srgbClr val="243782"/>
                </a:solidFill>
                <a:latin typeface="Encode Sans Expanded"/>
              </a:rPr>
              <a:t>0</a:t>
            </a:r>
          </a:p>
        </p:txBody>
      </p:sp>
      <p:sp>
        <p:nvSpPr>
          <p:cNvPr id="22" name="Band 1"/>
          <p:cNvSpPr/>
          <p:nvPr/>
        </p:nvSpPr>
        <p:spPr>
          <a:xfrm>
            <a:off x="612648" y="2377440"/>
            <a:ext cx="10972799" cy="393192"/>
          </a:xfrm>
          <a:prstGeom prst="rect">
            <a:avLst/>
          </a:prstGeom>
          <a:solidFill>
            <a:srgbClr val="F6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layer Toyota"/>
          <p:cNvSpPr txBox="1"/>
          <p:nvPr/>
        </p:nvSpPr>
        <p:spPr>
          <a:xfrm>
            <a:off x="685800" y="2404872"/>
            <a:ext cx="1600200" cy="338328"/>
          </a:xfrm>
          <a:prstGeom prst="rect">
            <a:avLst/>
          </a:prstGeom>
          <a:noFill/>
        </p:spPr>
        <p:txBody>
          <a:bodyPr wrap="square" lIns="0" rIns="0" tIns="0" bIns="0" anchor="ctr">
            <a:spAutoFit/>
          </a:bodyPr>
          <a:lstStyle/>
          <a:p>
            <a:pPr algn="l">
              <a:spcAft>
                <a:spcPts val="0"/>
              </a:spcAft>
            </a:pPr>
            <a:r>
              <a:rPr sz="1100" b="1" i="0">
                <a:solidFill>
                  <a:srgbClr val="243782"/>
                </a:solidFill>
                <a:latin typeface="Encode Sans Expanded"/>
              </a:rPr>
              <a:t>Toyota</a:t>
            </a:r>
          </a:p>
        </p:txBody>
      </p:sp>
      <p:sp>
        <p:nvSpPr>
          <p:cNvPr id="24" name="Dot Toyota 0"/>
          <p:cNvSpPr/>
          <p:nvPr/>
        </p:nvSpPr>
        <p:spPr>
          <a:xfrm>
            <a:off x="2414016" y="2455164"/>
            <a:ext cx="237744" cy="237744"/>
          </a:xfrm>
          <a:prstGeom prst="ellipse">
            <a:avLst/>
          </a:prstGeom>
          <a:solidFill>
            <a:srgbClr val="FFFFFF"/>
          </a:solidFill>
          <a:ln w="19050">
            <a:solidFill>
              <a:srgbClr val="E94E2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Act Toyota 0"/>
          <p:cNvSpPr txBox="1"/>
          <p:nvPr/>
        </p:nvSpPr>
        <p:spPr>
          <a:xfrm>
            <a:off x="2743200" y="2404872"/>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“Multi-pathway” contested</a:t>
            </a:r>
          </a:p>
        </p:txBody>
      </p:sp>
      <p:sp>
        <p:nvSpPr>
          <p:cNvPr id="26" name="Dot Toyota 1"/>
          <p:cNvSpPr/>
          <p:nvPr/>
        </p:nvSpPr>
        <p:spPr>
          <a:xfrm>
            <a:off x="4590288" y="2455164"/>
            <a:ext cx="237744" cy="237744"/>
          </a:xfrm>
          <a:prstGeom prst="ellipse">
            <a:avLst/>
          </a:prstGeom>
          <a:solidFill>
            <a:srgbClr val="9F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Act Toyota 1"/>
          <p:cNvSpPr txBox="1"/>
          <p:nvPr/>
        </p:nvSpPr>
        <p:spPr>
          <a:xfrm>
            <a:off x="4919472" y="2404872"/>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10-year hybrid battery warranty</a:t>
            </a:r>
          </a:p>
        </p:txBody>
      </p:sp>
      <p:sp>
        <p:nvSpPr>
          <p:cNvPr id="28" name="Dot Toyota 2"/>
          <p:cNvSpPr/>
          <p:nvPr/>
        </p:nvSpPr>
        <p:spPr>
          <a:xfrm>
            <a:off x="6766559" y="2455164"/>
            <a:ext cx="237744" cy="237744"/>
          </a:xfrm>
          <a:prstGeom prst="ellipse">
            <a:avLst/>
          </a:prstGeom>
          <a:solidFill>
            <a:srgbClr val="9F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Act Toyota 2"/>
          <p:cNvSpPr txBox="1"/>
          <p:nvPr/>
        </p:nvSpPr>
        <p:spPr>
          <a:xfrm>
            <a:off x="7095744" y="2404872"/>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Battery 3R, Challenge 2050</a:t>
            </a:r>
          </a:p>
        </p:txBody>
      </p:sp>
      <p:sp>
        <p:nvSpPr>
          <p:cNvPr id="30" name="Dot Toyota 3"/>
          <p:cNvSpPr/>
          <p:nvPr/>
        </p:nvSpPr>
        <p:spPr>
          <a:xfrm>
            <a:off x="8942832" y="2455164"/>
            <a:ext cx="237744" cy="237744"/>
          </a:xfrm>
          <a:prstGeom prst="ellipse">
            <a:avLst/>
          </a:prstGeom>
          <a:solidFill>
            <a:srgbClr val="FFFFFF"/>
          </a:solidFill>
          <a:ln w="19050">
            <a:solidFill>
              <a:srgbClr val="E94E2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Act Toyota 3"/>
          <p:cNvSpPr txBox="1"/>
          <p:nvPr/>
        </p:nvSpPr>
        <p:spPr>
          <a:xfrm>
            <a:off x="9272015" y="2404872"/>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Worst on climate lobbying</a:t>
            </a:r>
          </a:p>
        </p:txBody>
      </p:sp>
      <p:sp>
        <p:nvSpPr>
          <p:cNvPr id="32" name="Count Toyota"/>
          <p:cNvSpPr txBox="1"/>
          <p:nvPr/>
        </p:nvSpPr>
        <p:spPr>
          <a:xfrm>
            <a:off x="11009376" y="2404872"/>
            <a:ext cx="548640" cy="338328"/>
          </a:xfrm>
          <a:prstGeom prst="rect">
            <a:avLst/>
          </a:prstGeom>
          <a:noFill/>
        </p:spPr>
        <p:txBody>
          <a:bodyPr wrap="square" lIns="0" rIns="0" tIns="0" bIns="0" anchor="ctr">
            <a:spAutoFit/>
          </a:bodyPr>
          <a:lstStyle/>
          <a:p>
            <a:pPr algn="ctr">
              <a:spcAft>
                <a:spcPts val="0"/>
              </a:spcAft>
            </a:pPr>
            <a:r>
              <a:rPr sz="1300" b="1" i="0">
                <a:solidFill>
                  <a:srgbClr val="243782"/>
                </a:solidFill>
                <a:latin typeface="Encode Sans Expanded"/>
              </a:rPr>
              <a:t>0</a:t>
            </a:r>
          </a:p>
        </p:txBody>
      </p:sp>
      <p:sp>
        <p:nvSpPr>
          <p:cNvPr id="33" name="Player Mercedes-Benz"/>
          <p:cNvSpPr txBox="1"/>
          <p:nvPr/>
        </p:nvSpPr>
        <p:spPr>
          <a:xfrm>
            <a:off x="685800" y="2798064"/>
            <a:ext cx="1600200" cy="338328"/>
          </a:xfrm>
          <a:prstGeom prst="rect">
            <a:avLst/>
          </a:prstGeom>
          <a:noFill/>
        </p:spPr>
        <p:txBody>
          <a:bodyPr wrap="square" lIns="0" rIns="0" tIns="0" bIns="0" anchor="ctr">
            <a:spAutoFit/>
          </a:bodyPr>
          <a:lstStyle/>
          <a:p>
            <a:pPr algn="l">
              <a:spcAft>
                <a:spcPts val="0"/>
              </a:spcAft>
            </a:pPr>
            <a:r>
              <a:rPr sz="1100" b="1" i="0">
                <a:solidFill>
                  <a:srgbClr val="243782"/>
                </a:solidFill>
                <a:latin typeface="Encode Sans Expanded"/>
              </a:rPr>
              <a:t>Mercedes-Benz</a:t>
            </a:r>
          </a:p>
        </p:txBody>
      </p:sp>
      <p:sp>
        <p:nvSpPr>
          <p:cNvPr id="34" name="Dash Mercedes-Benz 0"/>
          <p:cNvSpPr/>
          <p:nvPr/>
        </p:nvSpPr>
        <p:spPr>
          <a:xfrm>
            <a:off x="2468880" y="2958084"/>
            <a:ext cx="128016" cy="22860"/>
          </a:xfrm>
          <a:prstGeom prst="rect">
            <a:avLst/>
          </a:prstGeom>
          <a:solidFill>
            <a:srgbClr val="B8B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Dot Mercedes-Benz 1"/>
          <p:cNvSpPr/>
          <p:nvPr/>
        </p:nvSpPr>
        <p:spPr>
          <a:xfrm>
            <a:off x="4590288" y="2848356"/>
            <a:ext cx="237744" cy="237744"/>
          </a:xfrm>
          <a:prstGeom prst="ellipse">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Act Mercedes-Benz 1"/>
          <p:cNvSpPr txBox="1"/>
          <p:nvPr/>
        </p:nvSpPr>
        <p:spPr>
          <a:xfrm>
            <a:off x="4919472" y="2798064"/>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Traffic Safety + Digital Trust</a:t>
            </a:r>
          </a:p>
        </p:txBody>
      </p:sp>
      <p:sp>
        <p:nvSpPr>
          <p:cNvPr id="37" name="Dot Mercedes-Benz 2"/>
          <p:cNvSpPr/>
          <p:nvPr/>
        </p:nvSpPr>
        <p:spPr>
          <a:xfrm>
            <a:off x="6766559" y="2848356"/>
            <a:ext cx="237744" cy="237744"/>
          </a:xfrm>
          <a:prstGeom prst="ellipse">
            <a:avLst/>
          </a:prstGeom>
          <a:solidFill>
            <a:srgbClr val="9F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Act Mercedes-Benz 2"/>
          <p:cNvSpPr txBox="1"/>
          <p:nvPr/>
        </p:nvSpPr>
        <p:spPr>
          <a:xfrm>
            <a:off x="7095744" y="2798064"/>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Low-CO₂ steel, aluminium</a:t>
            </a:r>
          </a:p>
        </p:txBody>
      </p:sp>
      <p:sp>
        <p:nvSpPr>
          <p:cNvPr id="39" name="Dot Mercedes-Benz 3"/>
          <p:cNvSpPr/>
          <p:nvPr/>
        </p:nvSpPr>
        <p:spPr>
          <a:xfrm>
            <a:off x="8942832" y="2848356"/>
            <a:ext cx="237744" cy="237744"/>
          </a:xfrm>
          <a:prstGeom prst="ellipse">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Act Mercedes-Benz 3"/>
          <p:cNvSpPr txBox="1"/>
          <p:nvPr/>
        </p:nvSpPr>
        <p:spPr>
          <a:xfrm>
            <a:off x="9272015" y="2798064"/>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Yearly transition plan</a:t>
            </a:r>
          </a:p>
        </p:txBody>
      </p:sp>
      <p:sp>
        <p:nvSpPr>
          <p:cNvPr id="41" name="Count Mercedes-Benz"/>
          <p:cNvSpPr txBox="1"/>
          <p:nvPr/>
        </p:nvSpPr>
        <p:spPr>
          <a:xfrm>
            <a:off x="11009376" y="2798064"/>
            <a:ext cx="548640" cy="338328"/>
          </a:xfrm>
          <a:prstGeom prst="rect">
            <a:avLst/>
          </a:prstGeom>
          <a:noFill/>
        </p:spPr>
        <p:txBody>
          <a:bodyPr wrap="square" lIns="0" rIns="0" tIns="0" bIns="0" anchor="ctr">
            <a:spAutoFit/>
          </a:bodyPr>
          <a:lstStyle/>
          <a:p>
            <a:pPr algn="ctr">
              <a:spcAft>
                <a:spcPts val="0"/>
              </a:spcAft>
            </a:pPr>
            <a:r>
              <a:rPr sz="1300" b="1" i="0">
                <a:solidFill>
                  <a:srgbClr val="243782"/>
                </a:solidFill>
                <a:latin typeface="Encode Sans Expanded"/>
              </a:rPr>
              <a:t>2</a:t>
            </a:r>
          </a:p>
        </p:txBody>
      </p:sp>
      <p:sp>
        <p:nvSpPr>
          <p:cNvPr id="42" name="Band 3"/>
          <p:cNvSpPr/>
          <p:nvPr/>
        </p:nvSpPr>
        <p:spPr>
          <a:xfrm>
            <a:off x="612648" y="3163824"/>
            <a:ext cx="10972799" cy="393192"/>
          </a:xfrm>
          <a:prstGeom prst="rect">
            <a:avLst/>
          </a:prstGeom>
          <a:solidFill>
            <a:srgbClr val="F6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Player BMW"/>
          <p:cNvSpPr txBox="1"/>
          <p:nvPr/>
        </p:nvSpPr>
        <p:spPr>
          <a:xfrm>
            <a:off x="685800" y="3191256"/>
            <a:ext cx="1600200" cy="338328"/>
          </a:xfrm>
          <a:prstGeom prst="rect">
            <a:avLst/>
          </a:prstGeom>
          <a:noFill/>
        </p:spPr>
        <p:txBody>
          <a:bodyPr wrap="square" lIns="0" rIns="0" tIns="0" bIns="0" anchor="ctr">
            <a:spAutoFit/>
          </a:bodyPr>
          <a:lstStyle/>
          <a:p>
            <a:pPr algn="l">
              <a:spcAft>
                <a:spcPts val="0"/>
              </a:spcAft>
            </a:pPr>
            <a:r>
              <a:rPr sz="1100" b="1" i="0">
                <a:solidFill>
                  <a:srgbClr val="243782"/>
                </a:solidFill>
                <a:latin typeface="Encode Sans Expanded"/>
              </a:rPr>
              <a:t>BMW</a:t>
            </a:r>
          </a:p>
        </p:txBody>
      </p:sp>
      <p:sp>
        <p:nvSpPr>
          <p:cNvPr id="44" name="Dot BMW 0"/>
          <p:cNvSpPr/>
          <p:nvPr/>
        </p:nvSpPr>
        <p:spPr>
          <a:xfrm>
            <a:off x="2414016" y="3241548"/>
            <a:ext cx="237744" cy="237744"/>
          </a:xfrm>
          <a:prstGeom prst="ellipse">
            <a:avLst/>
          </a:prstGeom>
          <a:solidFill>
            <a:srgbClr val="9F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Act BMW 0"/>
          <p:cNvSpPr txBox="1"/>
          <p:nvPr/>
        </p:nvSpPr>
        <p:spPr>
          <a:xfrm>
            <a:off x="2743200" y="3191256"/>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Debrecen training centre</a:t>
            </a:r>
          </a:p>
        </p:txBody>
      </p:sp>
      <p:sp>
        <p:nvSpPr>
          <p:cNvPr id="46" name="Dash BMW 1"/>
          <p:cNvSpPr/>
          <p:nvPr/>
        </p:nvSpPr>
        <p:spPr>
          <a:xfrm>
            <a:off x="4645152" y="3351276"/>
            <a:ext cx="128016" cy="22860"/>
          </a:xfrm>
          <a:prstGeom prst="rect">
            <a:avLst/>
          </a:prstGeom>
          <a:solidFill>
            <a:srgbClr val="B8B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Dot BMW 2"/>
          <p:cNvSpPr/>
          <p:nvPr/>
        </p:nvSpPr>
        <p:spPr>
          <a:xfrm>
            <a:off x="6766559" y="3241548"/>
            <a:ext cx="237744" cy="237744"/>
          </a:xfrm>
          <a:prstGeom prst="ellipse">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Act BMW 2"/>
          <p:cNvSpPr txBox="1"/>
          <p:nvPr/>
        </p:nvSpPr>
        <p:spPr>
          <a:xfrm>
            <a:off x="7095744" y="3191256"/>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Neue Klasse: 0.1 t CO₂/car</a:t>
            </a:r>
          </a:p>
        </p:txBody>
      </p:sp>
      <p:sp>
        <p:nvSpPr>
          <p:cNvPr id="49" name="Dot BMW 3"/>
          <p:cNvSpPr/>
          <p:nvPr/>
        </p:nvSpPr>
        <p:spPr>
          <a:xfrm>
            <a:off x="8942832" y="3241548"/>
            <a:ext cx="237744" cy="237744"/>
          </a:xfrm>
          <a:prstGeom prst="ellipse">
            <a:avLst/>
          </a:prstGeom>
          <a:solidFill>
            <a:srgbClr val="9F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Act BMW 3"/>
          <p:cNvSpPr txBox="1"/>
          <p:nvPr/>
        </p:nvSpPr>
        <p:spPr>
          <a:xfrm>
            <a:off x="9272015" y="3191256"/>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Fleet CO₂ in long-term pay</a:t>
            </a:r>
          </a:p>
        </p:txBody>
      </p:sp>
      <p:sp>
        <p:nvSpPr>
          <p:cNvPr id="51" name="Count BMW"/>
          <p:cNvSpPr txBox="1"/>
          <p:nvPr/>
        </p:nvSpPr>
        <p:spPr>
          <a:xfrm>
            <a:off x="11009376" y="3191256"/>
            <a:ext cx="548640" cy="338328"/>
          </a:xfrm>
          <a:prstGeom prst="rect">
            <a:avLst/>
          </a:prstGeom>
          <a:noFill/>
        </p:spPr>
        <p:txBody>
          <a:bodyPr wrap="square" lIns="0" rIns="0" tIns="0" bIns="0" anchor="ctr">
            <a:spAutoFit/>
          </a:bodyPr>
          <a:lstStyle/>
          <a:p>
            <a:pPr algn="ctr">
              <a:spcAft>
                <a:spcPts val="0"/>
              </a:spcAft>
            </a:pPr>
            <a:r>
              <a:rPr sz="1300" b="1" i="0">
                <a:solidFill>
                  <a:srgbClr val="243782"/>
                </a:solidFill>
                <a:latin typeface="Encode Sans Expanded"/>
              </a:rPr>
              <a:t>1</a:t>
            </a:r>
          </a:p>
        </p:txBody>
      </p:sp>
      <p:sp>
        <p:nvSpPr>
          <p:cNvPr id="52" name="Player Volvo Cars"/>
          <p:cNvSpPr txBox="1"/>
          <p:nvPr/>
        </p:nvSpPr>
        <p:spPr>
          <a:xfrm>
            <a:off x="685800" y="3584448"/>
            <a:ext cx="1600200" cy="338328"/>
          </a:xfrm>
          <a:prstGeom prst="rect">
            <a:avLst/>
          </a:prstGeom>
          <a:noFill/>
        </p:spPr>
        <p:txBody>
          <a:bodyPr wrap="square" lIns="0" rIns="0" tIns="0" bIns="0" anchor="ctr">
            <a:spAutoFit/>
          </a:bodyPr>
          <a:lstStyle/>
          <a:p>
            <a:pPr algn="l">
              <a:spcAft>
                <a:spcPts val="0"/>
              </a:spcAft>
            </a:pPr>
            <a:r>
              <a:rPr sz="1100" b="1" i="0">
                <a:solidFill>
                  <a:srgbClr val="243782"/>
                </a:solidFill>
                <a:latin typeface="Encode Sans Expanded"/>
              </a:rPr>
              <a:t>Volvo Cars</a:t>
            </a:r>
          </a:p>
        </p:txBody>
      </p:sp>
      <p:sp>
        <p:nvSpPr>
          <p:cNvPr id="53" name="Dash Volvo Cars 0"/>
          <p:cNvSpPr/>
          <p:nvPr/>
        </p:nvSpPr>
        <p:spPr>
          <a:xfrm>
            <a:off x="2468880" y="3744468"/>
            <a:ext cx="128016" cy="22860"/>
          </a:xfrm>
          <a:prstGeom prst="rect">
            <a:avLst/>
          </a:prstGeom>
          <a:solidFill>
            <a:srgbClr val="B8B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Dot Volvo Cars 1"/>
          <p:cNvSpPr/>
          <p:nvPr/>
        </p:nvSpPr>
        <p:spPr>
          <a:xfrm>
            <a:off x="4590288" y="3634739"/>
            <a:ext cx="237744" cy="237744"/>
          </a:xfrm>
          <a:prstGeom prst="ellipse">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Act Volvo Cars 1"/>
          <p:cNvSpPr txBox="1"/>
          <p:nvPr/>
        </p:nvSpPr>
        <p:spPr>
          <a:xfrm>
            <a:off x="4919472" y="3584448"/>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Seatbelt patent, E.V.A.</a:t>
            </a:r>
          </a:p>
        </p:txBody>
      </p:sp>
      <p:sp>
        <p:nvSpPr>
          <p:cNvPr id="56" name="Dot Volvo Cars 2"/>
          <p:cNvSpPr/>
          <p:nvPr/>
        </p:nvSpPr>
        <p:spPr>
          <a:xfrm>
            <a:off x="6766559" y="3634739"/>
            <a:ext cx="237744" cy="237744"/>
          </a:xfrm>
          <a:prstGeom prst="ellipse">
            <a:avLst/>
          </a:prstGeom>
          <a:solidFill>
            <a:srgbClr val="9F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Act Volvo Cars 2"/>
          <p:cNvSpPr txBox="1"/>
          <p:nvPr/>
        </p:nvSpPr>
        <p:spPr>
          <a:xfrm>
            <a:off x="7095744" y="3584448"/>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EX90 battery passport</a:t>
            </a:r>
          </a:p>
        </p:txBody>
      </p:sp>
      <p:sp>
        <p:nvSpPr>
          <p:cNvPr id="58" name="Dot Volvo Cars 3"/>
          <p:cNvSpPr/>
          <p:nvPr/>
        </p:nvSpPr>
        <p:spPr>
          <a:xfrm>
            <a:off x="8942832" y="3634739"/>
            <a:ext cx="237744" cy="237744"/>
          </a:xfrm>
          <a:prstGeom prst="ellipse">
            <a:avLst/>
          </a:prstGeom>
          <a:solidFill>
            <a:srgbClr val="9F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Act Volvo Cars 3"/>
          <p:cNvSpPr txBox="1"/>
          <p:nvPr/>
        </p:nvSpPr>
        <p:spPr>
          <a:xfrm>
            <a:off x="9272015" y="3584448"/>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2024 reset explained</a:t>
            </a:r>
          </a:p>
        </p:txBody>
      </p:sp>
      <p:sp>
        <p:nvSpPr>
          <p:cNvPr id="60" name="Count Volvo Cars"/>
          <p:cNvSpPr txBox="1"/>
          <p:nvPr/>
        </p:nvSpPr>
        <p:spPr>
          <a:xfrm>
            <a:off x="11009376" y="3584448"/>
            <a:ext cx="548640" cy="338328"/>
          </a:xfrm>
          <a:prstGeom prst="rect">
            <a:avLst/>
          </a:prstGeom>
          <a:noFill/>
        </p:spPr>
        <p:txBody>
          <a:bodyPr wrap="square" lIns="0" rIns="0" tIns="0" bIns="0" anchor="ctr">
            <a:spAutoFit/>
          </a:bodyPr>
          <a:lstStyle/>
          <a:p>
            <a:pPr algn="ctr">
              <a:spcAft>
                <a:spcPts val="0"/>
              </a:spcAft>
            </a:pPr>
            <a:r>
              <a:rPr sz="1300" b="1" i="0">
                <a:solidFill>
                  <a:srgbClr val="243782"/>
                </a:solidFill>
                <a:latin typeface="Encode Sans Expanded"/>
              </a:rPr>
              <a:t>1</a:t>
            </a:r>
          </a:p>
        </p:txBody>
      </p:sp>
      <p:sp>
        <p:nvSpPr>
          <p:cNvPr id="61" name="Band 5"/>
          <p:cNvSpPr/>
          <p:nvPr/>
        </p:nvSpPr>
        <p:spPr>
          <a:xfrm>
            <a:off x="612648" y="3950207"/>
            <a:ext cx="10972799" cy="393192"/>
          </a:xfrm>
          <a:prstGeom prst="rect">
            <a:avLst/>
          </a:prstGeom>
          <a:solidFill>
            <a:srgbClr val="F6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Player Renault"/>
          <p:cNvSpPr txBox="1"/>
          <p:nvPr/>
        </p:nvSpPr>
        <p:spPr>
          <a:xfrm>
            <a:off x="685800" y="3977639"/>
            <a:ext cx="1600200" cy="338328"/>
          </a:xfrm>
          <a:prstGeom prst="rect">
            <a:avLst/>
          </a:prstGeom>
          <a:noFill/>
        </p:spPr>
        <p:txBody>
          <a:bodyPr wrap="square" lIns="0" rIns="0" tIns="0" bIns="0" anchor="ctr">
            <a:spAutoFit/>
          </a:bodyPr>
          <a:lstStyle/>
          <a:p>
            <a:pPr algn="l">
              <a:spcAft>
                <a:spcPts val="0"/>
              </a:spcAft>
            </a:pPr>
            <a:r>
              <a:rPr sz="1100" b="1" i="0">
                <a:solidFill>
                  <a:srgbClr val="243782"/>
                </a:solidFill>
                <a:latin typeface="Encode Sans Expanded"/>
              </a:rPr>
              <a:t>Renault</a:t>
            </a:r>
          </a:p>
        </p:txBody>
      </p:sp>
      <p:sp>
        <p:nvSpPr>
          <p:cNvPr id="63" name="Dot Renault 0"/>
          <p:cNvSpPr/>
          <p:nvPr/>
        </p:nvSpPr>
        <p:spPr>
          <a:xfrm>
            <a:off x="2414016" y="4027931"/>
            <a:ext cx="237744" cy="237744"/>
          </a:xfrm>
          <a:prstGeom prst="ellipse">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Act Renault 0"/>
          <p:cNvSpPr txBox="1"/>
          <p:nvPr/>
        </p:nvSpPr>
        <p:spPr>
          <a:xfrm>
            <a:off x="2743200" y="3977639"/>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Twingo, social leasing, Flins</a:t>
            </a:r>
          </a:p>
        </p:txBody>
      </p:sp>
      <p:sp>
        <p:nvSpPr>
          <p:cNvPr id="65" name="Dot Renault 1"/>
          <p:cNvSpPr/>
          <p:nvPr/>
        </p:nvSpPr>
        <p:spPr>
          <a:xfrm>
            <a:off x="4590288" y="4027931"/>
            <a:ext cx="237744" cy="237744"/>
          </a:xfrm>
          <a:prstGeom prst="ellipse">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Act Renault 1"/>
          <p:cNvSpPr txBox="1"/>
          <p:nvPr/>
        </p:nvSpPr>
        <p:spPr>
          <a:xfrm>
            <a:off x="4919472" y="3977639"/>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Firefighter patent, free</a:t>
            </a:r>
          </a:p>
        </p:txBody>
      </p:sp>
      <p:sp>
        <p:nvSpPr>
          <p:cNvPr id="67" name="Dot Renault 2"/>
          <p:cNvSpPr/>
          <p:nvPr/>
        </p:nvSpPr>
        <p:spPr>
          <a:xfrm>
            <a:off x="6766559" y="4027931"/>
            <a:ext cx="237744" cy="237744"/>
          </a:xfrm>
          <a:prstGeom prst="ellipse">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Act Renault 2"/>
          <p:cNvSpPr txBox="1"/>
          <p:nvPr/>
        </p:nvSpPr>
        <p:spPr>
          <a:xfrm>
            <a:off x="7095744" y="3977639"/>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The Future Is NEUTRAL</a:t>
            </a:r>
          </a:p>
        </p:txBody>
      </p:sp>
      <p:sp>
        <p:nvSpPr>
          <p:cNvPr id="69" name="Dot Renault 3"/>
          <p:cNvSpPr/>
          <p:nvPr/>
        </p:nvSpPr>
        <p:spPr>
          <a:xfrm>
            <a:off x="8942832" y="4027931"/>
            <a:ext cx="237744" cy="237744"/>
          </a:xfrm>
          <a:prstGeom prst="ellipse">
            <a:avLst/>
          </a:prstGeom>
          <a:solidFill>
            <a:srgbClr val="FFFFFF"/>
          </a:solidFill>
          <a:ln w="19050">
            <a:solidFill>
              <a:srgbClr val="E94E2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Act Renault 3"/>
          <p:cNvSpPr txBox="1"/>
          <p:nvPr/>
        </p:nvSpPr>
        <p:spPr>
          <a:xfrm>
            <a:off x="9272015" y="3977639"/>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Ratings table only</a:t>
            </a:r>
          </a:p>
        </p:txBody>
      </p:sp>
      <p:sp>
        <p:nvSpPr>
          <p:cNvPr id="71" name="Count Renault"/>
          <p:cNvSpPr txBox="1"/>
          <p:nvPr/>
        </p:nvSpPr>
        <p:spPr>
          <a:xfrm>
            <a:off x="11009376" y="3977639"/>
            <a:ext cx="548640" cy="338328"/>
          </a:xfrm>
          <a:prstGeom prst="rect">
            <a:avLst/>
          </a:prstGeom>
          <a:noFill/>
        </p:spPr>
        <p:txBody>
          <a:bodyPr wrap="square" lIns="0" rIns="0" tIns="0" bIns="0" anchor="ctr">
            <a:spAutoFit/>
          </a:bodyPr>
          <a:lstStyle/>
          <a:p>
            <a:pPr algn="ctr">
              <a:spcAft>
                <a:spcPts val="0"/>
              </a:spcAft>
            </a:pPr>
            <a:r>
              <a:rPr sz="1300" b="1" i="0">
                <a:solidFill>
                  <a:srgbClr val="243782"/>
                </a:solidFill>
                <a:latin typeface="Encode Sans Expanded"/>
              </a:rPr>
              <a:t>3</a:t>
            </a:r>
          </a:p>
        </p:txBody>
      </p:sp>
      <p:sp>
        <p:nvSpPr>
          <p:cNvPr id="72" name="Player Miele"/>
          <p:cNvSpPr txBox="1"/>
          <p:nvPr/>
        </p:nvSpPr>
        <p:spPr>
          <a:xfrm>
            <a:off x="685800" y="4370832"/>
            <a:ext cx="1600200" cy="338328"/>
          </a:xfrm>
          <a:prstGeom prst="rect">
            <a:avLst/>
          </a:prstGeom>
          <a:noFill/>
        </p:spPr>
        <p:txBody>
          <a:bodyPr wrap="square" lIns="0" rIns="0" tIns="0" bIns="0" anchor="ctr">
            <a:spAutoFit/>
          </a:bodyPr>
          <a:lstStyle/>
          <a:p>
            <a:pPr algn="l">
              <a:spcAft>
                <a:spcPts val="0"/>
              </a:spcAft>
            </a:pPr>
            <a:r>
              <a:rPr sz="1100" b="1" i="0">
                <a:solidFill>
                  <a:srgbClr val="243782"/>
                </a:solidFill>
                <a:latin typeface="Encode Sans Expanded"/>
              </a:rPr>
              <a:t>Miele</a:t>
            </a:r>
          </a:p>
        </p:txBody>
      </p:sp>
      <p:sp>
        <p:nvSpPr>
          <p:cNvPr id="73" name="Dash Miele 0"/>
          <p:cNvSpPr/>
          <p:nvPr/>
        </p:nvSpPr>
        <p:spPr>
          <a:xfrm>
            <a:off x="2468880" y="4530852"/>
            <a:ext cx="128016" cy="22860"/>
          </a:xfrm>
          <a:prstGeom prst="rect">
            <a:avLst/>
          </a:prstGeom>
          <a:solidFill>
            <a:srgbClr val="B8B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Dot Miele 1"/>
          <p:cNvSpPr/>
          <p:nvPr/>
        </p:nvSpPr>
        <p:spPr>
          <a:xfrm>
            <a:off x="4590288" y="4421124"/>
            <a:ext cx="237744" cy="237744"/>
          </a:xfrm>
          <a:prstGeom prst="ellipse">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Act Miele 1"/>
          <p:cNvSpPr txBox="1"/>
          <p:nvPr/>
        </p:nvSpPr>
        <p:spPr>
          <a:xfrm>
            <a:off x="4919472" y="4370832"/>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5,000-cycle durability test</a:t>
            </a:r>
          </a:p>
        </p:txBody>
      </p:sp>
      <p:sp>
        <p:nvSpPr>
          <p:cNvPr id="76" name="Dash Miele 2"/>
          <p:cNvSpPr/>
          <p:nvPr/>
        </p:nvSpPr>
        <p:spPr>
          <a:xfrm>
            <a:off x="6821423" y="4530852"/>
            <a:ext cx="128016" cy="22860"/>
          </a:xfrm>
          <a:prstGeom prst="rect">
            <a:avLst/>
          </a:prstGeom>
          <a:solidFill>
            <a:srgbClr val="B8B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Dash Miele 3"/>
          <p:cNvSpPr/>
          <p:nvPr/>
        </p:nvSpPr>
        <p:spPr>
          <a:xfrm>
            <a:off x="8997696" y="4530852"/>
            <a:ext cx="128016" cy="22860"/>
          </a:xfrm>
          <a:prstGeom prst="rect">
            <a:avLst/>
          </a:prstGeom>
          <a:solidFill>
            <a:srgbClr val="B8B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Count Miele"/>
          <p:cNvSpPr txBox="1"/>
          <p:nvPr/>
        </p:nvSpPr>
        <p:spPr>
          <a:xfrm>
            <a:off x="11009376" y="4370832"/>
            <a:ext cx="548640" cy="338328"/>
          </a:xfrm>
          <a:prstGeom prst="rect">
            <a:avLst/>
          </a:prstGeom>
          <a:noFill/>
        </p:spPr>
        <p:txBody>
          <a:bodyPr wrap="square" lIns="0" rIns="0" tIns="0" bIns="0" anchor="ctr">
            <a:spAutoFit/>
          </a:bodyPr>
          <a:lstStyle/>
          <a:p>
            <a:pPr algn="ctr">
              <a:spcAft>
                <a:spcPts val="0"/>
              </a:spcAft>
            </a:pPr>
            <a:r>
              <a:rPr sz="1300" b="1" i="0">
                <a:solidFill>
                  <a:srgbClr val="243782"/>
                </a:solidFill>
                <a:latin typeface="Encode Sans Expanded"/>
              </a:rPr>
              <a:t>1</a:t>
            </a:r>
          </a:p>
        </p:txBody>
      </p:sp>
      <p:sp>
        <p:nvSpPr>
          <p:cNvPr id="79" name="Band 7"/>
          <p:cNvSpPr/>
          <p:nvPr/>
        </p:nvSpPr>
        <p:spPr>
          <a:xfrm>
            <a:off x="612648" y="4736592"/>
            <a:ext cx="10972799" cy="393192"/>
          </a:xfrm>
          <a:prstGeom prst="rect">
            <a:avLst/>
          </a:prstGeom>
          <a:solidFill>
            <a:srgbClr val="F6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Player Patagonia"/>
          <p:cNvSpPr txBox="1"/>
          <p:nvPr/>
        </p:nvSpPr>
        <p:spPr>
          <a:xfrm>
            <a:off x="685800" y="4764024"/>
            <a:ext cx="1600200" cy="338328"/>
          </a:xfrm>
          <a:prstGeom prst="rect">
            <a:avLst/>
          </a:prstGeom>
          <a:noFill/>
        </p:spPr>
        <p:txBody>
          <a:bodyPr wrap="square" lIns="0" rIns="0" tIns="0" bIns="0" anchor="ctr">
            <a:spAutoFit/>
          </a:bodyPr>
          <a:lstStyle/>
          <a:p>
            <a:pPr algn="l">
              <a:spcAft>
                <a:spcPts val="0"/>
              </a:spcAft>
            </a:pPr>
            <a:r>
              <a:rPr sz="1100" b="1" i="0">
                <a:solidFill>
                  <a:srgbClr val="243782"/>
                </a:solidFill>
                <a:latin typeface="Encode Sans Expanded"/>
              </a:rPr>
              <a:t>Patagonia</a:t>
            </a:r>
          </a:p>
        </p:txBody>
      </p:sp>
      <p:sp>
        <p:nvSpPr>
          <p:cNvPr id="81" name="Dash Patagonia 0"/>
          <p:cNvSpPr/>
          <p:nvPr/>
        </p:nvSpPr>
        <p:spPr>
          <a:xfrm>
            <a:off x="2468880" y="4924044"/>
            <a:ext cx="128016" cy="22860"/>
          </a:xfrm>
          <a:prstGeom prst="rect">
            <a:avLst/>
          </a:prstGeom>
          <a:solidFill>
            <a:srgbClr val="B8B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Dot Patagonia 1"/>
          <p:cNvSpPr/>
          <p:nvPr/>
        </p:nvSpPr>
        <p:spPr>
          <a:xfrm>
            <a:off x="4590288" y="4814316"/>
            <a:ext cx="237744" cy="237744"/>
          </a:xfrm>
          <a:prstGeom prst="ellipse">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Act Patagonia 1"/>
          <p:cNvSpPr txBox="1"/>
          <p:nvPr/>
        </p:nvSpPr>
        <p:spPr>
          <a:xfrm>
            <a:off x="4919472" y="4764024"/>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Ironclad Guarantee, repairs</a:t>
            </a:r>
          </a:p>
        </p:txBody>
      </p:sp>
      <p:sp>
        <p:nvSpPr>
          <p:cNvPr id="84" name="Dot Patagonia 2"/>
          <p:cNvSpPr/>
          <p:nvPr/>
        </p:nvSpPr>
        <p:spPr>
          <a:xfrm>
            <a:off x="6766559" y="4814316"/>
            <a:ext cx="237744" cy="237744"/>
          </a:xfrm>
          <a:prstGeom prst="ellipse">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Act Patagonia 2"/>
          <p:cNvSpPr txBox="1"/>
          <p:nvPr/>
        </p:nvSpPr>
        <p:spPr>
          <a:xfrm>
            <a:off x="7095744" y="4764024"/>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Footprint Chronicles map</a:t>
            </a:r>
          </a:p>
        </p:txBody>
      </p:sp>
      <p:sp>
        <p:nvSpPr>
          <p:cNvPr id="86" name="Dot Patagonia 3"/>
          <p:cNvSpPr/>
          <p:nvPr/>
        </p:nvSpPr>
        <p:spPr>
          <a:xfrm>
            <a:off x="8942832" y="4814316"/>
            <a:ext cx="237744" cy="237744"/>
          </a:xfrm>
          <a:prstGeom prst="ellipse">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Act Patagonia 3"/>
          <p:cNvSpPr txBox="1"/>
          <p:nvPr/>
        </p:nvSpPr>
        <p:spPr>
          <a:xfrm>
            <a:off x="9272015" y="4764024"/>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“Work in Progress” report</a:t>
            </a:r>
          </a:p>
        </p:txBody>
      </p:sp>
      <p:sp>
        <p:nvSpPr>
          <p:cNvPr id="88" name="Count Patagonia"/>
          <p:cNvSpPr txBox="1"/>
          <p:nvPr/>
        </p:nvSpPr>
        <p:spPr>
          <a:xfrm>
            <a:off x="11009376" y="4764024"/>
            <a:ext cx="548640" cy="338328"/>
          </a:xfrm>
          <a:prstGeom prst="rect">
            <a:avLst/>
          </a:prstGeom>
          <a:noFill/>
        </p:spPr>
        <p:txBody>
          <a:bodyPr wrap="square" lIns="0" rIns="0" tIns="0" bIns="0" anchor="ctr">
            <a:spAutoFit/>
          </a:bodyPr>
          <a:lstStyle/>
          <a:p>
            <a:pPr algn="ctr">
              <a:spcAft>
                <a:spcPts val="0"/>
              </a:spcAft>
            </a:pPr>
            <a:r>
              <a:rPr sz="1300" b="1" i="0">
                <a:solidFill>
                  <a:srgbClr val="243782"/>
                </a:solidFill>
                <a:latin typeface="Encode Sans Expanded"/>
              </a:rPr>
              <a:t>3</a:t>
            </a:r>
          </a:p>
        </p:txBody>
      </p:sp>
      <p:sp>
        <p:nvSpPr>
          <p:cNvPr id="89" name="Player Schneider Electric"/>
          <p:cNvSpPr txBox="1"/>
          <p:nvPr/>
        </p:nvSpPr>
        <p:spPr>
          <a:xfrm>
            <a:off x="685800" y="5157216"/>
            <a:ext cx="1600200" cy="338328"/>
          </a:xfrm>
          <a:prstGeom prst="rect">
            <a:avLst/>
          </a:prstGeom>
          <a:noFill/>
        </p:spPr>
        <p:txBody>
          <a:bodyPr wrap="square" lIns="0" rIns="0" tIns="0" bIns="0" anchor="ctr">
            <a:spAutoFit/>
          </a:bodyPr>
          <a:lstStyle/>
          <a:p>
            <a:pPr algn="l">
              <a:spcAft>
                <a:spcPts val="0"/>
              </a:spcAft>
            </a:pPr>
            <a:r>
              <a:rPr sz="1100" b="1" i="0">
                <a:solidFill>
                  <a:srgbClr val="243782"/>
                </a:solidFill>
                <a:latin typeface="Encode Sans Expanded"/>
              </a:rPr>
              <a:t>Schneider Electric</a:t>
            </a:r>
          </a:p>
        </p:txBody>
      </p:sp>
      <p:sp>
        <p:nvSpPr>
          <p:cNvPr id="90" name="Dot Schneider Electric 0"/>
          <p:cNvSpPr/>
          <p:nvPr/>
        </p:nvSpPr>
        <p:spPr>
          <a:xfrm>
            <a:off x="2414016" y="5207508"/>
            <a:ext cx="237744" cy="237744"/>
          </a:xfrm>
          <a:prstGeom prst="ellipse">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Act Schneider Electric 0"/>
          <p:cNvSpPr txBox="1"/>
          <p:nvPr/>
        </p:nvSpPr>
        <p:spPr>
          <a:xfrm>
            <a:off x="2743200" y="5157216"/>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Access to Energy, 1m trained</a:t>
            </a:r>
          </a:p>
        </p:txBody>
      </p:sp>
      <p:sp>
        <p:nvSpPr>
          <p:cNvPr id="92" name="Dash Schneider Electric 1"/>
          <p:cNvSpPr/>
          <p:nvPr/>
        </p:nvSpPr>
        <p:spPr>
          <a:xfrm>
            <a:off x="4645152" y="5317236"/>
            <a:ext cx="128016" cy="22860"/>
          </a:xfrm>
          <a:prstGeom prst="rect">
            <a:avLst/>
          </a:prstGeom>
          <a:solidFill>
            <a:srgbClr val="B8B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Dot Schneider Electric 2"/>
          <p:cNvSpPr/>
          <p:nvPr/>
        </p:nvSpPr>
        <p:spPr>
          <a:xfrm>
            <a:off x="6766559" y="5207508"/>
            <a:ext cx="237744" cy="237744"/>
          </a:xfrm>
          <a:prstGeom prst="ellipse">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Act Schneider Electric 2"/>
          <p:cNvSpPr txBox="1"/>
          <p:nvPr/>
        </p:nvSpPr>
        <p:spPr>
          <a:xfrm>
            <a:off x="7095744" y="5157216"/>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−56% CO₂ at top suppliers</a:t>
            </a:r>
          </a:p>
        </p:txBody>
      </p:sp>
      <p:sp>
        <p:nvSpPr>
          <p:cNvPr id="95" name="Dot Schneider Electric 3"/>
          <p:cNvSpPr/>
          <p:nvPr/>
        </p:nvSpPr>
        <p:spPr>
          <a:xfrm>
            <a:off x="8942832" y="5207508"/>
            <a:ext cx="237744" cy="237744"/>
          </a:xfrm>
          <a:prstGeom prst="ellipse">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Act Schneider Electric 3"/>
          <p:cNvSpPr txBox="1"/>
          <p:nvPr/>
        </p:nvSpPr>
        <p:spPr>
          <a:xfrm>
            <a:off x="9272015" y="5157216"/>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Quarterly impact score</a:t>
            </a:r>
          </a:p>
        </p:txBody>
      </p:sp>
      <p:sp>
        <p:nvSpPr>
          <p:cNvPr id="97" name="Count Schneider Electric"/>
          <p:cNvSpPr txBox="1"/>
          <p:nvPr/>
        </p:nvSpPr>
        <p:spPr>
          <a:xfrm>
            <a:off x="11009376" y="5157216"/>
            <a:ext cx="548640" cy="338328"/>
          </a:xfrm>
          <a:prstGeom prst="rect">
            <a:avLst/>
          </a:prstGeom>
          <a:noFill/>
        </p:spPr>
        <p:txBody>
          <a:bodyPr wrap="square" lIns="0" rIns="0" tIns="0" bIns="0" anchor="ctr">
            <a:spAutoFit/>
          </a:bodyPr>
          <a:lstStyle/>
          <a:p>
            <a:pPr algn="ctr">
              <a:spcAft>
                <a:spcPts val="0"/>
              </a:spcAft>
            </a:pPr>
            <a:r>
              <a:rPr sz="1300" b="1" i="0">
                <a:solidFill>
                  <a:srgbClr val="243782"/>
                </a:solidFill>
                <a:latin typeface="Encode Sans Expanded"/>
              </a:rPr>
              <a:t>3</a:t>
            </a:r>
          </a:p>
        </p:txBody>
      </p:sp>
      <p:sp>
        <p:nvSpPr>
          <p:cNvPr id="98" name="Stellantis band"/>
          <p:cNvSpPr/>
          <p:nvPr/>
        </p:nvSpPr>
        <p:spPr>
          <a:xfrm>
            <a:off x="612648" y="5907024"/>
            <a:ext cx="10972799" cy="393192"/>
          </a:xfrm>
          <a:prstGeom prst="rect">
            <a:avLst/>
          </a:prstGeom>
          <a:solidFill>
            <a:srgbClr val="FC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Player Stellantis (today)"/>
          <p:cNvSpPr txBox="1"/>
          <p:nvPr/>
        </p:nvSpPr>
        <p:spPr>
          <a:xfrm>
            <a:off x="685800" y="5934456"/>
            <a:ext cx="1600200" cy="338328"/>
          </a:xfrm>
          <a:prstGeom prst="rect">
            <a:avLst/>
          </a:prstGeom>
          <a:noFill/>
        </p:spPr>
        <p:txBody>
          <a:bodyPr wrap="square" lIns="0" rIns="0" tIns="0" bIns="0" anchor="ctr">
            <a:spAutoFit/>
          </a:bodyPr>
          <a:lstStyle/>
          <a:p>
            <a:pPr algn="l">
              <a:spcAft>
                <a:spcPts val="0"/>
              </a:spcAft>
            </a:pPr>
            <a:r>
              <a:rPr sz="1100" b="1" i="0">
                <a:solidFill>
                  <a:srgbClr val="E94E24"/>
                </a:solidFill>
                <a:latin typeface="Encode Sans Expanded"/>
              </a:rPr>
              <a:t>Stellantis (today)</a:t>
            </a:r>
          </a:p>
        </p:txBody>
      </p:sp>
      <p:sp>
        <p:nvSpPr>
          <p:cNvPr id="100" name="Dot Stellantis (today) 0"/>
          <p:cNvSpPr/>
          <p:nvPr/>
        </p:nvSpPr>
        <p:spPr>
          <a:xfrm>
            <a:off x="2414016" y="5984748"/>
            <a:ext cx="237744" cy="237744"/>
          </a:xfrm>
          <a:prstGeom prst="ellipse">
            <a:avLst/>
          </a:prstGeom>
          <a:solidFill>
            <a:srgbClr val="9F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Act Stellantis (today) 0"/>
          <p:cNvSpPr txBox="1"/>
          <p:nvPr/>
        </p:nvSpPr>
        <p:spPr>
          <a:xfrm>
            <a:off x="2743200" y="5934456"/>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ë-C3 €94/month</a:t>
            </a:r>
          </a:p>
        </p:txBody>
      </p:sp>
      <p:sp>
        <p:nvSpPr>
          <p:cNvPr id="102" name="Dot Stellantis (today) 1"/>
          <p:cNvSpPr/>
          <p:nvPr/>
        </p:nvSpPr>
        <p:spPr>
          <a:xfrm>
            <a:off x="4590288" y="5984748"/>
            <a:ext cx="237744" cy="237744"/>
          </a:xfrm>
          <a:prstGeom prst="ellipse">
            <a:avLst/>
          </a:prstGeom>
          <a:solidFill>
            <a:srgbClr val="FFFFFF"/>
          </a:solidFill>
          <a:ln w="19050">
            <a:solidFill>
              <a:srgbClr val="E94E2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Act Stellantis (today) 1"/>
          <p:cNvSpPr txBox="1"/>
          <p:nvPr/>
        </p:nvSpPr>
        <p:spPr>
          <a:xfrm>
            <a:off x="4919472" y="5934456"/>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US recalls, privacy</a:t>
            </a:r>
          </a:p>
        </p:txBody>
      </p:sp>
      <p:sp>
        <p:nvSpPr>
          <p:cNvPr id="104" name="Dot Stellantis (today) 2"/>
          <p:cNvSpPr/>
          <p:nvPr/>
        </p:nvSpPr>
        <p:spPr>
          <a:xfrm>
            <a:off x="6766559" y="5984748"/>
            <a:ext cx="237744" cy="237744"/>
          </a:xfrm>
          <a:prstGeom prst="ellipse">
            <a:avLst/>
          </a:prstGeom>
          <a:solidFill>
            <a:srgbClr val="9F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Act Stellantis (today) 2"/>
          <p:cNvSpPr txBox="1"/>
          <p:nvPr/>
        </p:nvSpPr>
        <p:spPr>
          <a:xfrm>
            <a:off x="7095744" y="5934456"/>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SUSTAINera, Reuse +51%</a:t>
            </a:r>
          </a:p>
        </p:txBody>
      </p:sp>
      <p:sp>
        <p:nvSpPr>
          <p:cNvPr id="106" name="Dot Stellantis (today) 3"/>
          <p:cNvSpPr/>
          <p:nvPr/>
        </p:nvSpPr>
        <p:spPr>
          <a:xfrm>
            <a:off x="8942832" y="5984748"/>
            <a:ext cx="237744" cy="237744"/>
          </a:xfrm>
          <a:prstGeom prst="ellipse">
            <a:avLst/>
          </a:prstGeom>
          <a:solidFill>
            <a:srgbClr val="FFFFFF"/>
          </a:solidFill>
          <a:ln w="19050">
            <a:solidFill>
              <a:srgbClr val="E94E2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Act Stellantis (today) 3"/>
          <p:cNvSpPr txBox="1"/>
          <p:nvPr/>
        </p:nvSpPr>
        <p:spPr>
          <a:xfrm>
            <a:off x="9272015" y="5934456"/>
            <a:ext cx="1673351" cy="338328"/>
          </a:xfrm>
          <a:prstGeom prst="rect">
            <a:avLst/>
          </a:prstGeom>
          <a:noFill/>
        </p:spPr>
        <p:txBody>
          <a:bodyPr wrap="square" lIns="0" rIns="0" tIns="0" bIns="0" anchor="ctr">
            <a:spAutoFit/>
          </a:bodyPr>
          <a:lstStyle/>
          <a:p>
            <a:pPr algn="l">
              <a:spcAft>
                <a:spcPts val="0"/>
              </a:spcAft>
            </a:pPr>
            <a:r>
              <a:rPr sz="900" b="0" i="0">
                <a:solidFill>
                  <a:srgbClr val="272B35"/>
                </a:solidFill>
                <a:latin typeface="Encode Sans ExpandedLight"/>
              </a:rPr>
              <a:t>No reset story</a:t>
            </a:r>
          </a:p>
        </p:txBody>
      </p:sp>
      <p:sp>
        <p:nvSpPr>
          <p:cNvPr id="108" name="Count Stellantis (today)"/>
          <p:cNvSpPr txBox="1"/>
          <p:nvPr/>
        </p:nvSpPr>
        <p:spPr>
          <a:xfrm>
            <a:off x="11009376" y="5934456"/>
            <a:ext cx="548640" cy="338328"/>
          </a:xfrm>
          <a:prstGeom prst="rect">
            <a:avLst/>
          </a:prstGeom>
          <a:noFill/>
        </p:spPr>
        <p:txBody>
          <a:bodyPr wrap="square" lIns="0" rIns="0" tIns="0" bIns="0" anchor="ctr">
            <a:spAutoFit/>
          </a:bodyPr>
          <a:lstStyle/>
          <a:p>
            <a:pPr algn="ctr">
              <a:spcAft>
                <a:spcPts val="0"/>
              </a:spcAft>
            </a:pPr>
            <a:r>
              <a:rPr sz="1300" b="1" i="0">
                <a:solidFill>
                  <a:srgbClr val="E94E24"/>
                </a:solidFill>
                <a:latin typeface="Encode Sans Expanded"/>
              </a:rPr>
              <a:t>0</a:t>
            </a:r>
          </a:p>
        </p:txBody>
      </p:sp>
      <p:sp>
        <p:nvSpPr>
          <p:cNvPr id="109" name="Totals label"/>
          <p:cNvSpPr txBox="1"/>
          <p:nvPr/>
        </p:nvSpPr>
        <p:spPr>
          <a:xfrm>
            <a:off x="685800" y="5586984"/>
            <a:ext cx="1691640" cy="274320"/>
          </a:xfrm>
          <a:prstGeom prst="rect">
            <a:avLst/>
          </a:prstGeom>
          <a:noFill/>
        </p:spPr>
        <p:txBody>
          <a:bodyPr wrap="square" lIns="0" rIns="0" tIns="0" bIns="0" anchor="ctr">
            <a:spAutoFit/>
          </a:bodyPr>
          <a:lstStyle/>
          <a:p>
            <a:pPr algn="l">
              <a:spcAft>
                <a:spcPts val="0"/>
              </a:spcAft>
            </a:pPr>
            <a:r>
              <a:rPr sz="1000" b="1" i="0">
                <a:solidFill>
                  <a:srgbClr val="5E6370"/>
                </a:solidFill>
                <a:latin typeface="Encode Sans Expanded"/>
              </a:rPr>
              <a:t>Strong players</a:t>
            </a:r>
          </a:p>
        </p:txBody>
      </p:sp>
      <p:sp>
        <p:nvSpPr>
          <p:cNvPr id="110" name="Total 0"/>
          <p:cNvSpPr txBox="1"/>
          <p:nvPr/>
        </p:nvSpPr>
        <p:spPr>
          <a:xfrm>
            <a:off x="2414016" y="5586984"/>
            <a:ext cx="1993391" cy="274320"/>
          </a:xfrm>
          <a:prstGeom prst="rect">
            <a:avLst/>
          </a:prstGeom>
          <a:noFill/>
        </p:spPr>
        <p:txBody>
          <a:bodyPr wrap="square" lIns="0" rIns="0" tIns="0" bIns="0" anchor="ctr">
            <a:spAutoFit/>
          </a:bodyPr>
          <a:lstStyle/>
          <a:p>
            <a:pPr algn="l">
              <a:spcAft>
                <a:spcPts val="0"/>
              </a:spcAft>
            </a:pPr>
            <a:r>
              <a:rPr sz="1000" b="1" i="0">
                <a:solidFill>
                  <a:srgbClr val="243782"/>
                </a:solidFill>
                <a:latin typeface="Encode Sans Expanded"/>
              </a:rPr>
              <a:t>2 of 9</a:t>
            </a:r>
          </a:p>
        </p:txBody>
      </p:sp>
      <p:sp>
        <p:nvSpPr>
          <p:cNvPr id="111" name="Total 1"/>
          <p:cNvSpPr txBox="1"/>
          <p:nvPr/>
        </p:nvSpPr>
        <p:spPr>
          <a:xfrm>
            <a:off x="4590288" y="5586984"/>
            <a:ext cx="1993391" cy="274320"/>
          </a:xfrm>
          <a:prstGeom prst="rect">
            <a:avLst/>
          </a:prstGeom>
          <a:noFill/>
        </p:spPr>
        <p:txBody>
          <a:bodyPr wrap="square" lIns="0" rIns="0" tIns="0" bIns="0" anchor="ctr">
            <a:spAutoFit/>
          </a:bodyPr>
          <a:lstStyle/>
          <a:p>
            <a:pPr algn="l">
              <a:spcAft>
                <a:spcPts val="0"/>
              </a:spcAft>
            </a:pPr>
            <a:r>
              <a:rPr sz="1000" b="1" i="0">
                <a:solidFill>
                  <a:srgbClr val="243782"/>
                </a:solidFill>
                <a:latin typeface="Encode Sans Expanded"/>
              </a:rPr>
              <a:t>5 of 9</a:t>
            </a:r>
          </a:p>
        </p:txBody>
      </p:sp>
      <p:sp>
        <p:nvSpPr>
          <p:cNvPr id="112" name="Total 2"/>
          <p:cNvSpPr txBox="1"/>
          <p:nvPr/>
        </p:nvSpPr>
        <p:spPr>
          <a:xfrm>
            <a:off x="6766559" y="5586984"/>
            <a:ext cx="1993391" cy="274320"/>
          </a:xfrm>
          <a:prstGeom prst="rect">
            <a:avLst/>
          </a:prstGeom>
          <a:noFill/>
        </p:spPr>
        <p:txBody>
          <a:bodyPr wrap="square" lIns="0" rIns="0" tIns="0" bIns="0" anchor="ctr">
            <a:spAutoFit/>
          </a:bodyPr>
          <a:lstStyle/>
          <a:p>
            <a:pPr algn="l">
              <a:spcAft>
                <a:spcPts val="0"/>
              </a:spcAft>
            </a:pPr>
            <a:r>
              <a:rPr sz="1000" b="1" i="0">
                <a:solidFill>
                  <a:srgbClr val="243782"/>
                </a:solidFill>
                <a:latin typeface="Encode Sans Expanded"/>
              </a:rPr>
              <a:t>4 of 9</a:t>
            </a:r>
          </a:p>
        </p:txBody>
      </p:sp>
      <p:sp>
        <p:nvSpPr>
          <p:cNvPr id="113" name="Total 3"/>
          <p:cNvSpPr txBox="1"/>
          <p:nvPr/>
        </p:nvSpPr>
        <p:spPr>
          <a:xfrm>
            <a:off x="8942832" y="5586984"/>
            <a:ext cx="1993391" cy="274320"/>
          </a:xfrm>
          <a:prstGeom prst="rect">
            <a:avLst/>
          </a:prstGeom>
          <a:noFill/>
        </p:spPr>
        <p:txBody>
          <a:bodyPr wrap="square" lIns="0" rIns="0" tIns="0" bIns="0" anchor="ctr">
            <a:spAutoFit/>
          </a:bodyPr>
          <a:lstStyle/>
          <a:p>
            <a:pPr algn="l">
              <a:spcAft>
                <a:spcPts val="0"/>
              </a:spcAft>
            </a:pPr>
            <a:r>
              <a:rPr sz="1000" b="1" i="0">
                <a:solidFill>
                  <a:srgbClr val="243782"/>
                </a:solidFill>
                <a:latin typeface="Encode Sans Expanded"/>
              </a:rPr>
              <a:t>3 of 9</a:t>
            </a:r>
          </a:p>
        </p:txBody>
      </p:sp>
      <p:sp>
        <p:nvSpPr>
          <p:cNvPr id="114" name="Legend S"/>
          <p:cNvSpPr/>
          <p:nvPr/>
        </p:nvSpPr>
        <p:spPr>
          <a:xfrm>
            <a:off x="612648" y="6419088"/>
            <a:ext cx="164592" cy="164592"/>
          </a:xfrm>
          <a:prstGeom prst="ellipse">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Legend text S"/>
          <p:cNvSpPr txBox="1"/>
          <p:nvPr/>
        </p:nvSpPr>
        <p:spPr>
          <a:xfrm>
            <a:off x="850392" y="6382512"/>
            <a:ext cx="2240280" cy="237744"/>
          </a:xfrm>
          <a:prstGeom prst="rect">
            <a:avLst/>
          </a:prstGeom>
          <a:noFill/>
        </p:spPr>
        <p:txBody>
          <a:bodyPr wrap="square" lIns="0" rIns="0" tIns="0" bIns="0" anchor="ctr">
            <a:spAutoFit/>
          </a:bodyPr>
          <a:lstStyle/>
          <a:p>
            <a:pPr algn="l">
              <a:spcAft>
                <a:spcPts val="0"/>
              </a:spcAft>
            </a:pPr>
            <a:r>
              <a:rPr sz="900" b="0" i="0">
                <a:solidFill>
                  <a:srgbClr val="5E6370"/>
                </a:solidFill>
                <a:latin typeface="Encode Sans ExpandedLight"/>
              </a:rPr>
              <a:t>Strong: quantified proof, clear format</a:t>
            </a:r>
          </a:p>
        </p:txBody>
      </p:sp>
      <p:sp>
        <p:nvSpPr>
          <p:cNvPr id="116" name="Legend M"/>
          <p:cNvSpPr/>
          <p:nvPr/>
        </p:nvSpPr>
        <p:spPr>
          <a:xfrm>
            <a:off x="3127248" y="6419088"/>
            <a:ext cx="164592" cy="164592"/>
          </a:xfrm>
          <a:prstGeom prst="ellipse">
            <a:avLst/>
          </a:prstGeom>
          <a:solidFill>
            <a:srgbClr val="9F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Legend text M"/>
          <p:cNvSpPr txBox="1"/>
          <p:nvPr/>
        </p:nvSpPr>
        <p:spPr>
          <a:xfrm>
            <a:off x="3364991" y="6382512"/>
            <a:ext cx="2240280" cy="237744"/>
          </a:xfrm>
          <a:prstGeom prst="rect">
            <a:avLst/>
          </a:prstGeom>
          <a:noFill/>
        </p:spPr>
        <p:txBody>
          <a:bodyPr wrap="square" lIns="0" rIns="0" tIns="0" bIns="0" anchor="ctr">
            <a:spAutoFit/>
          </a:bodyPr>
          <a:lstStyle/>
          <a:p>
            <a:pPr algn="l">
              <a:spcAft>
                <a:spcPts val="0"/>
              </a:spcAft>
            </a:pPr>
            <a:r>
              <a:rPr sz="900" b="0" i="0">
                <a:solidFill>
                  <a:srgbClr val="5E6370"/>
                </a:solidFill>
                <a:latin typeface="Encode Sans ExpandedLight"/>
              </a:rPr>
              <a:t>Medium: partial or contradicted</a:t>
            </a:r>
          </a:p>
        </p:txBody>
      </p:sp>
      <p:sp>
        <p:nvSpPr>
          <p:cNvPr id="118" name="Legend W"/>
          <p:cNvSpPr/>
          <p:nvPr/>
        </p:nvSpPr>
        <p:spPr>
          <a:xfrm>
            <a:off x="5641848" y="6419088"/>
            <a:ext cx="164592" cy="164592"/>
          </a:xfrm>
          <a:prstGeom prst="ellipse">
            <a:avLst/>
          </a:prstGeom>
          <a:solidFill>
            <a:srgbClr val="FFFFFF"/>
          </a:solidFill>
          <a:ln w="19050">
            <a:solidFill>
              <a:srgbClr val="E94E2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Legend text W"/>
          <p:cNvSpPr txBox="1"/>
          <p:nvPr/>
        </p:nvSpPr>
        <p:spPr>
          <a:xfrm>
            <a:off x="5879592" y="6382512"/>
            <a:ext cx="2240280" cy="237744"/>
          </a:xfrm>
          <a:prstGeom prst="rect">
            <a:avLst/>
          </a:prstGeom>
          <a:noFill/>
        </p:spPr>
        <p:txBody>
          <a:bodyPr wrap="square" lIns="0" rIns="0" tIns="0" bIns="0" anchor="ctr">
            <a:spAutoFit/>
          </a:bodyPr>
          <a:lstStyle/>
          <a:p>
            <a:pPr algn="l">
              <a:spcAft>
                <a:spcPts val="0"/>
              </a:spcAft>
            </a:pPr>
            <a:r>
              <a:rPr sz="900" b="0" i="0">
                <a:solidFill>
                  <a:srgbClr val="5E6370"/>
                </a:solidFill>
                <a:latin typeface="Encode Sans ExpandedLight"/>
              </a:rPr>
              <a:t>Weak: value claims or contested</a:t>
            </a:r>
          </a:p>
        </p:txBody>
      </p:sp>
      <p:sp>
        <p:nvSpPr>
          <p:cNvPr id="120" name="Legend dash"/>
          <p:cNvSpPr/>
          <p:nvPr/>
        </p:nvSpPr>
        <p:spPr>
          <a:xfrm>
            <a:off x="8183879" y="6492240"/>
            <a:ext cx="109728" cy="22860"/>
          </a:xfrm>
          <a:prstGeom prst="rect">
            <a:avLst/>
          </a:prstGeom>
          <a:solidFill>
            <a:srgbClr val="B8B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Legend text -"/>
          <p:cNvSpPr txBox="1"/>
          <p:nvPr/>
        </p:nvSpPr>
        <p:spPr>
          <a:xfrm>
            <a:off x="8394192" y="6382512"/>
            <a:ext cx="2240280" cy="237744"/>
          </a:xfrm>
          <a:prstGeom prst="rect">
            <a:avLst/>
          </a:prstGeom>
          <a:noFill/>
        </p:spPr>
        <p:txBody>
          <a:bodyPr wrap="square" lIns="0" rIns="0" tIns="0" bIns="0" anchor="ctr">
            <a:spAutoFit/>
          </a:bodyPr>
          <a:lstStyle/>
          <a:p>
            <a:pPr algn="l">
              <a:spcAft>
                <a:spcPts val="0"/>
              </a:spcAft>
            </a:pPr>
            <a:r>
              <a:rPr sz="900" b="0" i="0">
                <a:solidFill>
                  <a:srgbClr val="5E6370"/>
                </a:solidFill>
                <a:latin typeface="Encode Sans ExpandedLight"/>
              </a:rPr>
              <a:t>Not found in our sources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Stellantis today</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Title"/>
          <p:cNvSpPr txBox="1"/>
          <p:nvPr/>
        </p:nvSpPr>
        <p:spPr>
          <a:xfrm>
            <a:off x="612648" y="1024128"/>
            <a:ext cx="10972800" cy="548640"/>
          </a:xfrm>
          <a:prstGeom prst="rect">
            <a:avLst/>
          </a:prstGeom>
          <a:noFill/>
        </p:spPr>
        <p:txBody>
          <a:bodyPr wrap="square" lIns="0" rIns="0" tIns="0" bIns="0" anchor="t">
            <a:spAutoFit/>
          </a:bodyPr>
          <a:lstStyle/>
          <a:p>
            <a:pPr algn="l">
              <a:spcAft>
                <a:spcPts val="0"/>
              </a:spcAft>
            </a:pPr>
            <a:r>
              <a:rPr sz="2200" b="1" i="0">
                <a:solidFill>
                  <a:srgbClr val="243782"/>
                </a:solidFill>
                <a:latin typeface="Encode Sans Expanded"/>
              </a:rPr>
              <a:t>More proof points than story, scattered across brands and countries</a:t>
            </a:r>
          </a:p>
        </p:txBody>
      </p:sp>
      <p:sp>
        <p:nvSpPr>
          <p:cNvPr id="7" name="Stellantis 1"/>
          <p:cNvSpPr/>
          <p:nvPr/>
        </p:nvSpPr>
        <p:spPr>
          <a:xfrm>
            <a:off x="612648" y="1691640"/>
            <a:ext cx="2606040" cy="43434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Stellantis 1 head"/>
          <p:cNvSpPr/>
          <p:nvPr/>
        </p:nvSpPr>
        <p:spPr>
          <a:xfrm>
            <a:off x="612648" y="1691640"/>
            <a:ext cx="2606040" cy="685800"/>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200" b="1" i="0">
                <a:solidFill>
                  <a:srgbClr val="FFFFFF"/>
                </a:solidFill>
                <a:latin typeface="Encode Sans Expanded"/>
              </a:rPr>
              <a:t>Fair Transition</a:t>
            </a:r>
          </a:p>
        </p:txBody>
      </p:sp>
      <p:sp>
        <p:nvSpPr>
          <p:cNvPr id="9" name="Stellantis 1 level"/>
          <p:cNvSpPr/>
          <p:nvPr/>
        </p:nvSpPr>
        <p:spPr>
          <a:xfrm>
            <a:off x="795528" y="2514600"/>
            <a:ext cx="2240280" cy="292608"/>
          </a:xfrm>
          <a:prstGeom prst="roundRect">
            <a:avLst>
              <a:gd name="adj" fmla="val 30000"/>
            </a:avLst>
          </a:prstGeom>
          <a:solidFill>
            <a:srgbClr val="EEF0F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000" b="1" i="0">
                <a:solidFill>
                  <a:srgbClr val="243782"/>
                </a:solidFill>
                <a:latin typeface="Encode Sans Expanded"/>
              </a:rPr>
              <a:t>Medium, high potential</a:t>
            </a:r>
          </a:p>
        </p:txBody>
      </p:sp>
      <p:sp>
        <p:nvSpPr>
          <p:cNvPr id="10" name="Stellantis 1 text"/>
          <p:cNvSpPr txBox="1"/>
          <p:nvPr/>
        </p:nvSpPr>
        <p:spPr>
          <a:xfrm>
            <a:off x="795528" y="2971800"/>
            <a:ext cx="2240280" cy="2971800"/>
          </a:xfrm>
          <a:prstGeom prst="rect">
            <a:avLst/>
          </a:prstGeom>
          <a:noFill/>
        </p:spPr>
        <p:txBody>
          <a:bodyPr wrap="square" lIns="0" rIns="0" tIns="0" bIns="0" anchor="t">
            <a:spAutoFit/>
          </a:bodyPr>
          <a:lstStyle/>
          <a:p>
            <a:pPr algn="l">
              <a:spcAft>
                <a:spcPts val="200"/>
              </a:spcAft>
            </a:pPr>
            <a:r>
              <a:rPr sz="1000" b="1" i="0">
                <a:solidFill>
                  <a:srgbClr val="E94E24"/>
                </a:solidFill>
                <a:latin typeface="Encode Sans Expanded"/>
              </a:rPr>
              <a:t>Proof points</a:t>
            </a:r>
          </a:p>
          <a:p>
            <a:pPr algn="l" marL="164592" indent="-164592">
              <a:spcAft>
                <a:spcPts val="300"/>
              </a:spcAft>
              <a:buChar char="•"/>
            </a:pPr>
            <a:r>
              <a:rPr sz="1000" b="0" i="0">
                <a:solidFill>
                  <a:srgbClr val="272B35"/>
                </a:solidFill>
                <a:latin typeface="Encode Sans ExpandedLight"/>
              </a:rPr>
              <a:t>ë-C3 at €94/month, lowest French social leasing 2026</a:t>
            </a:r>
          </a:p>
          <a:p>
            <a:pPr algn="l" marL="164592" indent="-164592">
              <a:spcAft>
                <a:spcPts val="300"/>
              </a:spcAft>
              <a:buChar char="•"/>
            </a:pPr>
            <a:r>
              <a:rPr sz="1000" b="0" i="0">
                <a:solidFill>
                  <a:srgbClr val="272B35"/>
                </a:solidFill>
                <a:latin typeface="Encode Sans ExpandedLight"/>
              </a:rPr>
              <a:t>E-Car under €15k at Pomigliano from 2028</a:t>
            </a:r>
          </a:p>
          <a:p>
            <a:pPr algn="l" marL="164592" indent="-164592">
              <a:spcAft>
                <a:spcPts val="300"/>
              </a:spcAft>
              <a:buChar char="•"/>
            </a:pPr>
            <a:r>
              <a:rPr sz="1000" b="0" i="0">
                <a:solidFill>
                  <a:srgbClr val="272B35"/>
                </a:solidFill>
                <a:latin typeface="Encode Sans ExpandedLight"/>
              </a:rPr>
              <a:t>Douvrin 400-hour battery course; 6,000 Motor Citizens volunteers</a:t>
            </a:r>
          </a:p>
          <a:p>
            <a:pPr algn="l">
              <a:spcAft>
                <a:spcPts val="200"/>
              </a:spcAft>
            </a:pPr>
            <a:r>
              <a:rPr sz="1000" b="1" i="0">
                <a:solidFill>
                  <a:srgbClr val="E94E24"/>
                </a:solidFill>
                <a:latin typeface="Encode Sans Expanded"/>
              </a:rPr>
              <a:t>Gaps</a:t>
            </a:r>
          </a:p>
          <a:p>
            <a:pPr algn="l" marL="164592" indent="-164592">
              <a:spcAft>
                <a:spcPts val="300"/>
              </a:spcAft>
              <a:buChar char="•"/>
            </a:pPr>
            <a:r>
              <a:rPr sz="1000" b="0" i="0">
                <a:solidFill>
                  <a:srgbClr val="272B35"/>
                </a:solidFill>
                <a:latin typeface="Encode Sans ExpandedLight"/>
              </a:rPr>
              <a:t>Fragmented, no group hub</a:t>
            </a:r>
          </a:p>
          <a:p>
            <a:pPr algn="l" marL="164592" indent="-164592">
              <a:spcAft>
                <a:spcPts val="300"/>
              </a:spcAft>
              <a:buChar char="•"/>
            </a:pPr>
            <a:r>
              <a:rPr sz="1000" b="0" i="0">
                <a:solidFill>
                  <a:srgbClr val="272B35"/>
                </a:solidFill>
                <a:latin typeface="Encode Sans ExpandedLight"/>
              </a:rPr>
              <a:t>No group KPI on people reskilled</a:t>
            </a:r>
          </a:p>
          <a:p>
            <a:pPr algn="l" marL="164592" indent="-164592">
              <a:spcAft>
                <a:spcPts val="300"/>
              </a:spcAft>
              <a:buChar char="•"/>
            </a:pPr>
            <a:r>
              <a:rPr sz="1000" b="0" i="0">
                <a:solidFill>
                  <a:srgbClr val="272B35"/>
                </a:solidFill>
                <a:latin typeface="Encode Sans ExpandedLight"/>
              </a:rPr>
              <a:t>Belvidere reopening delayed to 2028</a:t>
            </a:r>
          </a:p>
        </p:txBody>
      </p:sp>
      <p:sp>
        <p:nvSpPr>
          <p:cNvPr id="11" name="Stellantis 2"/>
          <p:cNvSpPr/>
          <p:nvPr/>
        </p:nvSpPr>
        <p:spPr>
          <a:xfrm>
            <a:off x="3401568" y="1691640"/>
            <a:ext cx="2606040" cy="43434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tellantis 2 head"/>
          <p:cNvSpPr/>
          <p:nvPr/>
        </p:nvSpPr>
        <p:spPr>
          <a:xfrm>
            <a:off x="3401568" y="1691640"/>
            <a:ext cx="2606040" cy="685800"/>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200" b="1" i="0">
                <a:solidFill>
                  <a:srgbClr val="FFFFFF"/>
                </a:solidFill>
                <a:latin typeface="Encode Sans Expanded"/>
              </a:rPr>
              <a:t>Customer Trust</a:t>
            </a:r>
          </a:p>
        </p:txBody>
      </p:sp>
      <p:sp>
        <p:nvSpPr>
          <p:cNvPr id="13" name="Stellantis 2 level"/>
          <p:cNvSpPr/>
          <p:nvPr/>
        </p:nvSpPr>
        <p:spPr>
          <a:xfrm>
            <a:off x="3584448" y="2514600"/>
            <a:ext cx="2240280" cy="292608"/>
          </a:xfrm>
          <a:prstGeom prst="roundRect">
            <a:avLst>
              <a:gd name="adj" fmla="val 30000"/>
            </a:avLst>
          </a:prstGeom>
          <a:solidFill>
            <a:srgbClr val="FCE6D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000" b="1" i="0">
                <a:solidFill>
                  <a:srgbClr val="243782"/>
                </a:solidFill>
                <a:latin typeface="Encode Sans Expanded"/>
              </a:rPr>
              <a:t>Weak, exposed</a:t>
            </a:r>
          </a:p>
        </p:txBody>
      </p:sp>
      <p:sp>
        <p:nvSpPr>
          <p:cNvPr id="14" name="Stellantis 2 text"/>
          <p:cNvSpPr txBox="1"/>
          <p:nvPr/>
        </p:nvSpPr>
        <p:spPr>
          <a:xfrm>
            <a:off x="3584448" y="2971800"/>
            <a:ext cx="2240280" cy="2971800"/>
          </a:xfrm>
          <a:prstGeom prst="rect">
            <a:avLst/>
          </a:prstGeom>
          <a:noFill/>
        </p:spPr>
        <p:txBody>
          <a:bodyPr wrap="square" lIns="0" rIns="0" tIns="0" bIns="0" anchor="t">
            <a:spAutoFit/>
          </a:bodyPr>
          <a:lstStyle/>
          <a:p>
            <a:pPr algn="l">
              <a:spcAft>
                <a:spcPts val="200"/>
              </a:spcAft>
            </a:pPr>
            <a:r>
              <a:rPr sz="1000" b="1" i="0">
                <a:solidFill>
                  <a:srgbClr val="E94E24"/>
                </a:solidFill>
                <a:latin typeface="Encode Sans Expanded"/>
              </a:rPr>
              <a:t>Proof points</a:t>
            </a:r>
          </a:p>
          <a:p>
            <a:pPr algn="l" marL="164592" indent="-164592">
              <a:spcAft>
                <a:spcPts val="300"/>
              </a:spcAft>
              <a:buChar char="•"/>
            </a:pPr>
            <a:r>
              <a:rPr sz="1000" b="0" i="0">
                <a:solidFill>
                  <a:srgbClr val="272B35"/>
                </a:solidFill>
                <a:latin typeface="Encode Sans ExpandedLight"/>
              </a:rPr>
              <a:t>Quality reset: ~2,000 engineers [secondary]</a:t>
            </a:r>
          </a:p>
          <a:p>
            <a:pPr algn="l" marL="164592" indent="-164592">
              <a:spcAft>
                <a:spcPts val="300"/>
              </a:spcAft>
              <a:buChar char="•"/>
            </a:pPr>
            <a:r>
              <a:rPr sz="1000" b="0" i="0">
                <a:solidFill>
                  <a:srgbClr val="272B35"/>
                </a:solidFill>
                <a:latin typeface="Encode Sans ExpandedLight"/>
              </a:rPr>
              <a:t>SUSTAINera remanufactured parts, Spoticar</a:t>
            </a:r>
          </a:p>
          <a:p>
            <a:pPr algn="l" marL="164592" indent="-164592">
              <a:spcAft>
                <a:spcPts val="300"/>
              </a:spcAft>
              <a:buChar char="•"/>
            </a:pPr>
            <a:r>
              <a:rPr sz="1000" b="0" i="0">
                <a:solidFill>
                  <a:srgbClr val="272B35"/>
                </a:solidFill>
                <a:latin typeface="Encode Sans ExpandedLight"/>
              </a:rPr>
              <a:t>Mobilisights consent principles</a:t>
            </a:r>
          </a:p>
          <a:p>
            <a:pPr algn="l">
              <a:spcAft>
                <a:spcPts val="200"/>
              </a:spcAft>
            </a:pPr>
            <a:r>
              <a:rPr sz="1000" b="1" i="0">
                <a:solidFill>
                  <a:srgbClr val="E94E24"/>
                </a:solidFill>
                <a:latin typeface="Encode Sans Expanded"/>
              </a:rPr>
              <a:t>Gaps</a:t>
            </a:r>
          </a:p>
          <a:p>
            <a:pPr algn="l" marL="164592" indent="-164592">
              <a:spcAft>
                <a:spcPts val="300"/>
              </a:spcAft>
              <a:buChar char="•"/>
            </a:pPr>
            <a:r>
              <a:rPr sz="1000" b="0" i="0">
                <a:solidFill>
                  <a:srgbClr val="272B35"/>
                </a:solidFill>
                <a:latin typeface="Encode Sans ExpandedLight"/>
              </a:rPr>
              <a:t>2026 US recalls (844k vehicles, camera)</a:t>
            </a:r>
          </a:p>
          <a:p>
            <a:pPr algn="l" marL="164592" indent="-164592">
              <a:spcAft>
                <a:spcPts val="300"/>
              </a:spcAft>
              <a:buChar char="•"/>
            </a:pPr>
            <a:r>
              <a:rPr sz="1000" b="0" i="0">
                <a:solidFill>
                  <a:srgbClr val="272B35"/>
                </a:solidFill>
                <a:latin typeface="Encode Sans ExpandedLight"/>
              </a:rPr>
              <a:t>Privacy allegations in Texas v. Allstate/Arity (Stellantis not a defendant)</a:t>
            </a:r>
          </a:p>
        </p:txBody>
      </p:sp>
      <p:sp>
        <p:nvSpPr>
          <p:cNvPr id="15" name="Stellantis 3"/>
          <p:cNvSpPr/>
          <p:nvPr/>
        </p:nvSpPr>
        <p:spPr>
          <a:xfrm>
            <a:off x="6190488" y="1691640"/>
            <a:ext cx="2606040" cy="43434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tellantis 3 head"/>
          <p:cNvSpPr/>
          <p:nvPr/>
        </p:nvSpPr>
        <p:spPr>
          <a:xfrm>
            <a:off x="6190488" y="1691640"/>
            <a:ext cx="2606040" cy="685800"/>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200" b="1" i="0">
                <a:solidFill>
                  <a:srgbClr val="FFFFFF"/>
                </a:solidFill>
                <a:latin typeface="Encode Sans Expanded"/>
              </a:rPr>
              <a:t>Environmental Transformation</a:t>
            </a:r>
          </a:p>
        </p:txBody>
      </p:sp>
      <p:sp>
        <p:nvSpPr>
          <p:cNvPr id="17" name="Stellantis 3 level"/>
          <p:cNvSpPr/>
          <p:nvPr/>
        </p:nvSpPr>
        <p:spPr>
          <a:xfrm>
            <a:off x="6373368" y="2514600"/>
            <a:ext cx="2240280" cy="292608"/>
          </a:xfrm>
          <a:prstGeom prst="roundRect">
            <a:avLst>
              <a:gd name="adj" fmla="val 30000"/>
            </a:avLst>
          </a:prstGeom>
          <a:solidFill>
            <a:srgbClr val="EEF0F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000" b="1" i="0">
                <a:solidFill>
                  <a:srgbClr val="243782"/>
                </a:solidFill>
                <a:latin typeface="Encode Sans Expanded"/>
              </a:rPr>
              <a:t>Medium</a:t>
            </a:r>
          </a:p>
        </p:txBody>
      </p:sp>
      <p:sp>
        <p:nvSpPr>
          <p:cNvPr id="18" name="Stellantis 3 text"/>
          <p:cNvSpPr txBox="1"/>
          <p:nvPr/>
        </p:nvSpPr>
        <p:spPr>
          <a:xfrm>
            <a:off x="6373368" y="2971800"/>
            <a:ext cx="2240280" cy="2971800"/>
          </a:xfrm>
          <a:prstGeom prst="rect">
            <a:avLst/>
          </a:prstGeom>
          <a:noFill/>
        </p:spPr>
        <p:txBody>
          <a:bodyPr wrap="square" lIns="0" rIns="0" tIns="0" bIns="0" anchor="t">
            <a:spAutoFit/>
          </a:bodyPr>
          <a:lstStyle/>
          <a:p>
            <a:pPr algn="l">
              <a:spcAft>
                <a:spcPts val="200"/>
              </a:spcAft>
            </a:pPr>
            <a:r>
              <a:rPr sz="1000" b="1" i="0">
                <a:solidFill>
                  <a:srgbClr val="E94E24"/>
                </a:solidFill>
                <a:latin typeface="Encode Sans Expanded"/>
              </a:rPr>
              <a:t>Proof points</a:t>
            </a:r>
          </a:p>
          <a:p>
            <a:pPr algn="l" marL="164592" indent="-164592">
              <a:spcAft>
                <a:spcPts val="300"/>
              </a:spcAft>
              <a:buChar char="•"/>
            </a:pPr>
            <a:r>
              <a:rPr sz="1000" b="0" i="0">
                <a:solidFill>
                  <a:srgbClr val="272B35"/>
                </a:solidFill>
                <a:latin typeface="Encode Sans ExpandedLight"/>
              </a:rPr>
              <a:t>−43% Scope 1-2, −26% Scope 1-3 vs 2021</a:t>
            </a:r>
          </a:p>
          <a:p>
            <a:pPr algn="l" marL="164592" indent="-164592">
              <a:spcAft>
                <a:spcPts val="300"/>
              </a:spcAft>
              <a:buChar char="•"/>
            </a:pPr>
            <a:r>
              <a:rPr sz="1000" b="0" i="0">
                <a:solidFill>
                  <a:srgbClr val="272B35"/>
                </a:solidFill>
                <a:latin typeface="Encode Sans ExpandedLight"/>
              </a:rPr>
              <a:t>SUSTAINera Reuse +51%, Repair +48%</a:t>
            </a:r>
          </a:p>
          <a:p>
            <a:pPr algn="l" marL="164592" indent="-164592">
              <a:spcAft>
                <a:spcPts val="300"/>
              </a:spcAft>
              <a:buChar char="•"/>
            </a:pPr>
            <a:r>
              <a:rPr sz="1000" b="0" i="0">
                <a:solidFill>
                  <a:srgbClr val="272B35"/>
                </a:solidFill>
                <a:latin typeface="Encode Sans ExpandedLight"/>
              </a:rPr>
              <a:t>500 MW solar on 27 European sites</a:t>
            </a:r>
          </a:p>
          <a:p>
            <a:pPr algn="l">
              <a:spcAft>
                <a:spcPts val="200"/>
              </a:spcAft>
            </a:pPr>
            <a:r>
              <a:rPr sz="1000" b="1" i="0">
                <a:solidFill>
                  <a:srgbClr val="E94E24"/>
                </a:solidFill>
                <a:latin typeface="Encode Sans Expanded"/>
              </a:rPr>
              <a:t>Gaps</a:t>
            </a:r>
          </a:p>
          <a:p>
            <a:pPr algn="l" marL="164592" indent="-164592">
              <a:spcAft>
                <a:spcPts val="300"/>
              </a:spcAft>
              <a:buChar char="•"/>
            </a:pPr>
            <a:r>
              <a:rPr sz="1000" b="0" i="0">
                <a:solidFill>
                  <a:srgbClr val="272B35"/>
                </a:solidFill>
                <a:latin typeface="Encode Sans ExpandedLight"/>
              </a:rPr>
              <a:t>No symbol object, no per-unit metric</a:t>
            </a:r>
          </a:p>
          <a:p>
            <a:pPr algn="l" marL="164592" indent="-164592">
              <a:spcAft>
                <a:spcPts val="300"/>
              </a:spcAft>
              <a:buChar char="•"/>
            </a:pPr>
            <a:r>
              <a:rPr sz="1000" b="0" i="0">
                <a:solidFill>
                  <a:srgbClr val="272B35"/>
                </a:solidFill>
                <a:latin typeface="Encode Sans ExpandedLight"/>
              </a:rPr>
              <a:t>“Up to” claims; 2038 pages online</a:t>
            </a:r>
          </a:p>
          <a:p>
            <a:pPr algn="l" marL="164592" indent="-164592">
              <a:spcAft>
                <a:spcPts val="300"/>
              </a:spcAft>
              <a:buChar char="•"/>
            </a:pPr>
            <a:r>
              <a:rPr sz="1000" b="0" i="0">
                <a:solidFill>
                  <a:srgbClr val="272B35"/>
                </a:solidFill>
                <a:latin typeface="Encode Sans ExpandedLight"/>
              </a:rPr>
              <a:t>Indonesian nickel letter from 25 NGOs</a:t>
            </a:r>
          </a:p>
        </p:txBody>
      </p:sp>
      <p:sp>
        <p:nvSpPr>
          <p:cNvPr id="19" name="Stellantis 4"/>
          <p:cNvSpPr/>
          <p:nvPr/>
        </p:nvSpPr>
        <p:spPr>
          <a:xfrm>
            <a:off x="8979407" y="1691640"/>
            <a:ext cx="2606040" cy="43434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tellantis 4 head"/>
          <p:cNvSpPr/>
          <p:nvPr/>
        </p:nvSpPr>
        <p:spPr>
          <a:xfrm>
            <a:off x="8979407" y="1691640"/>
            <a:ext cx="2606040" cy="685800"/>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200" b="1" i="0">
                <a:solidFill>
                  <a:srgbClr val="FFFFFF"/>
                </a:solidFill>
                <a:latin typeface="Encode Sans Expanded"/>
              </a:rPr>
              <a:t>Transparency &amp; Accountability</a:t>
            </a:r>
          </a:p>
        </p:txBody>
      </p:sp>
      <p:sp>
        <p:nvSpPr>
          <p:cNvPr id="21" name="Stellantis 4 level"/>
          <p:cNvSpPr/>
          <p:nvPr/>
        </p:nvSpPr>
        <p:spPr>
          <a:xfrm>
            <a:off x="9162287" y="2514600"/>
            <a:ext cx="2240280" cy="292608"/>
          </a:xfrm>
          <a:prstGeom prst="roundRect">
            <a:avLst>
              <a:gd name="adj" fmla="val 30000"/>
            </a:avLst>
          </a:prstGeom>
          <a:solidFill>
            <a:srgbClr val="FCE6D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000" b="1" i="0">
                <a:solidFill>
                  <a:srgbClr val="243782"/>
                </a:solidFill>
                <a:latin typeface="Encode Sans Expanded"/>
              </a:rPr>
              <a:t>Weak</a:t>
            </a:r>
          </a:p>
        </p:txBody>
      </p:sp>
      <p:sp>
        <p:nvSpPr>
          <p:cNvPr id="22" name="Stellantis 4 text"/>
          <p:cNvSpPr txBox="1"/>
          <p:nvPr/>
        </p:nvSpPr>
        <p:spPr>
          <a:xfrm>
            <a:off x="9162287" y="2971800"/>
            <a:ext cx="2240280" cy="2971800"/>
          </a:xfrm>
          <a:prstGeom prst="rect">
            <a:avLst/>
          </a:prstGeom>
          <a:noFill/>
        </p:spPr>
        <p:txBody>
          <a:bodyPr wrap="square" lIns="0" rIns="0" tIns="0" bIns="0" anchor="t">
            <a:spAutoFit/>
          </a:bodyPr>
          <a:lstStyle/>
          <a:p>
            <a:pPr algn="l">
              <a:spcAft>
                <a:spcPts val="200"/>
              </a:spcAft>
            </a:pPr>
            <a:r>
              <a:rPr sz="1000" b="1" i="0">
                <a:solidFill>
                  <a:srgbClr val="E94E24"/>
                </a:solidFill>
                <a:latin typeface="Encode Sans Expanded"/>
              </a:rPr>
              <a:t>Proof points</a:t>
            </a:r>
          </a:p>
          <a:p>
            <a:pPr algn="l" marL="164592" indent="-164592">
              <a:spcAft>
                <a:spcPts val="300"/>
              </a:spcAft>
              <a:buChar char="•"/>
            </a:pPr>
            <a:r>
              <a:rPr sz="1000" b="0" i="0">
                <a:solidFill>
                  <a:srgbClr val="272B35"/>
                </a:solidFill>
                <a:latin typeface="Encode Sans ExpandedLight"/>
              </a:rPr>
              <a:t>CSRD statements 2024 and 2025</a:t>
            </a:r>
          </a:p>
          <a:p>
            <a:pPr algn="l" marL="164592" indent="-164592">
              <a:spcAft>
                <a:spcPts val="300"/>
              </a:spcAft>
              <a:buChar char="•"/>
            </a:pPr>
            <a:r>
              <a:rPr sz="1000" b="0" i="0">
                <a:solidFill>
                  <a:srgbClr val="272B35"/>
                </a:solidFill>
                <a:latin typeface="Encode Sans ExpandedLight"/>
              </a:rPr>
              <a:t>Climate Policy Report on the reset</a:t>
            </a:r>
          </a:p>
          <a:p>
            <a:pPr algn="l">
              <a:spcAft>
                <a:spcPts val="200"/>
              </a:spcAft>
            </a:pPr>
            <a:r>
              <a:rPr sz="1000" b="1" i="0">
                <a:solidFill>
                  <a:srgbClr val="E94E24"/>
                </a:solidFill>
                <a:latin typeface="Encode Sans Expanded"/>
              </a:rPr>
              <a:t>Gaps</a:t>
            </a:r>
          </a:p>
          <a:p>
            <a:pPr algn="l" marL="164592" indent="-164592">
              <a:spcAft>
                <a:spcPts val="300"/>
              </a:spcAft>
              <a:buChar char="•"/>
            </a:pPr>
            <a:r>
              <a:rPr sz="1000" b="0" i="0">
                <a:solidFill>
                  <a:srgbClr val="272B35"/>
                </a:solidFill>
                <a:latin typeface="Encode Sans ExpandedLight"/>
              </a:rPr>
              <a:t>No first-person “why 2050”</a:t>
            </a:r>
          </a:p>
          <a:p>
            <a:pPr algn="l" marL="164592" indent="-164592">
              <a:spcAft>
                <a:spcPts val="300"/>
              </a:spcAft>
              <a:buChar char="•"/>
            </a:pPr>
            <a:r>
              <a:rPr sz="1000" b="0" i="0">
                <a:solidFill>
                  <a:srgbClr val="272B35"/>
                </a:solidFill>
                <a:latin typeface="Encode Sans ExpandedLight"/>
              </a:rPr>
              <a:t>No versioned plan with independent review</a:t>
            </a:r>
          </a:p>
          <a:p>
            <a:pPr algn="l" marL="164592" indent="-164592">
              <a:spcAft>
                <a:spcPts val="300"/>
              </a:spcAft>
              <a:buChar char="•"/>
            </a:pPr>
            <a:r>
              <a:rPr sz="1000" b="0" i="0">
                <a:solidFill>
                  <a:srgbClr val="272B35"/>
                </a:solidFill>
                <a:latin typeface="Encode Sans ExpandedLight"/>
              </a:rPr>
              <a:t>No recurring scorecard or visible CO₂-pay link</a:t>
            </a:r>
          </a:p>
        </p:txBody>
      </p:sp>
      <p:sp>
        <p:nvSpPr>
          <p:cNvPr id="23" name="Footnote"/>
          <p:cNvSpPr txBox="1"/>
          <p:nvPr/>
        </p:nvSpPr>
        <p:spPr>
          <a:xfrm>
            <a:off x="612648" y="6382512"/>
            <a:ext cx="10241280" cy="274320"/>
          </a:xfrm>
          <a:prstGeom prst="rect">
            <a:avLst/>
          </a:prstGeom>
          <a:noFill/>
        </p:spPr>
        <p:txBody>
          <a:bodyPr wrap="square" lIns="0" rIns="0" tIns="0" bIns="0" anchor="t">
            <a:spAutoFit/>
          </a:bodyPr>
          <a:lstStyle/>
          <a:p>
            <a:pPr algn="l">
              <a:spcAft>
                <a:spcPts val="0"/>
              </a:spcAft>
            </a:pPr>
            <a:r>
              <a:rPr sz="900" b="0" i="1">
                <a:solidFill>
                  <a:srgbClr val="5E6370"/>
                </a:solidFill>
                <a:latin typeface="Encode Sans ExpandedLight"/>
              </a:rPr>
              <a:t>Recall and J.D. Power figures beyond Reuters to be verified on NHTSA; allegations in Texas not proven. stellantis.com could not be opened directly.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Narrative architecture</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Title"/>
          <p:cNvSpPr txBox="1"/>
          <p:nvPr/>
        </p:nvSpPr>
        <p:spPr>
          <a:xfrm>
            <a:off x="612648" y="1024128"/>
            <a:ext cx="10972800" cy="548640"/>
          </a:xfrm>
          <a:prstGeom prst="rect">
            <a:avLst/>
          </a:prstGeom>
          <a:noFill/>
        </p:spPr>
        <p:txBody>
          <a:bodyPr wrap="square" lIns="0" rIns="0" tIns="0" bIns="0" anchor="t">
            <a:spAutoFit/>
          </a:bodyPr>
          <a:lstStyle/>
          <a:p>
            <a:pPr algn="l">
              <a:spcAft>
                <a:spcPts val="0"/>
              </a:spcAft>
            </a:pPr>
            <a:r>
              <a:rPr sz="1800" b="1" i="0">
                <a:solidFill>
                  <a:srgbClr val="243782"/>
                </a:solidFill>
                <a:latin typeface="Encode Sans Expanded"/>
              </a:rPr>
              <a:t>One promise, four kinds of proof: make the transition affordable and prove it with numbers</a:t>
            </a:r>
          </a:p>
        </p:txBody>
      </p:sp>
      <p:graphicFrame>
        <p:nvGraphicFramePr>
          <p:cNvPr id="7" name="Table 6"/>
          <p:cNvGraphicFramePr>
            <a:graphicFrameLocks noGrp="1"/>
          </p:cNvGraphicFramePr>
          <p:nvPr/>
        </p:nvGraphicFramePr>
        <p:xfrm>
          <a:off x="612648" y="1783080"/>
          <a:ext cx="10972800" cy="3200400"/>
        </p:xfrm>
        <a:graphic>
          <a:graphicData uri="http://schemas.openxmlformats.org/drawingml/2006/table">
            <a:tbl>
              <a:tblPr firstRow="1" bandRow="1">
                <a:tableStyleId>{5C22544A-7EE6-4342-B048-85BDC9FD1C3A}</a:tableStyleId>
              </a:tblPr>
              <a:tblGrid>
                <a:gridCol w="1463040"/>
                <a:gridCol w="2194560"/>
                <a:gridCol w="2194560"/>
                <a:gridCol w="3291840"/>
                <a:gridCol w="1828800"/>
              </a:tblGrid>
              <a:tr h="365760">
                <a:tc>
                  <a:txBody>
                    <a:bodyPr/>
                    <a:lstStyle/>
                    <a:p>
                      <a:r>
                        <a:rPr sz="1050" b="1" i="0">
                          <a:solidFill>
                            <a:srgbClr val="FFFFFF"/>
                          </a:solidFill>
                          <a:latin typeface="Encode Sans Expanded"/>
                        </a:rPr>
                        <a:t>Stakeholder</a:t>
                      </a:r>
                    </a:p>
                  </a:txBody>
                  <a:tcPr marL="73152" marR="73152" anchor="ctr">
                    <a:solidFill>
                      <a:srgbClr val="243782"/>
                    </a:solidFill>
                  </a:tcPr>
                </a:tc>
                <a:tc>
                  <a:txBody>
                    <a:bodyPr/>
                    <a:lstStyle/>
                    <a:p>
                      <a:r>
                        <a:rPr sz="1050" b="1" i="0">
                          <a:solidFill>
                            <a:srgbClr val="FFFFFF"/>
                          </a:solidFill>
                          <a:latin typeface="Encode Sans Expanded"/>
                        </a:rPr>
                        <a:t>Lead territory</a:t>
                      </a:r>
                    </a:p>
                  </a:txBody>
                  <a:tcPr marL="73152" marR="73152" anchor="ctr">
                    <a:solidFill>
                      <a:srgbClr val="243782"/>
                    </a:solidFill>
                  </a:tcPr>
                </a:tc>
                <a:tc>
                  <a:txBody>
                    <a:bodyPr/>
                    <a:lstStyle/>
                    <a:p>
                      <a:r>
                        <a:rPr sz="1050" b="1" i="0">
                          <a:solidFill>
                            <a:srgbClr val="FFFFFF"/>
                          </a:solidFill>
                          <a:latin typeface="Encode Sans Expanded"/>
                        </a:rPr>
                        <a:t>Support territory</a:t>
                      </a:r>
                    </a:p>
                  </a:txBody>
                  <a:tcPr marL="73152" marR="73152" anchor="ctr">
                    <a:solidFill>
                      <a:srgbClr val="243782"/>
                    </a:solidFill>
                  </a:tcPr>
                </a:tc>
                <a:tc>
                  <a:txBody>
                    <a:bodyPr/>
                    <a:lstStyle/>
                    <a:p>
                      <a:r>
                        <a:rPr sz="1050" b="1" i="0">
                          <a:solidFill>
                            <a:srgbClr val="FFFFFF"/>
                          </a:solidFill>
                          <a:latin typeface="Encode Sans Expanded"/>
                        </a:rPr>
                        <a:t>Main proof</a:t>
                      </a:r>
                    </a:p>
                  </a:txBody>
                  <a:tcPr marL="73152" marR="73152" anchor="ctr">
                    <a:solidFill>
                      <a:srgbClr val="243782"/>
                    </a:solidFill>
                  </a:tcPr>
                </a:tc>
                <a:tc>
                  <a:txBody>
                    <a:bodyPr/>
                    <a:lstStyle/>
                    <a:p>
                      <a:r>
                        <a:rPr sz="1050" b="1" i="0">
                          <a:solidFill>
                            <a:srgbClr val="FFFFFF"/>
                          </a:solidFill>
                          <a:latin typeface="Encode Sans Expanded"/>
                        </a:rPr>
                        <a:t>Format</a:t>
                      </a:r>
                    </a:p>
                  </a:txBody>
                  <a:tcPr marL="73152" marR="73152" anchor="ctr">
                    <a:solidFill>
                      <a:srgbClr val="243782"/>
                    </a:solidFill>
                  </a:tcPr>
                </a:tc>
              </a:tr>
              <a:tr h="566928">
                <a:tc>
                  <a:txBody>
                    <a:bodyPr/>
                    <a:lstStyle/>
                    <a:p>
                      <a:r>
                        <a:rPr sz="1050" b="1" i="0">
                          <a:solidFill>
                            <a:srgbClr val="243782"/>
                          </a:solidFill>
                          <a:latin typeface="Encode Sans Expanded"/>
                        </a:rPr>
                        <a:t>Investors</a:t>
                      </a:r>
                    </a:p>
                  </a:txBody>
                  <a:tcPr marL="73152" marR="73152" anchor="ctr">
                    <a:solidFill>
                      <a:srgbClr val="FFFFFF"/>
                    </a:solidFill>
                  </a:tcPr>
                </a:tc>
                <a:tc>
                  <a:txBody>
                    <a:bodyPr/>
                    <a:lstStyle/>
                    <a:p>
                      <a:r>
                        <a:rPr sz="1050" b="0" i="0">
                          <a:solidFill>
                            <a:srgbClr val="272B35"/>
                          </a:solidFill>
                          <a:latin typeface="Encode Sans ExpandedLight"/>
                        </a:rPr>
                        <a:t>Transparency &amp; Accountability</a:t>
                      </a:r>
                    </a:p>
                  </a:txBody>
                  <a:tcPr marL="73152" marR="73152" anchor="ctr">
                    <a:solidFill>
                      <a:srgbClr val="FFFFFF"/>
                    </a:solidFill>
                  </a:tcPr>
                </a:tc>
                <a:tc>
                  <a:txBody>
                    <a:bodyPr/>
                    <a:lstStyle/>
                    <a:p>
                      <a:r>
                        <a:rPr sz="1050" b="0" i="0">
                          <a:solidFill>
                            <a:srgbClr val="272B35"/>
                          </a:solidFill>
                          <a:latin typeface="Encode Sans ExpandedLight"/>
                        </a:rPr>
                        <a:t>Environmental Transformation</a:t>
                      </a:r>
                    </a:p>
                  </a:txBody>
                  <a:tcPr marL="73152" marR="73152" anchor="ctr">
                    <a:solidFill>
                      <a:srgbClr val="FFFFFF"/>
                    </a:solidFill>
                  </a:tcPr>
                </a:tc>
                <a:tc>
                  <a:txBody>
                    <a:bodyPr/>
                    <a:lstStyle/>
                    <a:p>
                      <a:r>
                        <a:rPr sz="1050" b="0" i="0">
                          <a:solidFill>
                            <a:srgbClr val="272B35"/>
                          </a:solidFill>
                          <a:latin typeface="Encode Sans ExpandedLight"/>
                        </a:rPr>
                        <a:t>Versioned transition plan, impact score, SUSTAINera KPIs</a:t>
                      </a:r>
                    </a:p>
                  </a:txBody>
                  <a:tcPr marL="73152" marR="73152" anchor="ctr">
                    <a:solidFill>
                      <a:srgbClr val="FFFFFF"/>
                    </a:solidFill>
                  </a:tcPr>
                </a:tc>
                <a:tc>
                  <a:txBody>
                    <a:bodyPr/>
                    <a:lstStyle/>
                    <a:p>
                      <a:r>
                        <a:rPr sz="1050" b="0" i="0">
                          <a:solidFill>
                            <a:srgbClr val="272B35"/>
                          </a:solidFill>
                          <a:latin typeface="Encode Sans ExpandedLight"/>
                        </a:rPr>
                        <a:t>Investor Day, half-year results</a:t>
                      </a:r>
                    </a:p>
                  </a:txBody>
                  <a:tcPr marL="73152" marR="73152" anchor="ctr">
                    <a:solidFill>
                      <a:srgbClr val="FFFFFF"/>
                    </a:solidFill>
                  </a:tcPr>
                </a:tc>
              </a:tr>
              <a:tr h="566928">
                <a:tc>
                  <a:txBody>
                    <a:bodyPr/>
                    <a:lstStyle/>
                    <a:p>
                      <a:r>
                        <a:rPr sz="1050" b="1" i="0">
                          <a:solidFill>
                            <a:srgbClr val="243782"/>
                          </a:solidFill>
                          <a:latin typeface="Encode Sans Expanded"/>
                        </a:rPr>
                        <a:t>Customers</a:t>
                      </a:r>
                    </a:p>
                  </a:txBody>
                  <a:tcPr marL="73152" marR="73152" anchor="ctr">
                    <a:solidFill>
                      <a:srgbClr val="EEF0FA"/>
                    </a:solidFill>
                  </a:tcPr>
                </a:tc>
                <a:tc>
                  <a:txBody>
                    <a:bodyPr/>
                    <a:lstStyle/>
                    <a:p>
                      <a:r>
                        <a:rPr sz="1050" b="0" i="0">
                          <a:solidFill>
                            <a:srgbClr val="272B35"/>
                          </a:solidFill>
                          <a:latin typeface="Encode Sans ExpandedLight"/>
                        </a:rPr>
                        <a:t>Customer Trust</a:t>
                      </a:r>
                    </a:p>
                  </a:txBody>
                  <a:tcPr marL="73152" marR="73152" anchor="ctr">
                    <a:solidFill>
                      <a:srgbClr val="EEF0FA"/>
                    </a:solidFill>
                  </a:tcPr>
                </a:tc>
                <a:tc>
                  <a:txBody>
                    <a:bodyPr/>
                    <a:lstStyle/>
                    <a:p>
                      <a:r>
                        <a:rPr sz="1050" b="0" i="0">
                          <a:solidFill>
                            <a:srgbClr val="272B35"/>
                          </a:solidFill>
                          <a:latin typeface="Encode Sans ExpandedLight"/>
                        </a:rPr>
                        <a:t>Fair Transition</a:t>
                      </a:r>
                    </a:p>
                  </a:txBody>
                  <a:tcPr marL="73152" marR="73152" anchor="ctr">
                    <a:solidFill>
                      <a:srgbClr val="EEF0FA"/>
                    </a:solidFill>
                  </a:tcPr>
                </a:tc>
                <a:tc>
                  <a:txBody>
                    <a:bodyPr/>
                    <a:lstStyle/>
                    <a:p>
                      <a:r>
                        <a:rPr sz="1050" b="0" i="0">
                          <a:solidFill>
                            <a:srgbClr val="272B35"/>
                          </a:solidFill>
                          <a:latin typeface="Encode Sans ExpandedLight"/>
                        </a:rPr>
                        <a:t>Orderable price and payment, Data Promise, battery certificate</a:t>
                      </a:r>
                    </a:p>
                  </a:txBody>
                  <a:tcPr marL="73152" marR="73152" anchor="ctr">
                    <a:solidFill>
                      <a:srgbClr val="EEF0FA"/>
                    </a:solidFill>
                  </a:tcPr>
                </a:tc>
                <a:tc>
                  <a:txBody>
                    <a:bodyPr/>
                    <a:lstStyle/>
                    <a:p>
                      <a:r>
                        <a:rPr sz="1050" b="0" i="0">
                          <a:solidFill>
                            <a:srgbClr val="272B35"/>
                          </a:solidFill>
                          <a:latin typeface="Encode Sans ExpandedLight"/>
                        </a:rPr>
                        <a:t>Product pages, configurator, dealers</a:t>
                      </a:r>
                    </a:p>
                  </a:txBody>
                  <a:tcPr marL="73152" marR="73152" anchor="ctr">
                    <a:solidFill>
                      <a:srgbClr val="EEF0FA"/>
                    </a:solidFill>
                  </a:tcPr>
                </a:tc>
              </a:tr>
              <a:tr h="566928">
                <a:tc>
                  <a:txBody>
                    <a:bodyPr/>
                    <a:lstStyle/>
                    <a:p>
                      <a:r>
                        <a:rPr sz="1050" b="1" i="0">
                          <a:solidFill>
                            <a:srgbClr val="243782"/>
                          </a:solidFill>
                          <a:latin typeface="Encode Sans Expanded"/>
                        </a:rPr>
                        <a:t>Employees</a:t>
                      </a:r>
                    </a:p>
                  </a:txBody>
                  <a:tcPr marL="73152" marR="73152" anchor="ctr">
                    <a:solidFill>
                      <a:srgbClr val="FFFFFF"/>
                    </a:solidFill>
                  </a:tcPr>
                </a:tc>
                <a:tc>
                  <a:txBody>
                    <a:bodyPr/>
                    <a:lstStyle/>
                    <a:p>
                      <a:r>
                        <a:rPr sz="1050" b="0" i="0">
                          <a:solidFill>
                            <a:srgbClr val="272B35"/>
                          </a:solidFill>
                          <a:latin typeface="Encode Sans ExpandedLight"/>
                        </a:rPr>
                        <a:t>Fair Transition</a:t>
                      </a:r>
                    </a:p>
                  </a:txBody>
                  <a:tcPr marL="73152" marR="73152" anchor="ctr">
                    <a:solidFill>
                      <a:srgbClr val="FFFFFF"/>
                    </a:solidFill>
                  </a:tcPr>
                </a:tc>
                <a:tc>
                  <a:txBody>
                    <a:bodyPr/>
                    <a:lstStyle/>
                    <a:p>
                      <a:r>
                        <a:rPr sz="1050" b="0" i="0">
                          <a:solidFill>
                            <a:srgbClr val="272B35"/>
                          </a:solidFill>
                          <a:latin typeface="Encode Sans ExpandedLight"/>
                        </a:rPr>
                        <a:t>Customer Trust (quality)</a:t>
                      </a:r>
                    </a:p>
                  </a:txBody>
                  <a:tcPr marL="73152" marR="73152" anchor="ctr">
                    <a:solidFill>
                      <a:srgbClr val="FFFFFF"/>
                    </a:solidFill>
                  </a:tcPr>
                </a:tc>
                <a:tc>
                  <a:txBody>
                    <a:bodyPr/>
                    <a:lstStyle/>
                    <a:p>
                      <a:r>
                        <a:rPr sz="1050" b="0" i="0">
                          <a:solidFill>
                            <a:srgbClr val="272B35"/>
                          </a:solidFill>
                          <a:latin typeface="Encode Sans ExpandedLight"/>
                        </a:rPr>
                        <a:t>Reskilling hours, people trained, Shares to Win</a:t>
                      </a:r>
                    </a:p>
                  </a:txBody>
                  <a:tcPr marL="73152" marR="73152" anchor="ctr">
                    <a:solidFill>
                      <a:srgbClr val="FFFFFF"/>
                    </a:solidFill>
                  </a:tcPr>
                </a:tc>
                <a:tc>
                  <a:txBody>
                    <a:bodyPr/>
                    <a:lstStyle/>
                    <a:p>
                      <a:r>
                        <a:rPr sz="1050" b="0" i="0">
                          <a:solidFill>
                            <a:srgbClr val="272B35"/>
                          </a:solidFill>
                          <a:latin typeface="Encode Sans ExpandedLight"/>
                        </a:rPr>
                        <a:t>Intranet, plant stories, ambassadors</a:t>
                      </a:r>
                    </a:p>
                  </a:txBody>
                  <a:tcPr marL="73152" marR="73152" anchor="ctr">
                    <a:solidFill>
                      <a:srgbClr val="FFFFFF"/>
                    </a:solidFill>
                  </a:tcPr>
                </a:tc>
              </a:tr>
              <a:tr h="566928">
                <a:tc>
                  <a:txBody>
                    <a:bodyPr/>
                    <a:lstStyle/>
                    <a:p>
                      <a:r>
                        <a:rPr sz="1050" b="1" i="0">
                          <a:solidFill>
                            <a:srgbClr val="243782"/>
                          </a:solidFill>
                          <a:latin typeface="Encode Sans Expanded"/>
                        </a:rPr>
                        <a:t>Regulators, NGOs</a:t>
                      </a:r>
                    </a:p>
                  </a:txBody>
                  <a:tcPr marL="73152" marR="73152" anchor="ctr">
                    <a:solidFill>
                      <a:srgbClr val="EEF0FA"/>
                    </a:solidFill>
                  </a:tcPr>
                </a:tc>
                <a:tc>
                  <a:txBody>
                    <a:bodyPr/>
                    <a:lstStyle/>
                    <a:p>
                      <a:r>
                        <a:rPr sz="1050" b="0" i="0">
                          <a:solidFill>
                            <a:srgbClr val="272B35"/>
                          </a:solidFill>
                          <a:latin typeface="Encode Sans ExpandedLight"/>
                        </a:rPr>
                        <a:t>Transparency &amp; Accountability</a:t>
                      </a:r>
                    </a:p>
                  </a:txBody>
                  <a:tcPr marL="73152" marR="73152" anchor="ctr">
                    <a:solidFill>
                      <a:srgbClr val="EEF0FA"/>
                    </a:solidFill>
                  </a:tcPr>
                </a:tc>
                <a:tc>
                  <a:txBody>
                    <a:bodyPr/>
                    <a:lstStyle/>
                    <a:p>
                      <a:r>
                        <a:rPr sz="1050" b="0" i="0">
                          <a:solidFill>
                            <a:srgbClr val="272B35"/>
                          </a:solidFill>
                          <a:latin typeface="Encode Sans ExpandedLight"/>
                        </a:rPr>
                        <a:t>Environmental Transformation</a:t>
                      </a:r>
                    </a:p>
                  </a:txBody>
                  <a:tcPr marL="73152" marR="73152" anchor="ctr">
                    <a:solidFill>
                      <a:srgbClr val="EEF0FA"/>
                    </a:solidFill>
                  </a:tcPr>
                </a:tc>
                <a:tc>
                  <a:txBody>
                    <a:bodyPr/>
                    <a:lstStyle/>
                    <a:p>
                      <a:r>
                        <a:rPr sz="1050" b="0" i="0">
                          <a:solidFill>
                            <a:srgbClr val="272B35"/>
                          </a:solidFill>
                          <a:latin typeface="Encode Sans ExpandedLight"/>
                        </a:rPr>
                        <a:t>EmpCo-ready plan, critical minerals page</a:t>
                      </a:r>
                    </a:p>
                  </a:txBody>
                  <a:tcPr marL="73152" marR="73152" anchor="ctr">
                    <a:solidFill>
                      <a:srgbClr val="EEF0FA"/>
                    </a:solidFill>
                  </a:tcPr>
                </a:tc>
                <a:tc>
                  <a:txBody>
                    <a:bodyPr/>
                    <a:lstStyle/>
                    <a:p>
                      <a:r>
                        <a:rPr sz="1050" b="0" i="0">
                          <a:solidFill>
                            <a:srgbClr val="272B35"/>
                          </a:solidFill>
                          <a:latin typeface="Encode Sans ExpandedLight"/>
                        </a:rPr>
                        <a:t>Corporate hub, public answers</a:t>
                      </a:r>
                    </a:p>
                  </a:txBody>
                  <a:tcPr marL="73152" marR="73152" anchor="ctr">
                    <a:solidFill>
                      <a:srgbClr val="EEF0FA"/>
                    </a:solidFill>
                  </a:tcPr>
                </a:tc>
              </a:tr>
              <a:tr h="566928">
                <a:tc>
                  <a:txBody>
                    <a:bodyPr/>
                    <a:lstStyle/>
                    <a:p>
                      <a:r>
                        <a:rPr sz="1050" b="1" i="0">
                          <a:solidFill>
                            <a:srgbClr val="243782"/>
                          </a:solidFill>
                          <a:latin typeface="Encode Sans Expanded"/>
                        </a:rPr>
                        <a:t>Markets</a:t>
                      </a:r>
                    </a:p>
                  </a:txBody>
                  <a:tcPr marL="73152" marR="73152" anchor="ctr">
                    <a:solidFill>
                      <a:srgbClr val="FFFFFF"/>
                    </a:solidFill>
                  </a:tcPr>
                </a:tc>
                <a:tc>
                  <a:txBody>
                    <a:bodyPr/>
                    <a:lstStyle/>
                    <a:p>
                      <a:r>
                        <a:rPr sz="1050" b="0" i="0">
                          <a:solidFill>
                            <a:srgbClr val="272B35"/>
                          </a:solidFill>
                          <a:latin typeface="Encode Sans ExpandedLight"/>
                        </a:rPr>
                        <a:t>Varies by market</a:t>
                      </a:r>
                    </a:p>
                  </a:txBody>
                  <a:tcPr marL="73152" marR="73152" anchor="ctr">
                    <a:solidFill>
                      <a:srgbClr val="FFFFFF"/>
                    </a:solidFill>
                  </a:tcPr>
                </a:tc>
                <a:tc>
                  <a:txBody>
                    <a:bodyPr/>
                    <a:lstStyle/>
                    <a:p>
                      <a:r>
                        <a:rPr sz="1050" b="0" i="0">
                          <a:solidFill>
                            <a:srgbClr val="272B35"/>
                          </a:solidFill>
                          <a:latin typeface="Encode Sans ExpandedLight"/>
                        </a:rPr>
                        <a:t/>
                      </a:r>
                    </a:p>
                  </a:txBody>
                  <a:tcPr marL="73152" marR="73152" anchor="ctr">
                    <a:solidFill>
                      <a:srgbClr val="FFFFFF"/>
                    </a:solidFill>
                  </a:tcPr>
                </a:tc>
                <a:tc>
                  <a:txBody>
                    <a:bodyPr/>
                    <a:lstStyle/>
                    <a:p>
                      <a:r>
                        <a:rPr sz="1050" b="0" i="0">
                          <a:solidFill>
                            <a:srgbClr val="272B35"/>
                          </a:solidFill>
                          <a:latin typeface="Encode Sans ExpandedLight"/>
                        </a:rPr>
                        <a:t>France social leasing; Italy Pomigliano; US quality and UAW; Brazil Bio-Hybrid</a:t>
                      </a:r>
                    </a:p>
                  </a:txBody>
                  <a:tcPr marL="73152" marR="73152" anchor="ctr">
                    <a:solidFill>
                      <a:srgbClr val="FFFFFF"/>
                    </a:solidFill>
                  </a:tcPr>
                </a:tc>
                <a:tc>
                  <a:txBody>
                    <a:bodyPr/>
                    <a:lstStyle/>
                    <a:p>
                      <a:r>
                        <a:rPr sz="1050" b="0" i="0">
                          <a:solidFill>
                            <a:srgbClr val="272B35"/>
                          </a:solidFill>
                          <a:latin typeface="Encode Sans ExpandedLight"/>
                        </a:rPr>
                        <a:t>Local versions of the same index</a:t>
                      </a:r>
                    </a:p>
                  </a:txBody>
                  <a:tcPr marL="73152" marR="73152" anchor="ctr">
                    <a:solidFill>
                      <a:srgbClr val="FFFFFF"/>
                    </a:solidFill>
                  </a:tcPr>
                </a:tc>
              </a:tr>
            </a:tbl>
          </a:graphicData>
        </a:graphic>
      </p:graphicFrame>
      <p:sp>
        <p:nvSpPr>
          <p:cNvPr id="8" name="HR role"/>
          <p:cNvSpPr/>
          <p:nvPr/>
        </p:nvSpPr>
        <p:spPr>
          <a:xfrm>
            <a:off x="612648" y="5486400"/>
            <a:ext cx="10972800" cy="685800"/>
          </a:xfrm>
          <a:prstGeom prst="roundRect">
            <a:avLst>
              <a:gd name="adj" fmla="val 5000"/>
            </a:avLst>
          </a:prstGeom>
          <a:solidFill>
            <a:srgbClr val="FC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R role text"/>
          <p:cNvSpPr txBox="1"/>
          <p:nvPr/>
        </p:nvSpPr>
        <p:spPr>
          <a:xfrm>
            <a:off x="822960" y="5559552"/>
            <a:ext cx="10607040" cy="548640"/>
          </a:xfrm>
          <a:prstGeom prst="rect">
            <a:avLst/>
          </a:prstGeom>
          <a:noFill/>
        </p:spPr>
        <p:txBody>
          <a:bodyPr wrap="square" lIns="0" rIns="0" tIns="0" bIns="0" anchor="ctr">
            <a:spAutoFit/>
          </a:bodyPr>
          <a:lstStyle/>
          <a:p>
            <a:pPr algn="l">
              <a:spcAft>
                <a:spcPts val="0"/>
              </a:spcAft>
            </a:pPr>
            <a:r>
              <a:rPr sz="1200" b="1" i="0">
                <a:solidFill>
                  <a:srgbClr val="E94E24"/>
                </a:solidFill>
                <a:latin typeface="Encode Sans Expanded"/>
              </a:rPr>
              <a:t>HR Communication leads, not supports: </a:t>
            </a:r>
            <a:r>
              <a:rPr sz="1200" b="0" i="0">
                <a:solidFill>
                  <a:srgbClr val="272B35"/>
                </a:solidFill>
                <a:latin typeface="Encode Sans ExpandedLight"/>
              </a:rPr>
              <a:t>reskilling becomes a public counter, Motor Citizens gives the faces, Shares to Win lets the people who build the affordable car co-own it.</a:t>
            </a:r>
          </a:p>
        </p:txBody>
      </p:sp>
    </p:spTree>
  </p:cSld>
  <p:clrMapOvr>
    <a:masterClrMapping/>
  </p:clrMapOvr>
</p:sld>
</file>

<file path=ppt/theme/theme1.xml><?xml version="1.0" encoding="utf-8"?>
<a:theme xmlns:a="http://schemas.openxmlformats.org/drawingml/2006/main" name="1_Stellantis - Chapter blue">
  <a:themeElements>
    <a:clrScheme name="Stellantis">
      <a:dk1>
        <a:srgbClr val="272B35"/>
      </a:dk1>
      <a:lt1>
        <a:sysClr val="window" lastClr="FFFFFF"/>
      </a:lt1>
      <a:dk2>
        <a:srgbClr val="243782"/>
      </a:dk2>
      <a:lt2>
        <a:srgbClr val="EEECE1"/>
      </a:lt2>
      <a:accent1>
        <a:srgbClr val="243782"/>
      </a:accent1>
      <a:accent2>
        <a:srgbClr val="E94E24"/>
      </a:accent2>
      <a:accent3>
        <a:srgbClr val="00ADA0"/>
      </a:accent3>
      <a:accent4>
        <a:srgbClr val="F7A600"/>
      </a:accent4>
      <a:accent5>
        <a:srgbClr val="272B35"/>
      </a:accent5>
      <a:accent6>
        <a:srgbClr val="00DDCD"/>
      </a:accent6>
      <a:hlink>
        <a:srgbClr val="243782"/>
      </a:hlink>
      <a:folHlink>
        <a:srgbClr val="272B35"/>
      </a:folHlink>
    </a:clrScheme>
    <a:fontScheme name="Stellantis PowerPoint">
      <a:majorFont>
        <a:latin typeface="Encode Sans ExpandedSemiBold"/>
        <a:ea typeface=""/>
        <a:cs typeface=""/>
      </a:majorFont>
      <a:minorFont>
        <a:latin typeface="Encode Sans Expanded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ellantis MAJ Template PowerPoint 16-9 v6.potx" id="{6D4861F8-6CFD-4766-879B-EB53A8634C9E}" vid="{29660903-2CB7-4750-896F-355319F97F9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ada0a2f-b917-4d51-b0d0-d418a10c8b23}" enabled="1" method="Standard" siteId="{12a3af23-a769-4654-847f-958f3d479f4a}" contentBits="0" removed="0"/>
</clbl:labelList>
</file>

<file path=docProps/app.xml><?xml version="1.0" encoding="utf-8"?>
<Properties xmlns="http://schemas.openxmlformats.org/officeDocument/2006/extended-properties" xmlns:vt="http://schemas.openxmlformats.org/officeDocument/2006/docPropsVTypes">
  <TotalTime>3</TotalTime>
  <Words>88</Words>
  <Application>Microsoft Macintosh PowerPoint</Application>
  <PresentationFormat>Widescreen</PresentationFormat>
  <Paragraphs>56</Paragraphs>
  <Slides>6</Slides>
  <Notes>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6</vt:i4>
      </vt:variant>
    </vt:vector>
  </HeadingPairs>
  <TitlesOfParts>
    <vt:vector size="19" baseType="lpstr">
      <vt:lpstr>Aptos</vt:lpstr>
      <vt:lpstr>Arial</vt:lpstr>
      <vt:lpstr>Calibri</vt:lpstr>
      <vt:lpstr>Encode Sans</vt:lpstr>
      <vt:lpstr>Encode Sans Expanded</vt:lpstr>
      <vt:lpstr>Encode Sans Expanded Expanded</vt:lpstr>
      <vt:lpstr>Encode Sans Expanded Expanded L</vt:lpstr>
      <vt:lpstr>Encode Sans Expanded Expanded S</vt:lpstr>
      <vt:lpstr>Encode Sans Expanded Light</vt:lpstr>
      <vt:lpstr>Encode Sans ExpandedLight</vt:lpstr>
      <vt:lpstr>Encode Sans ExpandedSemiBold</vt:lpstr>
      <vt:lpstr>Work Sans SemiBold</vt:lpstr>
      <vt:lpstr>1_Stellantis - Chapter blue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Belluardo,Gabriele,ES-Esplugues Llobregat</dc:creator>
  <cp:lastModifiedBy>Belluardo,Gabriele,ES-Esplugues Llobregat</cp:lastModifiedBy>
  <cp:revision>1</cp:revision>
  <dcterms:created xsi:type="dcterms:W3CDTF">2026-10-14T10:14:03Z</dcterms:created>
  <dcterms:modified xsi:type="dcterms:W3CDTF">2026-10-14T10:17:26Z</dcterms:modified>
</cp:coreProperties>
</file>