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1093" r:id="rId2"/>
    <p:sldId id="1094" r:id="rId3"/>
    <p:sldId id="1115" r:id="rId5"/>
    <p:sldId id="1117" r:id="rId13"/>
    <p:sldId id="1118" r:id="rId14"/>
    <p:sldId id="1119" r:id="rId15"/>
    <p:sldId id="1120" r:id="rId16"/>
    <p:sldId id="1121" r:id="rId17"/>
    <p:sldId id="1122" r:id="rId18"/>
    <p:sldId id="1123" r:id="rId19"/>
    <p:sldId id="1124" r:id="rId20"/>
    <p:sldId id="1125" r:id="rId21"/>
    <p:sldId id="1126" r:id="rId22"/>
    <p:sldId id="111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76"/>
  </p:normalViewPr>
  <p:slideViewPr>
    <p:cSldViewPr snapToGrid="0">
      <p:cViewPr varScale="1">
        <p:scale>
          <a:sx n="102" d="100"/>
          <a:sy n="102" d="100"/>
        </p:scale>
        <p:origin x="192" y="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FFDD16-F13B-A44B-8DF9-99A422E2EC0F}" type="datetimeFigureOut">
              <a:rPr lang="en-GB" smtClean="0"/>
              <a:t>14/10/2026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3043EA-61BB-5748-A937-A87EBBDAB119}" type="slidenum">
              <a:rPr lang="en-GB" smtClean="0"/>
              <a:t>‹#›</a:t>
            </a:fld>
            <a:endParaRPr lang="en-GB"/>
          </a:p>
        </p:txBody>
      </p:sp>
    </p:spTree>
    <p:extLst>
      <p:ext uri="{BB962C8B-B14F-4D97-AF65-F5344CB8AC3E}">
        <p14:creationId xmlns:p14="http://schemas.microsoft.com/office/powerpoint/2010/main" val="3937969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4B176-FF3E-C91B-9DB1-10BF8E99F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032B6D-2627-077E-40E3-DC3BDF3884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D84573-1FBD-88B8-E67B-3EDE6B2C6CD9}"/>
              </a:ext>
            </a:extLst>
          </p:cNvPr>
          <p:cNvSpPr>
            <a:spLocks noGrp="1"/>
          </p:cNvSpPr>
          <p:nvPr>
            <p:ph type="body" idx="1"/>
          </p:nvPr>
        </p:nvSpPr>
        <p:spPr/>
        <p:txBody>
          <a:bodyPr/>
          <a:lstStyle/>
          <a:p>
            <a:r>
              <a:t>One research area in this deck: the global sustainability narrative, read through overall corporate storytelling. The sub-items are the sections of the deck.</a:t>
            </a:r>
          </a:p>
        </p:txBody>
      </p:sp>
      <p:sp>
        <p:nvSpPr>
          <p:cNvPr id="4" name="Slide Number Placeholder 3">
            <a:extLst>
              <a:ext uri="{FF2B5EF4-FFF2-40B4-BE49-F238E27FC236}">
                <a16:creationId xmlns:a16="http://schemas.microsoft.com/office/drawing/2014/main" id="{60BDCCC4-CF54-E0A6-CA53-086967F257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3C8274-9BE6-C443-AB18-1D7E1CA168A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9975868"/>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deep-dive on the global sustainability narrative, focused on overall corporate storytelling: organising idea, narrative arc, hub architecture, stakeholder layers, link to business strategy, consistency over time. Reference case named by the client team: Volkswagen Group's sustainability hub.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from the ESG and HR Communication teams: make sustainability communication simpler, more visual, more engaging and connected to business strategy. This section answers it through overall storytelling, with Volkswagen Group's hub as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2026 the consistency of a sustainability narrative is tested above all when a target changes. Almost every carmaker revised a target in 2024-2026: frameworks built on impact areas held, frameworks built on an end date suffered.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VW's strength is architecture, not aesthetics. Each dimension has three Top-KPIs; since October 2024 the external Sustainability Council is split into four Practice Groups, one per dimension; next to the ESRS statement VW publishes a narrative report with the same name. An executive: “It has to make business sense, it's not philanthropic.” Progress figures circulating (Decarbonization Index 46.3 t CO2e per vehicle in 2025 vs 48.5 target) come from secondary sources. Visual to capture: top of https://www.volkswagen-group.com/en/sustainability-15772 with regenerate+ and the four dimensions; Top-KPI table in the ESRS 2025 PDF.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Mercedes: hub, six strategic areas (Environment &amp; Climate, Resources &amp; Circularity, Human Rights, Traffic Safety, Digital Trust, People), Ambition 2039 since 2019, 360° Environmental Check per model, investor ESG page with CTAP 2025. Watch-out: six areas are hard to remember and Ambition 2039 is built on a date, already weakened in 2024. Visuals: group.mercedes-benz.com/sustainability/six-strategic-areas.html and the Ambition 2039 page.</a:t>
            </a:r>
          </a:p>
          <a:p>
            <a:r>
              <a:t>Toyota: New Vehicle Zero CO2, Life Cycle Zero CO2, Plant Zero CO2, Water, Recycling-based society, Society in harmony with nature. Watch-out: 2026 global hub not verified; NGO criticism of the multi-pathway strategy to be checked. Visual: toyota.co.uk Environmental Challenge 2050 icon set.</a:t>
            </a:r>
          </a:p>
          <a:p>
            <a:r>
              <a:t>Renault: today SUSTAINera is a line on the net zero “Vehicles” page with “up to 80%/50%” claims that EmpCo puts at risk; replace with specific LCA values. Visual: renaultgroup.com brands &amp; entities menu.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Microsoft: the only hub we could read in full (October 2026). Proof numbers are self-reported (100% renewable electricity match, 14.2m m3 water replenished, 92% server reuse and recycling). Watch-out: criticism over a gas deal with Chevron; a good hub does not close the say-do gap. Visual: microsoft.com/en-us/corporate-responsibility/sustainability hero and progress cards.</a:t>
            </a:r>
          </a:p>
          <a:p>
            <a:r>
              <a:t>Schneider: 862 MtCO2 avoided for customers vs an 800 Mt ambition (self-reported). Watch-out: weight in bonuses not verified; composite indices need public sub-indicators.</a:t>
            </a:r>
          </a:p>
          <a:p>
            <a:r>
              <a:t>Patagonia: FY25 footprint 182,646 tCO2e (+2%); 100% preferred-materials goal missed (about 84-86%). Chief impact officer: “a transparency tool, not a victory lap”. Watch-out: candour works only when backed by a concrete act.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Frameworks built on impact areas (Toyota, VW, Schneider) survive target changes better than those built on an end date (Ambition 2039, net zero 2038). The 2024-2026 credibility hits landed on dates: Mercedes and Volvo in 2024, Polestar 0 from 2030 to 2035, Stellantis from 2038 to 2050. A slogan alone (BYD) is the most memorable but the thinnest in depth.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Lundquist rates sustainability communication on two axes: substance (“the concreteness of a structured, transparent and integrated journey”) and distinctiveness (“the ability to tell a credible and authentic story”). Webranking: about 50 criteria, European average 47.1/100; Iberdrola sixth with 87.3 and an almost full sustainability section. WBCSD Reporting Matters 2025: a chapter on design and storytelling; 48% of reports CSRD-aligned. Bain: CEO rhetoric is shifting from moral value to business value.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EmpCo, corporate storytelling becomes a legal matter. The most relevant rule is the one on future-performance claims: a detailed, realistic public implementation plan with measurable targets, resources, governance and monitoring, regularly reviewed by an independent expert. The plan can sit on the corporate site, linked to the claim. The prudent reading is that the corporate hub is in scope.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visuals and localisation of stellantis.com were not assessed directly. Pages still indexed with 2038: “CSR Vision”, “An Ambitious Decarbonization Strategy” and the Brazilian mirror; not verified whether updated after May 2026. The 2025 Climate Policy Report explains the reset with “market dynamics and government policy”. Milano Finanza links it to write-downs of over €22bn.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own diagnosis, built on secondary sources: the Stellantis hub was not opened. The social story is exactly where, according to Comprend, all companies lag: a natural space for HR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principles come from the companion touchpoint benchmark and turn it into design criteria. The fourth answers the request for consistency over time: IONIQ Forest and LVMH LIFE 360 are multi-year group frames that each brand and market renews.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EmpCo, corporate storytelling becomes a legal matter; with the Omnibus the report becomes a strategic tool again; Webranking shows the social side is the weakest everywhere. Together they open a space that Stellantis' ESG and HR teams can occupy jointly. Before presenting: capture the visuals by hand (only Microsoft's hub could be opened), and check the ESG content of the FaSTLAne Investor Day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A69F4A-E475-F0B7-1FFB-258074F920B5}"/>
              </a:ext>
            </a:extLst>
          </p:cNvPr>
          <p:cNvSpPr/>
          <p:nvPr userDrawn="1"/>
        </p:nvSpPr>
        <p:spPr>
          <a:xfrm>
            <a:off x="-4172" y="-3176"/>
            <a:ext cx="12196171" cy="6861175"/>
          </a:xfrm>
          <a:prstGeom prst="rect">
            <a:avLst/>
          </a:prstGeom>
          <a:gradFill>
            <a:gsLst>
              <a:gs pos="20000">
                <a:srgbClr val="011845">
                  <a:alpha val="80000"/>
                </a:srgbClr>
              </a:gs>
              <a:gs pos="0">
                <a:srgbClr val="011845"/>
              </a:gs>
              <a:gs pos="100000">
                <a:schemeClr val="accent1">
                  <a:alpha val="0"/>
                </a:schemeClr>
              </a:gs>
            </a:gsLst>
            <a:lin ang="15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buClrTx/>
              <a:defRPr/>
            </a:pPr>
            <a:endParaRPr lang="fr-FR" sz="1800" kern="1200">
              <a:solidFill>
                <a:prstClr val="white"/>
              </a:solidFill>
              <a:latin typeface="Encode Sans ExpandedLight"/>
            </a:endParaRPr>
          </a:p>
        </p:txBody>
      </p:sp>
      <p:sp>
        <p:nvSpPr>
          <p:cNvPr id="4" name="Parallelogram 22">
            <a:extLst>
              <a:ext uri="{FF2B5EF4-FFF2-40B4-BE49-F238E27FC236}">
                <a16:creationId xmlns:a16="http://schemas.microsoft.com/office/drawing/2014/main" id="{2DFE77F4-468B-D729-08D3-5500FA4A0C9F}"/>
              </a:ext>
            </a:extLst>
          </p:cNvPr>
          <p:cNvSpPr/>
          <p:nvPr userDrawn="1"/>
        </p:nvSpPr>
        <p:spPr>
          <a:xfrm>
            <a:off x="-4171" y="-3176"/>
            <a:ext cx="5967314" cy="6867365"/>
          </a:xfrm>
          <a:custGeom>
            <a:avLst/>
            <a:gdLst>
              <a:gd name="connsiteX0" fmla="*/ 0 w 8345097"/>
              <a:gd name="connsiteY0" fmla="*/ 7086360 h 7086360"/>
              <a:gd name="connsiteX1" fmla="*/ 4731137 w 8345097"/>
              <a:gd name="connsiteY1" fmla="*/ 0 h 7086360"/>
              <a:gd name="connsiteX2" fmla="*/ 8345097 w 8345097"/>
              <a:gd name="connsiteY2" fmla="*/ 0 h 7086360"/>
              <a:gd name="connsiteX3" fmla="*/ 3613960 w 8345097"/>
              <a:gd name="connsiteY3" fmla="*/ 7086360 h 7086360"/>
              <a:gd name="connsiteX4" fmla="*/ 0 w 8345097"/>
              <a:gd name="connsiteY4" fmla="*/ 7086360 h 7086360"/>
              <a:gd name="connsiteX0" fmla="*/ 0 w 8345097"/>
              <a:gd name="connsiteY0" fmla="*/ 7097935 h 7097935"/>
              <a:gd name="connsiteX1" fmla="*/ 2381476 w 8345097"/>
              <a:gd name="connsiteY1" fmla="*/ 0 h 7097935"/>
              <a:gd name="connsiteX2" fmla="*/ 8345097 w 8345097"/>
              <a:gd name="connsiteY2" fmla="*/ 11575 h 7097935"/>
              <a:gd name="connsiteX3" fmla="*/ 3613960 w 8345097"/>
              <a:gd name="connsiteY3" fmla="*/ 7097935 h 7097935"/>
              <a:gd name="connsiteX4" fmla="*/ 0 w 8345097"/>
              <a:gd name="connsiteY4" fmla="*/ 7097935 h 7097935"/>
              <a:gd name="connsiteX0" fmla="*/ 0 w 8345097"/>
              <a:gd name="connsiteY0" fmla="*/ 7097935 h 7097935"/>
              <a:gd name="connsiteX1" fmla="*/ 2381476 w 8345097"/>
              <a:gd name="connsiteY1" fmla="*/ 0 h 7097935"/>
              <a:gd name="connsiteX2" fmla="*/ 8345097 w 8345097"/>
              <a:gd name="connsiteY2" fmla="*/ 11575 h 7097935"/>
              <a:gd name="connsiteX3" fmla="*/ 3752856 w 8345097"/>
              <a:gd name="connsiteY3" fmla="*/ 6889590 h 7097935"/>
              <a:gd name="connsiteX4" fmla="*/ 0 w 8345097"/>
              <a:gd name="connsiteY4" fmla="*/ 7097935 h 7097935"/>
              <a:gd name="connsiteX0" fmla="*/ 49207 w 5963621"/>
              <a:gd name="connsiteY0" fmla="*/ 6415028 h 6889590"/>
              <a:gd name="connsiteX1" fmla="*/ 0 w 5963621"/>
              <a:gd name="connsiteY1" fmla="*/ 0 h 6889590"/>
              <a:gd name="connsiteX2" fmla="*/ 5963621 w 5963621"/>
              <a:gd name="connsiteY2" fmla="*/ 11575 h 6889590"/>
              <a:gd name="connsiteX3" fmla="*/ 1371380 w 5963621"/>
              <a:gd name="connsiteY3" fmla="*/ 6889590 h 6889590"/>
              <a:gd name="connsiteX4" fmla="*/ 49207 w 5963621"/>
              <a:gd name="connsiteY4" fmla="*/ 6415028 h 6889590"/>
              <a:gd name="connsiteX0" fmla="*/ 2909 w 5963621"/>
              <a:gd name="connsiteY0" fmla="*/ 6866441 h 6889590"/>
              <a:gd name="connsiteX1" fmla="*/ 0 w 5963621"/>
              <a:gd name="connsiteY1" fmla="*/ 0 h 6889590"/>
              <a:gd name="connsiteX2" fmla="*/ 5963621 w 5963621"/>
              <a:gd name="connsiteY2" fmla="*/ 11575 h 6889590"/>
              <a:gd name="connsiteX3" fmla="*/ 1371380 w 5963621"/>
              <a:gd name="connsiteY3" fmla="*/ 6889590 h 6889590"/>
              <a:gd name="connsiteX4" fmla="*/ 2909 w 5963621"/>
              <a:gd name="connsiteY4" fmla="*/ 6866441 h 6889590"/>
              <a:gd name="connsiteX0" fmla="*/ 3 w 5960715"/>
              <a:gd name="connsiteY0" fmla="*/ 6854866 h 6878015"/>
              <a:gd name="connsiteX1" fmla="*/ 330469 w 5960715"/>
              <a:gd name="connsiteY1" fmla="*/ 321800 h 6878015"/>
              <a:gd name="connsiteX2" fmla="*/ 5960715 w 5960715"/>
              <a:gd name="connsiteY2" fmla="*/ 0 h 6878015"/>
              <a:gd name="connsiteX3" fmla="*/ 1368474 w 5960715"/>
              <a:gd name="connsiteY3" fmla="*/ 6878015 h 6878015"/>
              <a:gd name="connsiteX4" fmla="*/ 3 w 5960715"/>
              <a:gd name="connsiteY4" fmla="*/ 6854866 h 6878015"/>
              <a:gd name="connsiteX0" fmla="*/ 2909 w 5963621"/>
              <a:gd name="connsiteY0" fmla="*/ 6856916 h 6880065"/>
              <a:gd name="connsiteX1" fmla="*/ 0 w 5963621"/>
              <a:gd name="connsiteY1" fmla="*/ 0 h 6880065"/>
              <a:gd name="connsiteX2" fmla="*/ 5963621 w 5963621"/>
              <a:gd name="connsiteY2" fmla="*/ 2050 h 6880065"/>
              <a:gd name="connsiteX3" fmla="*/ 1371380 w 5963621"/>
              <a:gd name="connsiteY3" fmla="*/ 6880065 h 6880065"/>
              <a:gd name="connsiteX4" fmla="*/ 2909 w 5963621"/>
              <a:gd name="connsiteY4" fmla="*/ 6856916 h 6880065"/>
              <a:gd name="connsiteX0" fmla="*/ 215634 w 5963621"/>
              <a:gd name="connsiteY0" fmla="*/ 6682291 h 6880065"/>
              <a:gd name="connsiteX1" fmla="*/ 0 w 5963621"/>
              <a:gd name="connsiteY1" fmla="*/ 0 h 6880065"/>
              <a:gd name="connsiteX2" fmla="*/ 5963621 w 5963621"/>
              <a:gd name="connsiteY2" fmla="*/ 2050 h 6880065"/>
              <a:gd name="connsiteX3" fmla="*/ 1371380 w 5963621"/>
              <a:gd name="connsiteY3" fmla="*/ 6880065 h 6880065"/>
              <a:gd name="connsiteX4" fmla="*/ 215634 w 5963621"/>
              <a:gd name="connsiteY4" fmla="*/ 6682291 h 6880065"/>
              <a:gd name="connsiteX0" fmla="*/ 94984 w 5963621"/>
              <a:gd name="connsiteY0" fmla="*/ 6758491 h 6880065"/>
              <a:gd name="connsiteX1" fmla="*/ 0 w 5963621"/>
              <a:gd name="connsiteY1" fmla="*/ 0 h 6880065"/>
              <a:gd name="connsiteX2" fmla="*/ 5963621 w 5963621"/>
              <a:gd name="connsiteY2" fmla="*/ 2050 h 6880065"/>
              <a:gd name="connsiteX3" fmla="*/ 1371380 w 5963621"/>
              <a:gd name="connsiteY3" fmla="*/ 6880065 h 6880065"/>
              <a:gd name="connsiteX4" fmla="*/ 94984 w 5963621"/>
              <a:gd name="connsiteY4" fmla="*/ 6758491 h 6880065"/>
              <a:gd name="connsiteX0" fmla="*/ 252 w 5964139"/>
              <a:gd name="connsiteY0" fmla="*/ 6856916 h 6880065"/>
              <a:gd name="connsiteX1" fmla="*/ 518 w 5964139"/>
              <a:gd name="connsiteY1" fmla="*/ 0 h 6880065"/>
              <a:gd name="connsiteX2" fmla="*/ 5964139 w 5964139"/>
              <a:gd name="connsiteY2" fmla="*/ 2050 h 6880065"/>
              <a:gd name="connsiteX3" fmla="*/ 1371898 w 5964139"/>
              <a:gd name="connsiteY3" fmla="*/ 6880065 h 6880065"/>
              <a:gd name="connsiteX4" fmla="*/ 252 w 5964139"/>
              <a:gd name="connsiteY4" fmla="*/ 6856916 h 6880065"/>
              <a:gd name="connsiteX0" fmla="*/ 252 w 5964139"/>
              <a:gd name="connsiteY0" fmla="*/ 6856916 h 6864190"/>
              <a:gd name="connsiteX1" fmla="*/ 518 w 5964139"/>
              <a:gd name="connsiteY1" fmla="*/ 0 h 6864190"/>
              <a:gd name="connsiteX2" fmla="*/ 5964139 w 5964139"/>
              <a:gd name="connsiteY2" fmla="*/ 2050 h 6864190"/>
              <a:gd name="connsiteX3" fmla="*/ 1381423 w 5964139"/>
              <a:gd name="connsiteY3" fmla="*/ 6864190 h 6864190"/>
              <a:gd name="connsiteX4" fmla="*/ 252 w 5964139"/>
              <a:gd name="connsiteY4" fmla="*/ 6856916 h 6864190"/>
              <a:gd name="connsiteX0" fmla="*/ 117 w 5967179"/>
              <a:gd name="connsiteY0" fmla="*/ 685691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56916 h 6864190"/>
              <a:gd name="connsiteX0" fmla="*/ 117 w 5967179"/>
              <a:gd name="connsiteY0" fmla="*/ 686326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63266 h 6864190"/>
              <a:gd name="connsiteX0" fmla="*/ 252 w 5967314"/>
              <a:gd name="connsiteY0" fmla="*/ 6866441 h 6867365"/>
              <a:gd name="connsiteX1" fmla="*/ 518 w 5967314"/>
              <a:gd name="connsiteY1" fmla="*/ 0 h 6867365"/>
              <a:gd name="connsiteX2" fmla="*/ 5967314 w 5967314"/>
              <a:gd name="connsiteY2" fmla="*/ 5225 h 6867365"/>
              <a:gd name="connsiteX3" fmla="*/ 1384598 w 5967314"/>
              <a:gd name="connsiteY3" fmla="*/ 6867365 h 6867365"/>
              <a:gd name="connsiteX4" fmla="*/ 252 w 5967314"/>
              <a:gd name="connsiteY4" fmla="*/ 6866441 h 6867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314" h="6867365">
                <a:moveTo>
                  <a:pt x="252" y="6866441"/>
                </a:moveTo>
                <a:cubicBezTo>
                  <a:pt x="-718" y="4577627"/>
                  <a:pt x="1488" y="2288814"/>
                  <a:pt x="518" y="0"/>
                </a:cubicBezTo>
                <a:lnTo>
                  <a:pt x="5967314" y="5225"/>
                </a:lnTo>
                <a:lnTo>
                  <a:pt x="1384598" y="6867365"/>
                </a:lnTo>
                <a:lnTo>
                  <a:pt x="252" y="686644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defTabSz="914377">
              <a:defRPr/>
            </a:pPr>
            <a:endParaRPr lang="ru-RU" sz="2489" kern="1200"/>
          </a:p>
        </p:txBody>
      </p:sp>
      <p:pic>
        <p:nvPicPr>
          <p:cNvPr id="10" name="Image 1">
            <a:extLst>
              <a:ext uri="{FF2B5EF4-FFF2-40B4-BE49-F238E27FC236}">
                <a16:creationId xmlns:a16="http://schemas.microsoft.com/office/drawing/2014/main" id="{2AB36124-2255-AEF0-B398-493EE7C60DD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6335" y="619184"/>
            <a:ext cx="3882500" cy="1019671"/>
          </a:xfrm>
          <a:prstGeom prst="rect">
            <a:avLst/>
          </a:prstGeom>
          <a:noFill/>
          <a:ln>
            <a:noFill/>
          </a:ln>
        </p:spPr>
      </p:pic>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1131889" y="2090899"/>
            <a:ext cx="10440000" cy="1548000"/>
          </a:xfrm>
        </p:spPr>
        <p:txBody>
          <a:bodyPr anchor="b"/>
          <a:lstStyle>
            <a:lvl1pPr>
              <a:defRPr sz="5000" b="0">
                <a:solidFill>
                  <a:schemeClr val="bg1"/>
                </a:solidFill>
                <a:latin typeface="+mn-lt"/>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1131889" y="3709352"/>
            <a:ext cx="10440000" cy="792000"/>
          </a:xfrm>
        </p:spPr>
        <p:txBody>
          <a:bodyPr/>
          <a:lstStyle>
            <a:lvl1pPr>
              <a:defRPr sz="2900" b="0">
                <a:solidFill>
                  <a:schemeClr val="bg1"/>
                </a:solidFill>
                <a:latin typeface="+mn-lt"/>
              </a:defRPr>
            </a:lvl1pPr>
            <a:lvl2pPr>
              <a:defRPr sz="2500">
                <a:latin typeface="Encode Sans ExpandedLight" pitchFamily="2" charset="0"/>
              </a:defRPr>
            </a:lvl2pPr>
            <a:lvl3pPr>
              <a:defRPr sz="2500">
                <a:latin typeface="Encode Sans ExpandedLight" pitchFamily="2" charset="0"/>
              </a:defRPr>
            </a:lvl3pPr>
            <a:lvl4pPr>
              <a:defRPr sz="2500">
                <a:latin typeface="Encode Sans ExpandedLight" pitchFamily="2" charset="0"/>
              </a:defRPr>
            </a:lvl4pPr>
            <a:lvl5pPr>
              <a:defRPr sz="2500">
                <a:latin typeface="Encode Sans ExpandedLight" pitchFamily="2" charset="0"/>
              </a:defRPr>
            </a:lvl5pPr>
          </a:lstStyle>
          <a:p>
            <a:pPr lvl="0"/>
            <a:r>
              <a:rPr lang="en-US" noProof="0"/>
              <a:t>Click to edit master subtitle style</a:t>
            </a:r>
          </a:p>
        </p:txBody>
      </p:sp>
    </p:spTree>
    <p:extLst>
      <p:ext uri="{BB962C8B-B14F-4D97-AF65-F5344CB8AC3E}">
        <p14:creationId xmlns:p14="http://schemas.microsoft.com/office/powerpoint/2010/main" val="836800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columns with a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56" y="1440919"/>
            <a:ext cx="5472000" cy="1836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3" name="Espace réservé du texte 10">
            <a:extLst>
              <a:ext uri="{FF2B5EF4-FFF2-40B4-BE49-F238E27FC236}">
                <a16:creationId xmlns:a16="http://schemas.microsoft.com/office/drawing/2014/main" id="{C616F341-424E-4ECC-B11D-0008CB10FA11}"/>
              </a:ext>
            </a:extLst>
          </p:cNvPr>
          <p:cNvSpPr>
            <a:spLocks noGrp="1"/>
          </p:cNvSpPr>
          <p:nvPr>
            <p:ph type="body" sz="quarter" idx="18" hasCustomPrompt="1"/>
          </p:nvPr>
        </p:nvSpPr>
        <p:spPr>
          <a:xfrm>
            <a:off x="6262805" y="1440919"/>
            <a:ext cx="5472000" cy="1836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Espace réservé pour une image  33">
            <a:extLst>
              <a:ext uri="{FF2B5EF4-FFF2-40B4-BE49-F238E27FC236}">
                <a16:creationId xmlns:a16="http://schemas.microsoft.com/office/drawing/2014/main" id="{4DCA1355-34B5-49FC-BA6B-273A843D5348}"/>
              </a:ext>
            </a:extLst>
          </p:cNvPr>
          <p:cNvSpPr>
            <a:spLocks noGrp="1"/>
          </p:cNvSpPr>
          <p:nvPr>
            <p:ph type="pic" idx="14" hasCustomPrompt="1"/>
          </p:nvPr>
        </p:nvSpPr>
        <p:spPr>
          <a:xfrm>
            <a:off x="642938" y="3425825"/>
            <a:ext cx="10906128" cy="2916609"/>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 name="Espace réservé du texte 16">
            <a:extLst>
              <a:ext uri="{FF2B5EF4-FFF2-40B4-BE49-F238E27FC236}">
                <a16:creationId xmlns:a16="http://schemas.microsoft.com/office/drawing/2014/main" id="{3BBE2E00-CF31-C8D9-48EA-8017A8D9990D}"/>
              </a:ext>
            </a:extLst>
          </p:cNvPr>
          <p:cNvSpPr>
            <a:spLocks noGrp="1"/>
          </p:cNvSpPr>
          <p:nvPr>
            <p:ph type="body" idx="19"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2306170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2624400"/>
            <a:ext cx="10800000" cy="36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536400" y="1535088"/>
            <a:ext cx="10800000" cy="864000"/>
          </a:xfrm>
        </p:spPr>
        <p:txBody>
          <a:bodyPr/>
          <a:lstStyle/>
          <a:p>
            <a:r>
              <a:rPr lang="en-US" noProof="0"/>
              <a:t>Click to edit Master title style</a:t>
            </a:r>
          </a:p>
        </p:txBody>
      </p:sp>
      <p:sp>
        <p:nvSpPr>
          <p:cNvPr id="2" name="Espace réservé du texte 16">
            <a:extLst>
              <a:ext uri="{FF2B5EF4-FFF2-40B4-BE49-F238E27FC236}">
                <a16:creationId xmlns:a16="http://schemas.microsoft.com/office/drawing/2014/main" id="{8CEB9FB4-F871-B6D2-0CE7-A4E25AE2A245}"/>
              </a:ext>
            </a:extLst>
          </p:cNvPr>
          <p:cNvSpPr>
            <a:spLocks noGrp="1"/>
          </p:cNvSpPr>
          <p:nvPr>
            <p:ph type="body" idx="18"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3407559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with a photo">
    <p:spTree>
      <p:nvGrpSpPr>
        <p:cNvPr id="1" name=""/>
        <p:cNvGrpSpPr/>
        <p:nvPr/>
      </p:nvGrpSpPr>
      <p:grpSpPr>
        <a:xfrm>
          <a:off x="0" y="0"/>
          <a:ext cx="0" cy="0"/>
          <a:chOff x="0" y="0"/>
          <a:chExt cx="0" cy="0"/>
        </a:xfrm>
      </p:grpSpPr>
      <p:sp>
        <p:nvSpPr>
          <p:cNvPr id="3" name="Google Shape;97;p18">
            <a:extLst>
              <a:ext uri="{FF2B5EF4-FFF2-40B4-BE49-F238E27FC236}">
                <a16:creationId xmlns:a16="http://schemas.microsoft.com/office/drawing/2014/main" id="{AC926F41-199E-5813-86A7-D60C7A20C1CF}"/>
              </a:ext>
            </a:extLst>
          </p:cNvPr>
          <p:cNvSpPr/>
          <p:nvPr userDrawn="1"/>
        </p:nvSpPr>
        <p:spPr>
          <a:xfrm>
            <a:off x="9138483" y="0"/>
            <a:ext cx="3067543" cy="6869574"/>
          </a:xfrm>
          <a:custGeom>
            <a:avLst/>
            <a:gdLst>
              <a:gd name="connsiteX0" fmla="*/ 0 w 7111431"/>
              <a:gd name="connsiteY0" fmla="*/ 6858000 h 6858000"/>
              <a:gd name="connsiteX1" fmla="*/ 3060040 w 7111431"/>
              <a:gd name="connsiteY1" fmla="*/ 0 h 6858000"/>
              <a:gd name="connsiteX2" fmla="*/ 7111431 w 7111431"/>
              <a:gd name="connsiteY2" fmla="*/ 0 h 6858000"/>
              <a:gd name="connsiteX3" fmla="*/ 4051391 w 7111431"/>
              <a:gd name="connsiteY3" fmla="*/ 6858000 h 6858000"/>
              <a:gd name="connsiteX4" fmla="*/ 0 w 7111431"/>
              <a:gd name="connsiteY4" fmla="*/ 6858000 h 6858000"/>
              <a:gd name="connsiteX0" fmla="*/ 0 w 4051391"/>
              <a:gd name="connsiteY0" fmla="*/ 6858000 h 6858000"/>
              <a:gd name="connsiteX1" fmla="*/ 3060040 w 4051391"/>
              <a:gd name="connsiteY1" fmla="*/ 0 h 6858000"/>
              <a:gd name="connsiteX2" fmla="*/ 4051391 w 4051391"/>
              <a:gd name="connsiteY2" fmla="*/ 6858000 h 6858000"/>
              <a:gd name="connsiteX3" fmla="*/ 0 w 4051391"/>
              <a:gd name="connsiteY3" fmla="*/ 6858000 h 6858000"/>
              <a:gd name="connsiteX0" fmla="*/ 0 w 3067543"/>
              <a:gd name="connsiteY0" fmla="*/ 6858000 h 6869574"/>
              <a:gd name="connsiteX1" fmla="*/ 3060040 w 3067543"/>
              <a:gd name="connsiteY1" fmla="*/ 0 h 6869574"/>
              <a:gd name="connsiteX2" fmla="*/ 3067543 w 3067543"/>
              <a:gd name="connsiteY2" fmla="*/ 6869574 h 6869574"/>
              <a:gd name="connsiteX3" fmla="*/ 0 w 3067543"/>
              <a:gd name="connsiteY3" fmla="*/ 6858000 h 6869574"/>
            </a:gdLst>
            <a:ahLst/>
            <a:cxnLst>
              <a:cxn ang="0">
                <a:pos x="connsiteX0" y="connsiteY0"/>
              </a:cxn>
              <a:cxn ang="0">
                <a:pos x="connsiteX1" y="connsiteY1"/>
              </a:cxn>
              <a:cxn ang="0">
                <a:pos x="connsiteX2" y="connsiteY2"/>
              </a:cxn>
              <a:cxn ang="0">
                <a:pos x="connsiteX3" y="connsiteY3"/>
              </a:cxn>
            </a:cxnLst>
            <a:rect l="l" t="t" r="r" b="b"/>
            <a:pathLst>
              <a:path w="3067543" h="6869574">
                <a:moveTo>
                  <a:pt x="0" y="6858000"/>
                </a:moveTo>
                <a:lnTo>
                  <a:pt x="3060040" y="0"/>
                </a:lnTo>
                <a:lnTo>
                  <a:pt x="3067543" y="6869574"/>
                </a:lnTo>
                <a:lnTo>
                  <a:pt x="0" y="6858000"/>
                </a:lnTo>
                <a:close/>
              </a:path>
            </a:pathLst>
          </a:custGeom>
          <a:solidFill>
            <a:schemeClr val="accent2"/>
          </a:solidFill>
          <a:ln>
            <a:noFill/>
          </a:ln>
        </p:spPr>
        <p:txBody>
          <a:bodyPr spcFirstLastPara="1" wrap="square" lIns="121900" tIns="121900" rIns="121900" bIns="121900" anchor="ctr" anchorCtr="0">
            <a:noAutofit/>
          </a:bodyPr>
          <a:lstStyle/>
          <a:p>
            <a:pPr algn="ctr"/>
            <a:endParaRPr sz="2489"/>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2927612"/>
            <a:ext cx="7206312" cy="3240000"/>
          </a:xfrm>
        </p:spPr>
        <p:txBody>
          <a:bodyPr/>
          <a:lstStyle>
            <a:lvl1pPr>
              <a:defRPr sz="1900"/>
            </a:lvl1pPr>
            <a:lvl2pPr>
              <a:defRPr sz="19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536400" y="1635098"/>
            <a:ext cx="7206312" cy="1224000"/>
          </a:xfrm>
        </p:spPr>
        <p:txBody>
          <a:bodyPr/>
          <a:lstStyle>
            <a:lvl1pPr>
              <a:defRPr>
                <a:latin typeface="+mj-lt"/>
              </a:defRPr>
            </a:lvl1pPr>
          </a:lstStyle>
          <a:p>
            <a:r>
              <a:rPr lang="en-US" noProof="0"/>
              <a:t>Click to edit Master title style</a:t>
            </a:r>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8019936" y="1357932"/>
            <a:ext cx="3575434" cy="4809680"/>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 name="Espace réservé du texte 16">
            <a:extLst>
              <a:ext uri="{FF2B5EF4-FFF2-40B4-BE49-F238E27FC236}">
                <a16:creationId xmlns:a16="http://schemas.microsoft.com/office/drawing/2014/main" id="{923D940D-6189-0632-C553-784DD079DE80}"/>
              </a:ext>
            </a:extLst>
          </p:cNvPr>
          <p:cNvSpPr>
            <a:spLocks noGrp="1"/>
          </p:cNvSpPr>
          <p:nvPr>
            <p:ph type="body" idx="1"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1029439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with a small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2927612"/>
            <a:ext cx="7206312" cy="3240000"/>
          </a:xfrm>
        </p:spPr>
        <p:txBody>
          <a:bodyPr/>
          <a:lstStyle>
            <a:lvl1pPr>
              <a:defRPr sz="1900"/>
            </a:lvl1pPr>
            <a:lvl2pPr>
              <a:defRPr sz="19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536400" y="1635098"/>
            <a:ext cx="7206312" cy="1224000"/>
          </a:xfrm>
        </p:spPr>
        <p:txBody>
          <a:bodyPr/>
          <a:lstStyle>
            <a:lvl1pPr>
              <a:defRPr>
                <a:latin typeface="+mj-lt"/>
              </a:defRPr>
            </a:lvl1pPr>
          </a:lstStyle>
          <a:p>
            <a:r>
              <a:rPr lang="en-US" noProof="0"/>
              <a:t>Click to edit Master title style</a:t>
            </a:r>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8718825" y="1091196"/>
            <a:ext cx="4917367" cy="5772030"/>
          </a:xfrm>
          <a:custGeom>
            <a:avLst/>
            <a:gdLst>
              <a:gd name="connsiteX0" fmla="*/ 0 w 4901492"/>
              <a:gd name="connsiteY0" fmla="*/ 0 h 5769980"/>
              <a:gd name="connsiteX1" fmla="*/ 4901492 w 4901492"/>
              <a:gd name="connsiteY1" fmla="*/ 0 h 5769980"/>
              <a:gd name="connsiteX2" fmla="*/ 4901492 w 4901492"/>
              <a:gd name="connsiteY2" fmla="*/ 5769980 h 5769980"/>
              <a:gd name="connsiteX3" fmla="*/ 0 w 4901492"/>
              <a:gd name="connsiteY3" fmla="*/ 5769980 h 5769980"/>
              <a:gd name="connsiteX4" fmla="*/ 0 w 4901492"/>
              <a:gd name="connsiteY4" fmla="*/ 0 h 5769980"/>
              <a:gd name="connsiteX0" fmla="*/ 0 w 4901492"/>
              <a:gd name="connsiteY0" fmla="*/ 0 h 5781555"/>
              <a:gd name="connsiteX1" fmla="*/ 4901492 w 4901492"/>
              <a:gd name="connsiteY1" fmla="*/ 0 h 5781555"/>
              <a:gd name="connsiteX2" fmla="*/ 2459233 w 4901492"/>
              <a:gd name="connsiteY2" fmla="*/ 5781555 h 5781555"/>
              <a:gd name="connsiteX3" fmla="*/ 0 w 4901492"/>
              <a:gd name="connsiteY3" fmla="*/ 5769980 h 5781555"/>
              <a:gd name="connsiteX4" fmla="*/ 0 w 4901492"/>
              <a:gd name="connsiteY4" fmla="*/ 0 h 5781555"/>
              <a:gd name="connsiteX0" fmla="*/ 2152891 w 4901492"/>
              <a:gd name="connsiteY0" fmla="*/ 0 h 5781555"/>
              <a:gd name="connsiteX1" fmla="*/ 4901492 w 4901492"/>
              <a:gd name="connsiteY1" fmla="*/ 0 h 5781555"/>
              <a:gd name="connsiteX2" fmla="*/ 2459233 w 4901492"/>
              <a:gd name="connsiteY2" fmla="*/ 5781555 h 5781555"/>
              <a:gd name="connsiteX3" fmla="*/ 0 w 4901492"/>
              <a:gd name="connsiteY3" fmla="*/ 5769980 h 5781555"/>
              <a:gd name="connsiteX4" fmla="*/ 2152891 w 4901492"/>
              <a:gd name="connsiteY4" fmla="*/ 0 h 5781555"/>
              <a:gd name="connsiteX0" fmla="*/ 2419108 w 4901492"/>
              <a:gd name="connsiteY0" fmla="*/ 0 h 5781555"/>
              <a:gd name="connsiteX1" fmla="*/ 4901492 w 4901492"/>
              <a:gd name="connsiteY1" fmla="*/ 0 h 5781555"/>
              <a:gd name="connsiteX2" fmla="*/ 2459233 w 4901492"/>
              <a:gd name="connsiteY2" fmla="*/ 5781555 h 5781555"/>
              <a:gd name="connsiteX3" fmla="*/ 0 w 4901492"/>
              <a:gd name="connsiteY3" fmla="*/ 5769980 h 5781555"/>
              <a:gd name="connsiteX4" fmla="*/ 2419108 w 4901492"/>
              <a:gd name="connsiteY4" fmla="*/ 0 h 5781555"/>
              <a:gd name="connsiteX0" fmla="*/ 2641358 w 4901492"/>
              <a:gd name="connsiteY0" fmla="*/ 3175 h 5781555"/>
              <a:gd name="connsiteX1" fmla="*/ 4901492 w 4901492"/>
              <a:gd name="connsiteY1" fmla="*/ 0 h 5781555"/>
              <a:gd name="connsiteX2" fmla="*/ 2459233 w 4901492"/>
              <a:gd name="connsiteY2" fmla="*/ 5781555 h 5781555"/>
              <a:gd name="connsiteX3" fmla="*/ 0 w 4901492"/>
              <a:gd name="connsiteY3" fmla="*/ 5769980 h 5781555"/>
              <a:gd name="connsiteX4" fmla="*/ 2641358 w 4901492"/>
              <a:gd name="connsiteY4" fmla="*/ 3175 h 5781555"/>
              <a:gd name="connsiteX0" fmla="*/ 2441333 w 4901492"/>
              <a:gd name="connsiteY0" fmla="*/ 3175 h 5781555"/>
              <a:gd name="connsiteX1" fmla="*/ 4901492 w 4901492"/>
              <a:gd name="connsiteY1" fmla="*/ 0 h 5781555"/>
              <a:gd name="connsiteX2" fmla="*/ 2459233 w 4901492"/>
              <a:gd name="connsiteY2" fmla="*/ 5781555 h 5781555"/>
              <a:gd name="connsiteX3" fmla="*/ 0 w 4901492"/>
              <a:gd name="connsiteY3" fmla="*/ 5769980 h 5781555"/>
              <a:gd name="connsiteX4" fmla="*/ 2441333 w 4901492"/>
              <a:gd name="connsiteY4" fmla="*/ 3175 h 5781555"/>
              <a:gd name="connsiteX0" fmla="*/ 2441333 w 4901492"/>
              <a:gd name="connsiteY0" fmla="*/ 3175 h 5769980"/>
              <a:gd name="connsiteX1" fmla="*/ 4901492 w 4901492"/>
              <a:gd name="connsiteY1" fmla="*/ 0 h 5769980"/>
              <a:gd name="connsiteX2" fmla="*/ 2344933 w 4901492"/>
              <a:gd name="connsiteY2" fmla="*/ 5743455 h 5769980"/>
              <a:gd name="connsiteX3" fmla="*/ 0 w 4901492"/>
              <a:gd name="connsiteY3" fmla="*/ 5769980 h 5769980"/>
              <a:gd name="connsiteX4" fmla="*/ 2441333 w 4901492"/>
              <a:gd name="connsiteY4" fmla="*/ 3175 h 5769980"/>
              <a:gd name="connsiteX0" fmla="*/ 2441333 w 4901492"/>
              <a:gd name="connsiteY0" fmla="*/ 3175 h 5775205"/>
              <a:gd name="connsiteX1" fmla="*/ 4901492 w 4901492"/>
              <a:gd name="connsiteY1" fmla="*/ 0 h 5775205"/>
              <a:gd name="connsiteX2" fmla="*/ 2446533 w 4901492"/>
              <a:gd name="connsiteY2" fmla="*/ 5775205 h 5775205"/>
              <a:gd name="connsiteX3" fmla="*/ 0 w 4901492"/>
              <a:gd name="connsiteY3" fmla="*/ 5769980 h 5775205"/>
              <a:gd name="connsiteX4" fmla="*/ 2441333 w 4901492"/>
              <a:gd name="connsiteY4" fmla="*/ 3175 h 5775205"/>
              <a:gd name="connsiteX0" fmla="*/ 2441333 w 4917367"/>
              <a:gd name="connsiteY0" fmla="*/ 0 h 5772030"/>
              <a:gd name="connsiteX1" fmla="*/ 4917367 w 4917367"/>
              <a:gd name="connsiteY1" fmla="*/ 0 h 5772030"/>
              <a:gd name="connsiteX2" fmla="*/ 2446533 w 4917367"/>
              <a:gd name="connsiteY2" fmla="*/ 5772030 h 5772030"/>
              <a:gd name="connsiteX3" fmla="*/ 0 w 4917367"/>
              <a:gd name="connsiteY3" fmla="*/ 5766805 h 5772030"/>
              <a:gd name="connsiteX4" fmla="*/ 2441333 w 4917367"/>
              <a:gd name="connsiteY4" fmla="*/ 0 h 5772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7367" h="5772030">
                <a:moveTo>
                  <a:pt x="2441333" y="0"/>
                </a:moveTo>
                <a:lnTo>
                  <a:pt x="4917367" y="0"/>
                </a:lnTo>
                <a:lnTo>
                  <a:pt x="2446533" y="5772030"/>
                </a:lnTo>
                <a:lnTo>
                  <a:pt x="0" y="5766805"/>
                </a:lnTo>
                <a:lnTo>
                  <a:pt x="2441333" y="0"/>
                </a:lnTo>
                <a:close/>
              </a:path>
            </a:pathLst>
          </a:cu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 name="Espace réservé du texte 16">
            <a:extLst>
              <a:ext uri="{FF2B5EF4-FFF2-40B4-BE49-F238E27FC236}">
                <a16:creationId xmlns:a16="http://schemas.microsoft.com/office/drawing/2014/main" id="{923D940D-6189-0632-C553-784DD079DE80}"/>
              </a:ext>
            </a:extLst>
          </p:cNvPr>
          <p:cNvSpPr>
            <a:spLocks noGrp="1"/>
          </p:cNvSpPr>
          <p:nvPr>
            <p:ph type="body" idx="1"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
        <p:nvSpPr>
          <p:cNvPr id="13" name="Rectangle 7">
            <a:extLst>
              <a:ext uri="{FF2B5EF4-FFF2-40B4-BE49-F238E27FC236}">
                <a16:creationId xmlns:a16="http://schemas.microsoft.com/office/drawing/2014/main" id="{F5406160-AFD8-CAB4-BD34-E0159F65C63C}"/>
              </a:ext>
            </a:extLst>
          </p:cNvPr>
          <p:cNvSpPr/>
          <p:nvPr userDrawn="1"/>
        </p:nvSpPr>
        <p:spPr>
          <a:xfrm>
            <a:off x="11157996" y="4445448"/>
            <a:ext cx="1034004" cy="2412552"/>
          </a:xfrm>
          <a:custGeom>
            <a:avLst/>
            <a:gdLst>
              <a:gd name="connsiteX0" fmla="*/ 0 w 1034004"/>
              <a:gd name="connsiteY0" fmla="*/ 0 h 2412552"/>
              <a:gd name="connsiteX1" fmla="*/ 1034004 w 1034004"/>
              <a:gd name="connsiteY1" fmla="*/ 0 h 2412552"/>
              <a:gd name="connsiteX2" fmla="*/ 1034004 w 1034004"/>
              <a:gd name="connsiteY2" fmla="*/ 2412552 h 2412552"/>
              <a:gd name="connsiteX3" fmla="*/ 0 w 1034004"/>
              <a:gd name="connsiteY3" fmla="*/ 2412552 h 2412552"/>
              <a:gd name="connsiteX4" fmla="*/ 0 w 1034004"/>
              <a:gd name="connsiteY4" fmla="*/ 0 h 2412552"/>
              <a:gd name="connsiteX0" fmla="*/ 0 w 1034004"/>
              <a:gd name="connsiteY0" fmla="*/ 2412552 h 2412552"/>
              <a:gd name="connsiteX1" fmla="*/ 1034004 w 1034004"/>
              <a:gd name="connsiteY1" fmla="*/ 0 h 2412552"/>
              <a:gd name="connsiteX2" fmla="*/ 1034004 w 1034004"/>
              <a:gd name="connsiteY2" fmla="*/ 2412552 h 2412552"/>
              <a:gd name="connsiteX3" fmla="*/ 0 w 1034004"/>
              <a:gd name="connsiteY3" fmla="*/ 2412552 h 2412552"/>
            </a:gdLst>
            <a:ahLst/>
            <a:cxnLst>
              <a:cxn ang="0">
                <a:pos x="connsiteX0" y="connsiteY0"/>
              </a:cxn>
              <a:cxn ang="0">
                <a:pos x="connsiteX1" y="connsiteY1"/>
              </a:cxn>
              <a:cxn ang="0">
                <a:pos x="connsiteX2" y="connsiteY2"/>
              </a:cxn>
              <a:cxn ang="0">
                <a:pos x="connsiteX3" y="connsiteY3"/>
              </a:cxn>
            </a:cxnLst>
            <a:rect l="l" t="t" r="r" b="b"/>
            <a:pathLst>
              <a:path w="1034004" h="2412552">
                <a:moveTo>
                  <a:pt x="0" y="2412552"/>
                </a:moveTo>
                <a:lnTo>
                  <a:pt x="1034004" y="0"/>
                </a:lnTo>
                <a:lnTo>
                  <a:pt x="1034004" y="2412552"/>
                </a:lnTo>
                <a:lnTo>
                  <a:pt x="0" y="241255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669712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white with a photo">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096000" y="1128410"/>
            <a:ext cx="549937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14" name="Titre 13">
            <a:extLst>
              <a:ext uri="{FF2B5EF4-FFF2-40B4-BE49-F238E27FC236}">
                <a16:creationId xmlns:a16="http://schemas.microsoft.com/office/drawing/2014/main" id="{8038BA85-2084-4869-B223-D5D52B6CE45D}"/>
              </a:ext>
            </a:extLst>
          </p:cNvPr>
          <p:cNvSpPr>
            <a:spLocks noGrp="1"/>
          </p:cNvSpPr>
          <p:nvPr>
            <p:ph type="title" hasCustomPrompt="1"/>
          </p:nvPr>
        </p:nvSpPr>
        <p:spPr>
          <a:xfrm>
            <a:off x="643890" y="1128410"/>
            <a:ext cx="5452110" cy="5039202"/>
          </a:xfrm>
          <a:custGeom>
            <a:avLst/>
            <a:gdLst>
              <a:gd name="connsiteX0" fmla="*/ 0 w 5452110"/>
              <a:gd name="connsiteY0" fmla="*/ 0 h 5039202"/>
              <a:gd name="connsiteX1" fmla="*/ 5452110 w 5452110"/>
              <a:gd name="connsiteY1" fmla="*/ 0 h 5039202"/>
              <a:gd name="connsiteX2" fmla="*/ 5452110 w 5452110"/>
              <a:gd name="connsiteY2" fmla="*/ 5039202 h 5039202"/>
              <a:gd name="connsiteX3" fmla="*/ 0 w 545211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452110" h="5039202">
                <a:moveTo>
                  <a:pt x="0" y="0"/>
                </a:moveTo>
                <a:lnTo>
                  <a:pt x="5452110" y="0"/>
                </a:lnTo>
                <a:lnTo>
                  <a:pt x="5452110" y="5039202"/>
                </a:lnTo>
                <a:lnTo>
                  <a:pt x="0" y="5039202"/>
                </a:lnTo>
                <a:close/>
              </a:path>
            </a:pathLst>
          </a:custGeom>
          <a:solidFill>
            <a:schemeClr val="tx2"/>
          </a:solidFill>
        </p:spPr>
        <p:txBody>
          <a:bodyPr wrap="square" lIns="360000" tIns="540000" rIns="360000" bIns="360000">
            <a:noAutofit/>
          </a:bodyPr>
          <a:lstStyle>
            <a:lvl1pPr>
              <a:defRPr>
                <a:solidFill>
                  <a:schemeClr val="bg1"/>
                </a:solidFill>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912536" y="2927612"/>
            <a:ext cx="4932000" cy="2880000"/>
          </a:xfrm>
        </p:spPr>
        <p:txBody>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4DFCB1D7-DA62-A3FE-87CB-3CA04AA3E6F3}"/>
              </a:ext>
            </a:extLst>
          </p:cNvPr>
          <p:cNvSpPr>
            <a:spLocks noGrp="1"/>
          </p:cNvSpPr>
          <p:nvPr>
            <p:ph type="body" idx="19"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343434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highlighting text">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a:xfrm rot="16200000">
            <a:off x="-997200" y="3898800"/>
            <a:ext cx="2520000" cy="133200"/>
          </a:xfrm>
          <a:prstGeom prst="rect">
            <a:avLst/>
          </a:prstGeom>
        </p:spPr>
        <p:txBody>
          <a:bodyPr/>
          <a:lstStyle/>
          <a:p>
            <a:r>
              <a:rPr lang="en-US" b="0" noProof="0"/>
              <a:t>Talent Acquisition Global</a:t>
            </a:r>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43890" y="1128410"/>
            <a:ext cx="545400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15" name="Titre 14">
            <a:extLst>
              <a:ext uri="{FF2B5EF4-FFF2-40B4-BE49-F238E27FC236}">
                <a16:creationId xmlns:a16="http://schemas.microsoft.com/office/drawing/2014/main" id="{135F8181-64D0-4B6F-93D7-8C10D48D5CD1}"/>
              </a:ext>
            </a:extLst>
          </p:cNvPr>
          <p:cNvSpPr>
            <a:spLocks noGrp="1"/>
          </p:cNvSpPr>
          <p:nvPr>
            <p:ph type="title" hasCustomPrompt="1"/>
          </p:nvPr>
        </p:nvSpPr>
        <p:spPr>
          <a:xfrm>
            <a:off x="6094800" y="1128410"/>
            <a:ext cx="5500800" cy="5039202"/>
          </a:xfrm>
          <a:custGeom>
            <a:avLst/>
            <a:gdLst>
              <a:gd name="connsiteX0" fmla="*/ 0 w 5500800"/>
              <a:gd name="connsiteY0" fmla="*/ 0 h 5039202"/>
              <a:gd name="connsiteX1" fmla="*/ 5500800 w 5500800"/>
              <a:gd name="connsiteY1" fmla="*/ 0 h 5039202"/>
              <a:gd name="connsiteX2" fmla="*/ 5500800 w 5500800"/>
              <a:gd name="connsiteY2" fmla="*/ 5039202 h 5039202"/>
              <a:gd name="connsiteX3" fmla="*/ 0 w 550080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500800" h="5039202">
                <a:moveTo>
                  <a:pt x="0" y="0"/>
                </a:moveTo>
                <a:lnTo>
                  <a:pt x="5500800" y="0"/>
                </a:lnTo>
                <a:lnTo>
                  <a:pt x="5500800" y="5039202"/>
                </a:lnTo>
                <a:lnTo>
                  <a:pt x="0" y="5039202"/>
                </a:lnTo>
                <a:close/>
              </a:path>
            </a:pathLst>
          </a:custGeom>
          <a:solidFill>
            <a:schemeClr val="tx2"/>
          </a:solidFill>
        </p:spPr>
        <p:txBody>
          <a:bodyPr wrap="square" lIns="648000" tIns="360000" rIns="360000" bIns="360000" anchor="ctr">
            <a:noAutofit/>
          </a:bodyPr>
          <a:lstStyle>
            <a:lvl1pPr>
              <a:defRPr sz="2400">
                <a:solidFill>
                  <a:schemeClr val="bg1"/>
                </a:solidFill>
              </a:defRPr>
            </a:lvl1pPr>
          </a:lstStyle>
          <a:p>
            <a:r>
              <a:rPr lang="en-US" noProof="0"/>
              <a:t>Click to edit Master title style</a:t>
            </a:r>
          </a:p>
        </p:txBody>
      </p:sp>
      <p:sp>
        <p:nvSpPr>
          <p:cNvPr id="2" name="Espace réservé du texte 16">
            <a:extLst>
              <a:ext uri="{FF2B5EF4-FFF2-40B4-BE49-F238E27FC236}">
                <a16:creationId xmlns:a16="http://schemas.microsoft.com/office/drawing/2014/main" id="{0B1F49C4-DCB1-96F8-2BE8-EDBF7591D129}"/>
              </a:ext>
            </a:extLst>
          </p:cNvPr>
          <p:cNvSpPr>
            <a:spLocks noGrp="1"/>
          </p:cNvSpPr>
          <p:nvPr>
            <p:ph type="body" idx="19"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2857214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in 2 frames with 2 photos">
    <p:spTree>
      <p:nvGrpSpPr>
        <p:cNvPr id="1" name=""/>
        <p:cNvGrpSpPr/>
        <p:nvPr/>
      </p:nvGrpSpPr>
      <p:grpSpPr>
        <a:xfrm>
          <a:off x="0" y="0"/>
          <a:ext cx="0" cy="0"/>
          <a:chOff x="0" y="0"/>
          <a:chExt cx="0" cy="0"/>
        </a:xfrm>
      </p:grpSpPr>
      <p:sp>
        <p:nvSpPr>
          <p:cNvPr id="20" name="Espace réservé du texte 19">
            <a:extLst>
              <a:ext uri="{FF2B5EF4-FFF2-40B4-BE49-F238E27FC236}">
                <a16:creationId xmlns:a16="http://schemas.microsoft.com/office/drawing/2014/main" id="{230AACEC-8150-4E58-B999-2C8E63E1A3E0}"/>
              </a:ext>
            </a:extLst>
          </p:cNvPr>
          <p:cNvSpPr>
            <a:spLocks noGrp="1"/>
          </p:cNvSpPr>
          <p:nvPr>
            <p:ph type="body" sz="quarter" idx="13" hasCustomPrompt="1"/>
          </p:nvPr>
        </p:nvSpPr>
        <p:spPr>
          <a:xfrm>
            <a:off x="643890" y="1128409"/>
            <a:ext cx="5292090" cy="50392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10" name="Espace réservé pour une image  33">
            <a:extLst>
              <a:ext uri="{FF2B5EF4-FFF2-40B4-BE49-F238E27FC236}">
                <a16:creationId xmlns:a16="http://schemas.microsoft.com/office/drawing/2014/main" id="{EB38C0A6-0F71-4D15-A062-D159A2D723C4}"/>
              </a:ext>
            </a:extLst>
          </p:cNvPr>
          <p:cNvSpPr>
            <a:spLocks noGrp="1"/>
          </p:cNvSpPr>
          <p:nvPr>
            <p:ph type="pic" idx="14" hasCustomPrompt="1"/>
          </p:nvPr>
        </p:nvSpPr>
        <p:spPr>
          <a:xfrm>
            <a:off x="796868" y="2838450"/>
            <a:ext cx="4986135" cy="3160273"/>
          </a:xfrm>
          <a:prstGeom prst="rect">
            <a:avLst/>
          </a:prstGeom>
          <a:noFill/>
          <a:ln w="3175">
            <a:noFill/>
          </a:ln>
        </p:spPr>
        <p:txBody>
          <a:bodyPr wrap="square" anchor="ctr">
            <a:noAutofit/>
          </a:bodyPr>
          <a:lstStyle>
            <a:lvl1pPr marL="0" indent="0" algn="ctr">
              <a:buNone/>
              <a:defRPr sz="1200" b="0" cap="none" baseline="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1" name="Espace réservé du texte 20">
            <a:extLst>
              <a:ext uri="{FF2B5EF4-FFF2-40B4-BE49-F238E27FC236}">
                <a16:creationId xmlns:a16="http://schemas.microsoft.com/office/drawing/2014/main" id="{BF34C298-6747-4F09-827E-E3C9685ACC9F}"/>
              </a:ext>
            </a:extLst>
          </p:cNvPr>
          <p:cNvSpPr>
            <a:spLocks noGrp="1"/>
          </p:cNvSpPr>
          <p:nvPr>
            <p:ph type="body" sz="quarter" idx="18" hasCustomPrompt="1"/>
          </p:nvPr>
        </p:nvSpPr>
        <p:spPr>
          <a:xfrm>
            <a:off x="6256022" y="1128409"/>
            <a:ext cx="5292090" cy="50392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Espace réservé pour une image  33">
            <a:extLst>
              <a:ext uri="{FF2B5EF4-FFF2-40B4-BE49-F238E27FC236}">
                <a16:creationId xmlns:a16="http://schemas.microsoft.com/office/drawing/2014/main" id="{F597D9F1-2155-4D83-9236-EC04A593F8AA}"/>
              </a:ext>
            </a:extLst>
          </p:cNvPr>
          <p:cNvSpPr>
            <a:spLocks noGrp="1"/>
          </p:cNvSpPr>
          <p:nvPr>
            <p:ph type="pic" idx="19" hasCustomPrompt="1"/>
          </p:nvPr>
        </p:nvSpPr>
        <p:spPr>
          <a:xfrm>
            <a:off x="6409000" y="2838450"/>
            <a:ext cx="4986135" cy="3160273"/>
          </a:xfrm>
          <a:prstGeom prst="rect">
            <a:avLst/>
          </a:prstGeom>
          <a:noFill/>
          <a:ln w="3175">
            <a:noFill/>
          </a:ln>
        </p:spPr>
        <p:txBody>
          <a:bodyPr wrap="square" anchor="ctr">
            <a:noAutofit/>
          </a:bodyPr>
          <a:lstStyle>
            <a:lvl1pPr marL="0" indent="0" algn="ctr">
              <a:buNone/>
              <a:defRPr sz="1200" b="0" cap="none" baseline="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 name="Espace réservé du texte 16">
            <a:extLst>
              <a:ext uri="{FF2B5EF4-FFF2-40B4-BE49-F238E27FC236}">
                <a16:creationId xmlns:a16="http://schemas.microsoft.com/office/drawing/2014/main" id="{20F472E6-E78E-1155-4F89-819AD2E61E7E}"/>
              </a:ext>
            </a:extLst>
          </p:cNvPr>
          <p:cNvSpPr>
            <a:spLocks noGrp="1"/>
          </p:cNvSpPr>
          <p:nvPr>
            <p:ph type="body" idx="20"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
        <p:nvSpPr>
          <p:cNvPr id="3" name="Espace réservé du numéro de diapositive 7">
            <a:extLst>
              <a:ext uri="{FF2B5EF4-FFF2-40B4-BE49-F238E27FC236}">
                <a16:creationId xmlns:a16="http://schemas.microsoft.com/office/drawing/2014/main" id="{3D75D980-E4C1-70A5-D305-99DEF2F7D675}"/>
              </a:ext>
            </a:extLst>
          </p:cNvPr>
          <p:cNvSpPr>
            <a:spLocks noGrp="1"/>
          </p:cNvSpPr>
          <p:nvPr>
            <p:ph type="sldNum" sz="quarter" idx="17"/>
          </p:nvPr>
        </p:nvSpPr>
        <p:spPr>
          <a:xfrm>
            <a:off x="11328548" y="6397368"/>
            <a:ext cx="541454" cy="184666"/>
          </a:xfrm>
        </p:spPr>
        <p:txBody>
          <a:bodyPr/>
          <a:lstStyle/>
          <a:p>
            <a:fld id="{975A587B-5814-4D9B-9598-FE9CB954CB01}" type="slidenum">
              <a:rPr lang="en-US" noProof="0" smtClean="0"/>
              <a:pPr/>
              <a:t>‹#›</a:t>
            </a:fld>
            <a:endParaRPr lang="en-US" b="0" noProof="0"/>
          </a:p>
        </p:txBody>
      </p:sp>
    </p:spTree>
    <p:extLst>
      <p:ext uri="{BB962C8B-B14F-4D97-AF65-F5344CB8AC3E}">
        <p14:creationId xmlns:p14="http://schemas.microsoft.com/office/powerpoint/2010/main" val="3139935267"/>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with 2 graphs">
    <p:spTree>
      <p:nvGrpSpPr>
        <p:cNvPr id="1" name=""/>
        <p:cNvGrpSpPr/>
        <p:nvPr/>
      </p:nvGrpSpPr>
      <p:grpSpPr>
        <a:xfrm>
          <a:off x="0" y="0"/>
          <a:ext cx="0" cy="0"/>
          <a:chOff x="0" y="0"/>
          <a:chExt cx="0" cy="0"/>
        </a:xfrm>
      </p:grpSpPr>
      <p:sp>
        <p:nvSpPr>
          <p:cNvPr id="23" name="Espace réservé du texte 22">
            <a:extLst>
              <a:ext uri="{FF2B5EF4-FFF2-40B4-BE49-F238E27FC236}">
                <a16:creationId xmlns:a16="http://schemas.microsoft.com/office/drawing/2014/main" id="{E81FFD1A-90DF-48A1-9716-E41ABD43762E}"/>
              </a:ext>
            </a:extLst>
          </p:cNvPr>
          <p:cNvSpPr>
            <a:spLocks noGrp="1"/>
          </p:cNvSpPr>
          <p:nvPr>
            <p:ph type="body" sz="quarter" idx="18" hasCustomPrompt="1"/>
          </p:nvPr>
        </p:nvSpPr>
        <p:spPr>
          <a:xfrm>
            <a:off x="6126319" y="1128407"/>
            <a:ext cx="5462565" cy="5256000"/>
          </a:xfrm>
          <a:custGeom>
            <a:avLst/>
            <a:gdLst>
              <a:gd name="connsiteX0" fmla="*/ 0 w 5462565"/>
              <a:gd name="connsiteY0" fmla="*/ 0 h 5256000"/>
              <a:gd name="connsiteX1" fmla="*/ 5462565 w 5462565"/>
              <a:gd name="connsiteY1" fmla="*/ 0 h 5256000"/>
              <a:gd name="connsiteX2" fmla="*/ 5462565 w 5462565"/>
              <a:gd name="connsiteY2" fmla="*/ 5256000 h 5256000"/>
              <a:gd name="connsiteX3" fmla="*/ 0 w 5462565"/>
              <a:gd name="connsiteY3" fmla="*/ 5256000 h 5256000"/>
            </a:gdLst>
            <a:ahLst/>
            <a:cxnLst>
              <a:cxn ang="0">
                <a:pos x="connsiteX0" y="connsiteY0"/>
              </a:cxn>
              <a:cxn ang="0">
                <a:pos x="connsiteX1" y="connsiteY1"/>
              </a:cxn>
              <a:cxn ang="0">
                <a:pos x="connsiteX2" y="connsiteY2"/>
              </a:cxn>
              <a:cxn ang="0">
                <a:pos x="connsiteX3" y="connsiteY3"/>
              </a:cxn>
            </a:cxnLst>
            <a:rect l="l" t="t" r="r" b="b"/>
            <a:pathLst>
              <a:path w="5462565" h="5256000">
                <a:moveTo>
                  <a:pt x="0" y="0"/>
                </a:moveTo>
                <a:lnTo>
                  <a:pt x="5462565" y="0"/>
                </a:lnTo>
                <a:lnTo>
                  <a:pt x="5462565" y="5256000"/>
                </a:lnTo>
                <a:lnTo>
                  <a:pt x="0" y="5256000"/>
                </a:lnTo>
                <a:close/>
              </a:path>
            </a:pathLst>
          </a:custGeom>
          <a:solidFill>
            <a:schemeClr val="tx1">
              <a:lumMod val="10000"/>
              <a:lumOff val="90000"/>
            </a:schemeClr>
          </a:solidFill>
        </p:spPr>
        <p:txBody>
          <a:bodyPr wrap="square" lIns="216000" tIns="216000" rIns="216000" bIns="216000">
            <a:noAutofit/>
          </a:bodyPr>
          <a:lstStyle>
            <a:lvl1pPr>
              <a:defRPr sz="1900"/>
            </a:lvl1pPr>
            <a:lvl2pPr>
              <a:defRPr sz="17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5076000" cy="3636000"/>
          </a:xfrm>
          <a:noFill/>
        </p:spPr>
        <p:txBody>
          <a:bodyPr anchor="ctr"/>
          <a:lstStyle>
            <a:lvl1pPr algn="ctr">
              <a:defRPr sz="1200" b="0"/>
            </a:lvl1pPr>
          </a:lstStyle>
          <a:p>
            <a:r>
              <a:rPr lang="en-US" noProof="0"/>
              <a:t>Graph</a:t>
            </a:r>
          </a:p>
        </p:txBody>
      </p:sp>
      <p:sp>
        <p:nvSpPr>
          <p:cNvPr id="21" name="Espace réservé du graphique 2">
            <a:extLst>
              <a:ext uri="{FF2B5EF4-FFF2-40B4-BE49-F238E27FC236}">
                <a16:creationId xmlns:a16="http://schemas.microsoft.com/office/drawing/2014/main" id="{EBA46C1A-FD0D-44CC-9BA2-F8724E59CBE7}"/>
              </a:ext>
            </a:extLst>
          </p:cNvPr>
          <p:cNvSpPr>
            <a:spLocks noGrp="1"/>
          </p:cNvSpPr>
          <p:nvPr>
            <p:ph type="chart" sz="quarter" idx="21" hasCustomPrompt="1"/>
          </p:nvPr>
        </p:nvSpPr>
        <p:spPr>
          <a:xfrm>
            <a:off x="6321428" y="2556822"/>
            <a:ext cx="5076000" cy="3636000"/>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04733"/>
            <a:ext cx="5076000" cy="1707159"/>
          </a:xfrm>
        </p:spPr>
        <p:txBody>
          <a:bodyPr/>
          <a:lstStyle>
            <a:lvl1pPr>
              <a:defRPr sz="1900"/>
            </a:lvl1pPr>
            <a:lvl2pPr>
              <a:defRPr sz="17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Espace réservé du texte 16">
            <a:extLst>
              <a:ext uri="{FF2B5EF4-FFF2-40B4-BE49-F238E27FC236}">
                <a16:creationId xmlns:a16="http://schemas.microsoft.com/office/drawing/2014/main" id="{47F0136F-2D64-433D-A5B2-DB1BA419C0CC}"/>
              </a:ext>
            </a:extLst>
          </p:cNvPr>
          <p:cNvSpPr>
            <a:spLocks noGrp="1"/>
          </p:cNvSpPr>
          <p:nvPr>
            <p:ph type="body" idx="22"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3578259526"/>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with a graph">
    <p:spTree>
      <p:nvGrpSpPr>
        <p:cNvPr id="1" name=""/>
        <p:cNvGrpSpPr/>
        <p:nvPr/>
      </p:nvGrpSpPr>
      <p:grpSpPr>
        <a:xfrm>
          <a:off x="0" y="0"/>
          <a:ext cx="0" cy="0"/>
          <a:chOff x="0" y="0"/>
          <a:chExt cx="0" cy="0"/>
        </a:xfrm>
      </p:grpSpPr>
      <p:sp>
        <p:nvSpPr>
          <p:cNvPr id="3" name="Google Shape;97;p18">
            <a:extLst>
              <a:ext uri="{FF2B5EF4-FFF2-40B4-BE49-F238E27FC236}">
                <a16:creationId xmlns:a16="http://schemas.microsoft.com/office/drawing/2014/main" id="{2DFB32D6-DA7A-B5AB-6F9C-0D80D5E3B3DF}"/>
              </a:ext>
            </a:extLst>
          </p:cNvPr>
          <p:cNvSpPr/>
          <p:nvPr userDrawn="1"/>
        </p:nvSpPr>
        <p:spPr>
          <a:xfrm>
            <a:off x="9138483" y="0"/>
            <a:ext cx="3067543" cy="6869574"/>
          </a:xfrm>
          <a:custGeom>
            <a:avLst/>
            <a:gdLst>
              <a:gd name="connsiteX0" fmla="*/ 0 w 7111431"/>
              <a:gd name="connsiteY0" fmla="*/ 6858000 h 6858000"/>
              <a:gd name="connsiteX1" fmla="*/ 3060040 w 7111431"/>
              <a:gd name="connsiteY1" fmla="*/ 0 h 6858000"/>
              <a:gd name="connsiteX2" fmla="*/ 7111431 w 7111431"/>
              <a:gd name="connsiteY2" fmla="*/ 0 h 6858000"/>
              <a:gd name="connsiteX3" fmla="*/ 4051391 w 7111431"/>
              <a:gd name="connsiteY3" fmla="*/ 6858000 h 6858000"/>
              <a:gd name="connsiteX4" fmla="*/ 0 w 7111431"/>
              <a:gd name="connsiteY4" fmla="*/ 6858000 h 6858000"/>
              <a:gd name="connsiteX0" fmla="*/ 0 w 4051391"/>
              <a:gd name="connsiteY0" fmla="*/ 6858000 h 6858000"/>
              <a:gd name="connsiteX1" fmla="*/ 3060040 w 4051391"/>
              <a:gd name="connsiteY1" fmla="*/ 0 h 6858000"/>
              <a:gd name="connsiteX2" fmla="*/ 4051391 w 4051391"/>
              <a:gd name="connsiteY2" fmla="*/ 6858000 h 6858000"/>
              <a:gd name="connsiteX3" fmla="*/ 0 w 4051391"/>
              <a:gd name="connsiteY3" fmla="*/ 6858000 h 6858000"/>
              <a:gd name="connsiteX0" fmla="*/ 0 w 3067543"/>
              <a:gd name="connsiteY0" fmla="*/ 6858000 h 6869574"/>
              <a:gd name="connsiteX1" fmla="*/ 3060040 w 3067543"/>
              <a:gd name="connsiteY1" fmla="*/ 0 h 6869574"/>
              <a:gd name="connsiteX2" fmla="*/ 3067543 w 3067543"/>
              <a:gd name="connsiteY2" fmla="*/ 6869574 h 6869574"/>
              <a:gd name="connsiteX3" fmla="*/ 0 w 3067543"/>
              <a:gd name="connsiteY3" fmla="*/ 6858000 h 6869574"/>
            </a:gdLst>
            <a:ahLst/>
            <a:cxnLst>
              <a:cxn ang="0">
                <a:pos x="connsiteX0" y="connsiteY0"/>
              </a:cxn>
              <a:cxn ang="0">
                <a:pos x="connsiteX1" y="connsiteY1"/>
              </a:cxn>
              <a:cxn ang="0">
                <a:pos x="connsiteX2" y="connsiteY2"/>
              </a:cxn>
              <a:cxn ang="0">
                <a:pos x="connsiteX3" y="connsiteY3"/>
              </a:cxn>
            </a:cxnLst>
            <a:rect l="l" t="t" r="r" b="b"/>
            <a:pathLst>
              <a:path w="3067543" h="6869574">
                <a:moveTo>
                  <a:pt x="0" y="6858000"/>
                </a:moveTo>
                <a:lnTo>
                  <a:pt x="3060040" y="0"/>
                </a:lnTo>
                <a:lnTo>
                  <a:pt x="3067543" y="6869574"/>
                </a:lnTo>
                <a:lnTo>
                  <a:pt x="0" y="6858000"/>
                </a:lnTo>
                <a:close/>
              </a:path>
            </a:pathLst>
          </a:custGeom>
          <a:solidFill>
            <a:schemeClr val="tx2">
              <a:lumMod val="20000"/>
              <a:lumOff val="80000"/>
              <a:alpha val="50000"/>
            </a:schemeClr>
          </a:solidFill>
          <a:ln>
            <a:noFill/>
          </a:ln>
        </p:spPr>
        <p:txBody>
          <a:bodyPr spcFirstLastPara="1" wrap="square" lIns="121900" tIns="121900" rIns="121900" bIns="121900" anchor="ctr" anchorCtr="0">
            <a:noAutofit/>
          </a:bodyPr>
          <a:lstStyle/>
          <a:p>
            <a:pPr algn="ctr"/>
            <a:endParaRPr sz="2489"/>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11052484" cy="3744000"/>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11052484"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B419FC59-E72A-9E22-FA92-D938437A06E6}"/>
              </a:ext>
            </a:extLst>
          </p:cNvPr>
          <p:cNvSpPr>
            <a:spLocks noGrp="1"/>
          </p:cNvSpPr>
          <p:nvPr>
            <p:ph type="body" idx="21"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1807780601"/>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with a graph and a frame ">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7019999" cy="3600138"/>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399" y="1337159"/>
            <a:ext cx="7020000"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718BF0D1-2051-4CDC-8776-6ACE284695A6}"/>
              </a:ext>
            </a:extLst>
          </p:cNvPr>
          <p:cNvSpPr>
            <a:spLocks noGrp="1"/>
          </p:cNvSpPr>
          <p:nvPr>
            <p:ph type="body" sz="quarter" idx="18" hasCustomPrompt="1"/>
          </p:nvPr>
        </p:nvSpPr>
        <p:spPr>
          <a:xfrm>
            <a:off x="7917908" y="1288067"/>
            <a:ext cx="3656872" cy="4868893"/>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BE6F09B7-3337-9809-7A66-378FD8DD802E}"/>
              </a:ext>
            </a:extLst>
          </p:cNvPr>
          <p:cNvSpPr>
            <a:spLocks noGrp="1"/>
          </p:cNvSpPr>
          <p:nvPr>
            <p:ph type="body" idx="21"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3442684688"/>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aph with 2 texts in 2 frames">
    <p:spTree>
      <p:nvGrpSpPr>
        <p:cNvPr id="1" name=""/>
        <p:cNvGrpSpPr/>
        <p:nvPr/>
      </p:nvGrpSpPr>
      <p:grpSpPr>
        <a:xfrm>
          <a:off x="0" y="0"/>
          <a:ext cx="0" cy="0"/>
          <a:chOff x="0" y="0"/>
          <a:chExt cx="0" cy="0"/>
        </a:xfrm>
      </p:grpSpPr>
      <p:sp>
        <p:nvSpPr>
          <p:cNvPr id="6" name="Google Shape;97;p18">
            <a:extLst>
              <a:ext uri="{FF2B5EF4-FFF2-40B4-BE49-F238E27FC236}">
                <a16:creationId xmlns:a16="http://schemas.microsoft.com/office/drawing/2014/main" id="{7A71E5F9-2365-0D29-820A-7C151A43798F}"/>
              </a:ext>
            </a:extLst>
          </p:cNvPr>
          <p:cNvSpPr/>
          <p:nvPr userDrawn="1"/>
        </p:nvSpPr>
        <p:spPr>
          <a:xfrm>
            <a:off x="9138483" y="0"/>
            <a:ext cx="3067543" cy="6869574"/>
          </a:xfrm>
          <a:custGeom>
            <a:avLst/>
            <a:gdLst>
              <a:gd name="connsiteX0" fmla="*/ 0 w 7111431"/>
              <a:gd name="connsiteY0" fmla="*/ 6858000 h 6858000"/>
              <a:gd name="connsiteX1" fmla="*/ 3060040 w 7111431"/>
              <a:gd name="connsiteY1" fmla="*/ 0 h 6858000"/>
              <a:gd name="connsiteX2" fmla="*/ 7111431 w 7111431"/>
              <a:gd name="connsiteY2" fmla="*/ 0 h 6858000"/>
              <a:gd name="connsiteX3" fmla="*/ 4051391 w 7111431"/>
              <a:gd name="connsiteY3" fmla="*/ 6858000 h 6858000"/>
              <a:gd name="connsiteX4" fmla="*/ 0 w 7111431"/>
              <a:gd name="connsiteY4" fmla="*/ 6858000 h 6858000"/>
              <a:gd name="connsiteX0" fmla="*/ 0 w 4051391"/>
              <a:gd name="connsiteY0" fmla="*/ 6858000 h 6858000"/>
              <a:gd name="connsiteX1" fmla="*/ 3060040 w 4051391"/>
              <a:gd name="connsiteY1" fmla="*/ 0 h 6858000"/>
              <a:gd name="connsiteX2" fmla="*/ 4051391 w 4051391"/>
              <a:gd name="connsiteY2" fmla="*/ 6858000 h 6858000"/>
              <a:gd name="connsiteX3" fmla="*/ 0 w 4051391"/>
              <a:gd name="connsiteY3" fmla="*/ 6858000 h 6858000"/>
              <a:gd name="connsiteX0" fmla="*/ 0 w 3067543"/>
              <a:gd name="connsiteY0" fmla="*/ 6858000 h 6869574"/>
              <a:gd name="connsiteX1" fmla="*/ 3060040 w 3067543"/>
              <a:gd name="connsiteY1" fmla="*/ 0 h 6869574"/>
              <a:gd name="connsiteX2" fmla="*/ 3067543 w 3067543"/>
              <a:gd name="connsiteY2" fmla="*/ 6869574 h 6869574"/>
              <a:gd name="connsiteX3" fmla="*/ 0 w 3067543"/>
              <a:gd name="connsiteY3" fmla="*/ 6858000 h 6869574"/>
            </a:gdLst>
            <a:ahLst/>
            <a:cxnLst>
              <a:cxn ang="0">
                <a:pos x="connsiteX0" y="connsiteY0"/>
              </a:cxn>
              <a:cxn ang="0">
                <a:pos x="connsiteX1" y="connsiteY1"/>
              </a:cxn>
              <a:cxn ang="0">
                <a:pos x="connsiteX2" y="connsiteY2"/>
              </a:cxn>
              <a:cxn ang="0">
                <a:pos x="connsiteX3" y="connsiteY3"/>
              </a:cxn>
            </a:cxnLst>
            <a:rect l="l" t="t" r="r" b="b"/>
            <a:pathLst>
              <a:path w="3067543" h="6869574">
                <a:moveTo>
                  <a:pt x="0" y="6858000"/>
                </a:moveTo>
                <a:lnTo>
                  <a:pt x="3060040" y="0"/>
                </a:lnTo>
                <a:lnTo>
                  <a:pt x="3067543" y="6869574"/>
                </a:lnTo>
                <a:lnTo>
                  <a:pt x="0" y="6858000"/>
                </a:lnTo>
                <a:close/>
              </a:path>
            </a:pathLst>
          </a:custGeom>
          <a:solidFill>
            <a:schemeClr val="tx2">
              <a:lumMod val="20000"/>
              <a:lumOff val="80000"/>
              <a:alpha val="50000"/>
            </a:schemeClr>
          </a:solidFill>
          <a:ln>
            <a:noFill/>
          </a:ln>
        </p:spPr>
        <p:txBody>
          <a:bodyPr spcFirstLastPara="1" wrap="square" lIns="121900" tIns="121900" rIns="121900" bIns="121900" anchor="ctr" anchorCtr="0">
            <a:noAutofit/>
          </a:bodyPr>
          <a:lstStyle/>
          <a:p>
            <a:pPr algn="ctr"/>
            <a:endParaRPr sz="2489"/>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1" y="1337159"/>
            <a:ext cx="5400000" cy="4819801"/>
          </a:xfrm>
          <a:noFill/>
        </p:spPr>
        <p:txBody>
          <a:bodyPr anchor="ctr"/>
          <a:lstStyle>
            <a:lvl1pPr algn="ctr">
              <a:defRPr sz="1200" b="0"/>
            </a:lvl1pPr>
          </a:lstStyle>
          <a:p>
            <a:r>
              <a:rPr lang="en-US" noProof="0"/>
              <a:t>Graph</a:t>
            </a:r>
          </a:p>
        </p:txBody>
      </p:sp>
      <p:sp>
        <p:nvSpPr>
          <p:cNvPr id="15" name="Espace réservé du texte 14">
            <a:extLst>
              <a:ext uri="{FF2B5EF4-FFF2-40B4-BE49-F238E27FC236}">
                <a16:creationId xmlns:a16="http://schemas.microsoft.com/office/drawing/2014/main" id="{9F20727D-5E83-4E0E-9FB9-68D69A7B531A}"/>
              </a:ext>
            </a:extLst>
          </p:cNvPr>
          <p:cNvSpPr>
            <a:spLocks noGrp="1"/>
          </p:cNvSpPr>
          <p:nvPr>
            <p:ph type="body" sz="quarter" idx="18" hasCustomPrompt="1"/>
          </p:nvPr>
        </p:nvSpPr>
        <p:spPr>
          <a:xfrm>
            <a:off x="6143028" y="1288067"/>
            <a:ext cx="5470432" cy="2300953"/>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Espace réservé du texte 15">
            <a:extLst>
              <a:ext uri="{FF2B5EF4-FFF2-40B4-BE49-F238E27FC236}">
                <a16:creationId xmlns:a16="http://schemas.microsoft.com/office/drawing/2014/main" id="{A7196165-27AE-443C-AF47-7B6B0DC59659}"/>
              </a:ext>
            </a:extLst>
          </p:cNvPr>
          <p:cNvSpPr>
            <a:spLocks noGrp="1"/>
          </p:cNvSpPr>
          <p:nvPr>
            <p:ph type="body" sz="quarter" idx="21" hasCustomPrompt="1"/>
          </p:nvPr>
        </p:nvSpPr>
        <p:spPr>
          <a:xfrm>
            <a:off x="6143028" y="3856007"/>
            <a:ext cx="5470432" cy="2300953"/>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BF144683-448B-AEEC-9E1B-EE5A080FBBA5}"/>
              </a:ext>
            </a:extLst>
          </p:cNvPr>
          <p:cNvSpPr>
            <a:spLocks noGrp="1"/>
          </p:cNvSpPr>
          <p:nvPr>
            <p:ph type="body" idx="22"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686383283"/>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with highlighting numbers">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11052484"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Espace réservé du texte 10">
            <a:extLst>
              <a:ext uri="{FF2B5EF4-FFF2-40B4-BE49-F238E27FC236}">
                <a16:creationId xmlns:a16="http://schemas.microsoft.com/office/drawing/2014/main" id="{429BDA1B-2BC8-40BC-AA30-CF42B5D03C7A}"/>
              </a:ext>
            </a:extLst>
          </p:cNvPr>
          <p:cNvSpPr>
            <a:spLocks noGrp="1"/>
          </p:cNvSpPr>
          <p:nvPr>
            <p:ph type="body" sz="quarter" idx="18" hasCustomPrompt="1"/>
          </p:nvPr>
        </p:nvSpPr>
        <p:spPr>
          <a:xfrm>
            <a:off x="643556" y="3023085"/>
            <a:ext cx="3384000" cy="684000"/>
          </a:xfrm>
          <a:solidFill>
            <a:schemeClr val="tx2"/>
          </a:solidFill>
        </p:spPr>
        <p:txBody>
          <a:bodyPr anchor="ctr"/>
          <a:lstStyle>
            <a:lvl1pPr algn="ctr">
              <a:defRPr sz="4000">
                <a:solidFill>
                  <a:schemeClr val="bg1"/>
                </a:solidFill>
                <a:latin typeface="+mj-lt"/>
              </a:defRPr>
            </a:lvl1pPr>
            <a:lvl2pPr>
              <a:defRPr sz="2400"/>
            </a:lvl2pPr>
            <a:lvl3pPr>
              <a:defRPr sz="1800"/>
            </a:lvl3pPr>
            <a:lvl4pPr>
              <a:defRPr sz="1600"/>
            </a:lvl4pPr>
            <a:lvl5pPr>
              <a:defRPr sz="1600"/>
            </a:lvl5pPr>
          </a:lstStyle>
          <a:p>
            <a:pPr lvl="0"/>
            <a:r>
              <a:rPr lang="en-US" noProof="0"/>
              <a:t>NN</a:t>
            </a:r>
          </a:p>
        </p:txBody>
      </p:sp>
      <p:sp>
        <p:nvSpPr>
          <p:cNvPr id="10" name="Espace réservé du texte 10">
            <a:extLst>
              <a:ext uri="{FF2B5EF4-FFF2-40B4-BE49-F238E27FC236}">
                <a16:creationId xmlns:a16="http://schemas.microsoft.com/office/drawing/2014/main" id="{72106505-DB5F-4F49-8822-4826BDEC7BCF}"/>
              </a:ext>
            </a:extLst>
          </p:cNvPr>
          <p:cNvSpPr>
            <a:spLocks noGrp="1"/>
          </p:cNvSpPr>
          <p:nvPr>
            <p:ph type="body" sz="quarter" idx="19" hasCustomPrompt="1"/>
          </p:nvPr>
        </p:nvSpPr>
        <p:spPr>
          <a:xfrm>
            <a:off x="536398" y="3968439"/>
            <a:ext cx="3491157" cy="2340000"/>
          </a:xfrm>
        </p:spPr>
        <p:txBody>
          <a:bodyPr/>
          <a:lstStyle>
            <a:lvl1pPr>
              <a:defRPr sz="1600"/>
            </a:lvl1pPr>
            <a:lvl2pPr>
              <a:defRPr sz="16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Espace réservé du texte 10">
            <a:extLst>
              <a:ext uri="{FF2B5EF4-FFF2-40B4-BE49-F238E27FC236}">
                <a16:creationId xmlns:a16="http://schemas.microsoft.com/office/drawing/2014/main" id="{73C17576-3818-4DAF-8697-2FBB1139D9DB}"/>
              </a:ext>
            </a:extLst>
          </p:cNvPr>
          <p:cNvSpPr>
            <a:spLocks noGrp="1"/>
          </p:cNvSpPr>
          <p:nvPr>
            <p:ph type="body" sz="quarter" idx="21" hasCustomPrompt="1"/>
          </p:nvPr>
        </p:nvSpPr>
        <p:spPr>
          <a:xfrm>
            <a:off x="4409106" y="3023085"/>
            <a:ext cx="3384000" cy="684000"/>
          </a:xfrm>
          <a:solidFill>
            <a:schemeClr val="tx2"/>
          </a:solidFill>
        </p:spPr>
        <p:txBody>
          <a:bodyPr anchor="ctr"/>
          <a:lstStyle>
            <a:lvl1pPr algn="ctr">
              <a:defRPr sz="4000">
                <a:solidFill>
                  <a:schemeClr val="bg1"/>
                </a:solidFill>
                <a:latin typeface="+mj-lt"/>
              </a:defRPr>
            </a:lvl1pPr>
            <a:lvl2pPr>
              <a:defRPr sz="2400"/>
            </a:lvl2pPr>
            <a:lvl3pPr>
              <a:defRPr sz="1800"/>
            </a:lvl3pPr>
            <a:lvl4pPr>
              <a:defRPr sz="1600"/>
            </a:lvl4pPr>
            <a:lvl5pPr>
              <a:defRPr sz="1600"/>
            </a:lvl5pPr>
          </a:lstStyle>
          <a:p>
            <a:pPr lvl="0"/>
            <a:r>
              <a:rPr lang="en-US" noProof="0"/>
              <a:t>NN</a:t>
            </a:r>
          </a:p>
        </p:txBody>
      </p:sp>
      <p:sp>
        <p:nvSpPr>
          <p:cNvPr id="15" name="Espace réservé du texte 10">
            <a:extLst>
              <a:ext uri="{FF2B5EF4-FFF2-40B4-BE49-F238E27FC236}">
                <a16:creationId xmlns:a16="http://schemas.microsoft.com/office/drawing/2014/main" id="{06D58CD4-C66A-40AB-98B4-535A07E2DB94}"/>
              </a:ext>
            </a:extLst>
          </p:cNvPr>
          <p:cNvSpPr>
            <a:spLocks noGrp="1"/>
          </p:cNvSpPr>
          <p:nvPr>
            <p:ph type="body" sz="quarter" idx="22" hasCustomPrompt="1"/>
          </p:nvPr>
        </p:nvSpPr>
        <p:spPr>
          <a:xfrm>
            <a:off x="4301948" y="3968439"/>
            <a:ext cx="3491157" cy="2340000"/>
          </a:xfrm>
        </p:spPr>
        <p:txBody>
          <a:bodyPr/>
          <a:lstStyle>
            <a:lvl1pPr>
              <a:defRPr sz="1600"/>
            </a:lvl1pPr>
            <a:lvl2pPr>
              <a:defRPr sz="16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Espace réservé du texte 10">
            <a:extLst>
              <a:ext uri="{FF2B5EF4-FFF2-40B4-BE49-F238E27FC236}">
                <a16:creationId xmlns:a16="http://schemas.microsoft.com/office/drawing/2014/main" id="{929A8655-1F53-480F-8591-3D24D79A7B03}"/>
              </a:ext>
            </a:extLst>
          </p:cNvPr>
          <p:cNvSpPr>
            <a:spLocks noGrp="1"/>
          </p:cNvSpPr>
          <p:nvPr>
            <p:ph type="body" sz="quarter" idx="24" hasCustomPrompt="1"/>
          </p:nvPr>
        </p:nvSpPr>
        <p:spPr>
          <a:xfrm>
            <a:off x="8174656" y="3023085"/>
            <a:ext cx="3384000" cy="684000"/>
          </a:xfrm>
          <a:solidFill>
            <a:schemeClr val="tx2"/>
          </a:solidFill>
        </p:spPr>
        <p:txBody>
          <a:bodyPr anchor="ctr"/>
          <a:lstStyle>
            <a:lvl1pPr algn="ctr">
              <a:defRPr sz="4000">
                <a:solidFill>
                  <a:schemeClr val="bg1"/>
                </a:solidFill>
                <a:latin typeface="+mj-lt"/>
              </a:defRPr>
            </a:lvl1pPr>
            <a:lvl2pPr>
              <a:defRPr sz="2400"/>
            </a:lvl2pPr>
            <a:lvl3pPr>
              <a:defRPr sz="1800"/>
            </a:lvl3pPr>
            <a:lvl4pPr>
              <a:defRPr sz="1600"/>
            </a:lvl4pPr>
            <a:lvl5pPr>
              <a:defRPr sz="1600"/>
            </a:lvl5pPr>
          </a:lstStyle>
          <a:p>
            <a:pPr lvl="0"/>
            <a:r>
              <a:rPr lang="en-US" noProof="0"/>
              <a:t>NN</a:t>
            </a:r>
          </a:p>
        </p:txBody>
      </p:sp>
      <p:sp>
        <p:nvSpPr>
          <p:cNvPr id="19" name="Espace réservé du texte 10">
            <a:extLst>
              <a:ext uri="{FF2B5EF4-FFF2-40B4-BE49-F238E27FC236}">
                <a16:creationId xmlns:a16="http://schemas.microsoft.com/office/drawing/2014/main" id="{2B9BEC67-6961-47E7-8313-1489F4F11B5C}"/>
              </a:ext>
            </a:extLst>
          </p:cNvPr>
          <p:cNvSpPr>
            <a:spLocks noGrp="1"/>
          </p:cNvSpPr>
          <p:nvPr>
            <p:ph type="body" sz="quarter" idx="25" hasCustomPrompt="1"/>
          </p:nvPr>
        </p:nvSpPr>
        <p:spPr>
          <a:xfrm>
            <a:off x="8067498" y="3968439"/>
            <a:ext cx="3491157" cy="2340000"/>
          </a:xfrm>
        </p:spPr>
        <p:txBody>
          <a:bodyPr/>
          <a:lstStyle>
            <a:lvl1pPr>
              <a:defRPr sz="1600"/>
            </a:lvl1pPr>
            <a:lvl2pPr>
              <a:defRPr sz="16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9FC375D8-754D-F925-D386-C531E063BFA4}"/>
              </a:ext>
            </a:extLst>
          </p:cNvPr>
          <p:cNvSpPr>
            <a:spLocks noGrp="1"/>
          </p:cNvSpPr>
          <p:nvPr>
            <p:ph type="body" idx="27"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4217412181"/>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in 2 columns with a frame">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7127143" cy="1296000"/>
          </a:xfrm>
        </p:spPr>
        <p:txBody>
          <a:bodyPr/>
          <a:lstStyle>
            <a:lvl1pPr>
              <a:defRPr sz="2400"/>
            </a:lvl1pPr>
            <a:lvl2pPr>
              <a:buNone/>
              <a:defRPr sz="2400"/>
            </a:lvl2pPr>
            <a:lvl3pPr>
              <a:defRPr sz="1800"/>
            </a:lvl3pPr>
            <a:lvl4pPr>
              <a:defRPr sz="1600"/>
            </a:lvl4pPr>
            <a:lvl5pPr>
              <a:defRPr sz="1600"/>
            </a:lvl5pPr>
          </a:lstStyle>
          <a:p>
            <a:pPr lvl="0"/>
            <a:r>
              <a:rPr lang="en-US" noProof="0"/>
              <a:t>Click to edit master text styles</a:t>
            </a:r>
          </a:p>
        </p:txBody>
      </p:sp>
      <p:sp>
        <p:nvSpPr>
          <p:cNvPr id="22" name="Espace réservé du texte 10">
            <a:extLst>
              <a:ext uri="{FF2B5EF4-FFF2-40B4-BE49-F238E27FC236}">
                <a16:creationId xmlns:a16="http://schemas.microsoft.com/office/drawing/2014/main" id="{66ED2081-D062-47AE-9D57-77E330A954EF}"/>
              </a:ext>
            </a:extLst>
          </p:cNvPr>
          <p:cNvSpPr>
            <a:spLocks noGrp="1"/>
          </p:cNvSpPr>
          <p:nvPr>
            <p:ph type="body" sz="quarter" idx="18" hasCustomPrompt="1"/>
          </p:nvPr>
        </p:nvSpPr>
        <p:spPr>
          <a:xfrm>
            <a:off x="536400" y="2690848"/>
            <a:ext cx="3528000" cy="3383381"/>
          </a:xfrm>
        </p:spPr>
        <p:txBody>
          <a:bodyPr/>
          <a:lstStyle>
            <a:lvl1pPr>
              <a:defRPr sz="1900"/>
            </a:lvl1pPr>
            <a:lvl2pPr>
              <a:defRPr sz="19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Espace réservé du texte 10">
            <a:extLst>
              <a:ext uri="{FF2B5EF4-FFF2-40B4-BE49-F238E27FC236}">
                <a16:creationId xmlns:a16="http://schemas.microsoft.com/office/drawing/2014/main" id="{A24175A2-B90D-4CD9-8997-CD3D3F99148E}"/>
              </a:ext>
            </a:extLst>
          </p:cNvPr>
          <p:cNvSpPr>
            <a:spLocks noGrp="1"/>
          </p:cNvSpPr>
          <p:nvPr>
            <p:ph type="body" sz="quarter" idx="19" hasCustomPrompt="1"/>
          </p:nvPr>
        </p:nvSpPr>
        <p:spPr>
          <a:xfrm>
            <a:off x="4135543" y="2690848"/>
            <a:ext cx="3528000" cy="3383381"/>
          </a:xfrm>
        </p:spPr>
        <p:txBody>
          <a:bodyPr/>
          <a:lstStyle>
            <a:lvl1pPr>
              <a:defRPr sz="1900"/>
            </a:lvl1pPr>
            <a:lvl2pPr>
              <a:defRPr sz="19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Espace réservé du texte 23">
            <a:extLst>
              <a:ext uri="{FF2B5EF4-FFF2-40B4-BE49-F238E27FC236}">
                <a16:creationId xmlns:a16="http://schemas.microsoft.com/office/drawing/2014/main" id="{7EDC22B2-698E-4E5B-A0AD-BAE9A52C79F4}"/>
              </a:ext>
            </a:extLst>
          </p:cNvPr>
          <p:cNvSpPr>
            <a:spLocks noGrp="1"/>
          </p:cNvSpPr>
          <p:nvPr>
            <p:ph type="body" sz="quarter" idx="20" hasCustomPrompt="1"/>
          </p:nvPr>
        </p:nvSpPr>
        <p:spPr>
          <a:xfrm>
            <a:off x="7917908" y="1288067"/>
            <a:ext cx="3656872" cy="4868893"/>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7B4C1293-FFAD-77B0-06A2-4C97EB91E39E}"/>
              </a:ext>
            </a:extLst>
          </p:cNvPr>
          <p:cNvSpPr>
            <a:spLocks noGrp="1"/>
          </p:cNvSpPr>
          <p:nvPr>
            <p:ph type="body" idx="21"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4158461451"/>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 Columns">
    <p:spTree>
      <p:nvGrpSpPr>
        <p:cNvPr id="1" name=""/>
        <p:cNvGrpSpPr/>
        <p:nvPr/>
      </p:nvGrpSpPr>
      <p:grpSpPr>
        <a:xfrm>
          <a:off x="0" y="0"/>
          <a:ext cx="0" cy="0"/>
          <a:chOff x="0" y="0"/>
          <a:chExt cx="0" cy="0"/>
        </a:xfrm>
      </p:grpSpPr>
      <p:sp>
        <p:nvSpPr>
          <p:cNvPr id="2" name="Text Placeholder 15">
            <a:extLst>
              <a:ext uri="{FF2B5EF4-FFF2-40B4-BE49-F238E27FC236}">
                <a16:creationId xmlns:a16="http://schemas.microsoft.com/office/drawing/2014/main" id="{A37B1C57-DE1C-3D55-9AA6-2EC73EA097D5}"/>
              </a:ext>
            </a:extLst>
          </p:cNvPr>
          <p:cNvSpPr>
            <a:spLocks noGrp="1"/>
          </p:cNvSpPr>
          <p:nvPr>
            <p:ph type="body" sz="quarter" idx="10" hasCustomPrompt="1"/>
          </p:nvPr>
        </p:nvSpPr>
        <p:spPr>
          <a:xfrm>
            <a:off x="263526" y="296863"/>
            <a:ext cx="2484438" cy="175577"/>
          </a:xfrm>
        </p:spPr>
        <p:txBody>
          <a:bodyPr/>
          <a:lstStyle>
            <a:lvl1pPr>
              <a:defRPr>
                <a:solidFill>
                  <a:srgbClr val="DA291C"/>
                </a:solidFill>
                <a:latin typeface="Work Sans SemiBold" pitchFamily="2" charset="0"/>
              </a:defRPr>
            </a:lvl1pPr>
          </a:lstStyle>
          <a:p>
            <a:pPr lvl="0"/>
            <a:r>
              <a:rPr lang="en-GB"/>
              <a:t>TAG HERE</a:t>
            </a:r>
          </a:p>
        </p:txBody>
      </p:sp>
    </p:spTree>
    <p:extLst>
      <p:ext uri="{BB962C8B-B14F-4D97-AF65-F5344CB8AC3E}">
        <p14:creationId xmlns:p14="http://schemas.microsoft.com/office/powerpoint/2010/main" val="3733233519"/>
      </p:ext>
    </p:extLst>
  </p:cSld>
  <p:clrMapOvr>
    <a:masterClrMapping/>
  </p:clrMapOvr>
  <p:extLst>
    <p:ext uri="{DCECCB84-F9BA-43D5-87BE-67443E8EF086}">
      <p15:sldGuideLst xmlns:p15="http://schemas.microsoft.com/office/powerpoint/2012/main">
        <p15:guide id="1" pos="1617">
          <p15:clr>
            <a:srgbClr val="000000"/>
          </p15:clr>
        </p15:guide>
        <p15:guide id="2" pos="6063">
          <p15:clr>
            <a:srgbClr val="000000"/>
          </p15:clr>
        </p15:guide>
        <p15:guide id="3" pos="4566">
          <p15:clr>
            <a:srgbClr val="000000"/>
          </p15:clr>
        </p15:guide>
        <p15:guide id="4" pos="3114">
          <p15:clr>
            <a:srgbClr val="000000"/>
          </p15:clr>
        </p15:guide>
        <p15:guide id="5" pos="3069">
          <p15:clr>
            <a:srgbClr val="A4A3A4"/>
          </p15:clr>
        </p15:guide>
        <p15:guide id="6" pos="1663">
          <p15:clr>
            <a:srgbClr val="A4A3A4"/>
          </p15:clr>
        </p15:guide>
        <p15:guide id="7" pos="1572">
          <p15:clr>
            <a:srgbClr val="A4A3A4"/>
          </p15:clr>
        </p15:guide>
        <p15:guide id="8" pos="6108">
          <p15:clr>
            <a:srgbClr val="A4A3A4"/>
          </p15:clr>
        </p15:guide>
        <p15:guide id="9" pos="6017">
          <p15:clr>
            <a:srgbClr val="A4A3A4"/>
          </p15:clr>
        </p15:guide>
        <p15:guide id="10" pos="3160">
          <p15:clr>
            <a:srgbClr val="A4A3A4"/>
          </p15:clr>
        </p15:guide>
        <p15:guide id="11" pos="4611">
          <p15:clr>
            <a:srgbClr val="A4A3A4"/>
          </p15:clr>
        </p15:guide>
        <p15:guide id="12" pos="4520">
          <p15:clr>
            <a:srgbClr val="A4A3A4"/>
          </p15:clr>
        </p15:guide>
        <p15:guide id="13" pos="2842">
          <p15:clr>
            <a:srgbClr val="FBAE40"/>
          </p15:clr>
        </p15:guide>
        <p15:guide id="14" pos="1345">
          <p15:clr>
            <a:srgbClr val="FBAE40"/>
          </p15:clr>
        </p15:guide>
        <p15:guide id="15" pos="4294">
          <p15:clr>
            <a:srgbClr val="FBAE40"/>
          </p15:clr>
        </p15:guide>
        <p15:guide id="16" pos="5790">
          <p15:clr>
            <a:srgbClr val="FBAE40"/>
          </p15:clr>
        </p15:guide>
        <p15:guide id="17" pos="728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Contact">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FEBD29-A2FA-59FB-FF78-3F8070935093}"/>
              </a:ext>
            </a:extLst>
          </p:cNvPr>
          <p:cNvSpPr/>
          <p:nvPr userDrawn="1"/>
        </p:nvSpPr>
        <p:spPr>
          <a:xfrm>
            <a:off x="-4172" y="-3173"/>
            <a:ext cx="12196171" cy="6861175"/>
          </a:xfrm>
          <a:prstGeom prst="rect">
            <a:avLst/>
          </a:prstGeom>
          <a:gradFill flip="none" rotWithShape="1">
            <a:gsLst>
              <a:gs pos="15000">
                <a:schemeClr val="accent1">
                  <a:lumMod val="50000"/>
                </a:schemeClr>
              </a:gs>
              <a:gs pos="100000">
                <a:schemeClr val="accent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47788">
              <a:buClrTx/>
              <a:defRPr/>
            </a:pPr>
            <a:endParaRPr lang="fr-FR" sz="1669" kern="1200">
              <a:solidFill>
                <a:prstClr val="white"/>
              </a:solidFill>
              <a:latin typeface="Encode Sans ExpandedLight"/>
            </a:endParaRPr>
          </a:p>
        </p:txBody>
      </p:sp>
      <p:sp>
        <p:nvSpPr>
          <p:cNvPr id="4" name="Parallelogram 22">
            <a:extLst>
              <a:ext uri="{FF2B5EF4-FFF2-40B4-BE49-F238E27FC236}">
                <a16:creationId xmlns:a16="http://schemas.microsoft.com/office/drawing/2014/main" id="{0E3CF52A-2667-3E70-2B15-C411A883EBA1}"/>
              </a:ext>
            </a:extLst>
          </p:cNvPr>
          <p:cNvSpPr/>
          <p:nvPr userDrawn="1"/>
        </p:nvSpPr>
        <p:spPr>
          <a:xfrm>
            <a:off x="-4169" y="-3174"/>
            <a:ext cx="5967314" cy="6867365"/>
          </a:xfrm>
          <a:custGeom>
            <a:avLst/>
            <a:gdLst>
              <a:gd name="connsiteX0" fmla="*/ 0 w 8345097"/>
              <a:gd name="connsiteY0" fmla="*/ 7086360 h 7086360"/>
              <a:gd name="connsiteX1" fmla="*/ 4731137 w 8345097"/>
              <a:gd name="connsiteY1" fmla="*/ 0 h 7086360"/>
              <a:gd name="connsiteX2" fmla="*/ 8345097 w 8345097"/>
              <a:gd name="connsiteY2" fmla="*/ 0 h 7086360"/>
              <a:gd name="connsiteX3" fmla="*/ 3613960 w 8345097"/>
              <a:gd name="connsiteY3" fmla="*/ 7086360 h 7086360"/>
              <a:gd name="connsiteX4" fmla="*/ 0 w 8345097"/>
              <a:gd name="connsiteY4" fmla="*/ 7086360 h 7086360"/>
              <a:gd name="connsiteX0" fmla="*/ 0 w 8345097"/>
              <a:gd name="connsiteY0" fmla="*/ 7097935 h 7097935"/>
              <a:gd name="connsiteX1" fmla="*/ 2381476 w 8345097"/>
              <a:gd name="connsiteY1" fmla="*/ 0 h 7097935"/>
              <a:gd name="connsiteX2" fmla="*/ 8345097 w 8345097"/>
              <a:gd name="connsiteY2" fmla="*/ 11575 h 7097935"/>
              <a:gd name="connsiteX3" fmla="*/ 3613960 w 8345097"/>
              <a:gd name="connsiteY3" fmla="*/ 7097935 h 7097935"/>
              <a:gd name="connsiteX4" fmla="*/ 0 w 8345097"/>
              <a:gd name="connsiteY4" fmla="*/ 7097935 h 7097935"/>
              <a:gd name="connsiteX0" fmla="*/ 0 w 8345097"/>
              <a:gd name="connsiteY0" fmla="*/ 7097935 h 7097935"/>
              <a:gd name="connsiteX1" fmla="*/ 2381476 w 8345097"/>
              <a:gd name="connsiteY1" fmla="*/ 0 h 7097935"/>
              <a:gd name="connsiteX2" fmla="*/ 8345097 w 8345097"/>
              <a:gd name="connsiteY2" fmla="*/ 11575 h 7097935"/>
              <a:gd name="connsiteX3" fmla="*/ 3752856 w 8345097"/>
              <a:gd name="connsiteY3" fmla="*/ 6889590 h 7097935"/>
              <a:gd name="connsiteX4" fmla="*/ 0 w 8345097"/>
              <a:gd name="connsiteY4" fmla="*/ 7097935 h 7097935"/>
              <a:gd name="connsiteX0" fmla="*/ 49207 w 5963621"/>
              <a:gd name="connsiteY0" fmla="*/ 6415028 h 6889590"/>
              <a:gd name="connsiteX1" fmla="*/ 0 w 5963621"/>
              <a:gd name="connsiteY1" fmla="*/ 0 h 6889590"/>
              <a:gd name="connsiteX2" fmla="*/ 5963621 w 5963621"/>
              <a:gd name="connsiteY2" fmla="*/ 11575 h 6889590"/>
              <a:gd name="connsiteX3" fmla="*/ 1371380 w 5963621"/>
              <a:gd name="connsiteY3" fmla="*/ 6889590 h 6889590"/>
              <a:gd name="connsiteX4" fmla="*/ 49207 w 5963621"/>
              <a:gd name="connsiteY4" fmla="*/ 6415028 h 6889590"/>
              <a:gd name="connsiteX0" fmla="*/ 2909 w 5963621"/>
              <a:gd name="connsiteY0" fmla="*/ 6866441 h 6889590"/>
              <a:gd name="connsiteX1" fmla="*/ 0 w 5963621"/>
              <a:gd name="connsiteY1" fmla="*/ 0 h 6889590"/>
              <a:gd name="connsiteX2" fmla="*/ 5963621 w 5963621"/>
              <a:gd name="connsiteY2" fmla="*/ 11575 h 6889590"/>
              <a:gd name="connsiteX3" fmla="*/ 1371380 w 5963621"/>
              <a:gd name="connsiteY3" fmla="*/ 6889590 h 6889590"/>
              <a:gd name="connsiteX4" fmla="*/ 2909 w 5963621"/>
              <a:gd name="connsiteY4" fmla="*/ 6866441 h 6889590"/>
              <a:gd name="connsiteX0" fmla="*/ 3 w 5960715"/>
              <a:gd name="connsiteY0" fmla="*/ 6854866 h 6878015"/>
              <a:gd name="connsiteX1" fmla="*/ 330469 w 5960715"/>
              <a:gd name="connsiteY1" fmla="*/ 321800 h 6878015"/>
              <a:gd name="connsiteX2" fmla="*/ 5960715 w 5960715"/>
              <a:gd name="connsiteY2" fmla="*/ 0 h 6878015"/>
              <a:gd name="connsiteX3" fmla="*/ 1368474 w 5960715"/>
              <a:gd name="connsiteY3" fmla="*/ 6878015 h 6878015"/>
              <a:gd name="connsiteX4" fmla="*/ 3 w 5960715"/>
              <a:gd name="connsiteY4" fmla="*/ 6854866 h 6878015"/>
              <a:gd name="connsiteX0" fmla="*/ 2909 w 5963621"/>
              <a:gd name="connsiteY0" fmla="*/ 6856916 h 6880065"/>
              <a:gd name="connsiteX1" fmla="*/ 0 w 5963621"/>
              <a:gd name="connsiteY1" fmla="*/ 0 h 6880065"/>
              <a:gd name="connsiteX2" fmla="*/ 5963621 w 5963621"/>
              <a:gd name="connsiteY2" fmla="*/ 2050 h 6880065"/>
              <a:gd name="connsiteX3" fmla="*/ 1371380 w 5963621"/>
              <a:gd name="connsiteY3" fmla="*/ 6880065 h 6880065"/>
              <a:gd name="connsiteX4" fmla="*/ 2909 w 5963621"/>
              <a:gd name="connsiteY4" fmla="*/ 6856916 h 6880065"/>
              <a:gd name="connsiteX0" fmla="*/ 215634 w 5963621"/>
              <a:gd name="connsiteY0" fmla="*/ 6682291 h 6880065"/>
              <a:gd name="connsiteX1" fmla="*/ 0 w 5963621"/>
              <a:gd name="connsiteY1" fmla="*/ 0 h 6880065"/>
              <a:gd name="connsiteX2" fmla="*/ 5963621 w 5963621"/>
              <a:gd name="connsiteY2" fmla="*/ 2050 h 6880065"/>
              <a:gd name="connsiteX3" fmla="*/ 1371380 w 5963621"/>
              <a:gd name="connsiteY3" fmla="*/ 6880065 h 6880065"/>
              <a:gd name="connsiteX4" fmla="*/ 215634 w 5963621"/>
              <a:gd name="connsiteY4" fmla="*/ 6682291 h 6880065"/>
              <a:gd name="connsiteX0" fmla="*/ 94984 w 5963621"/>
              <a:gd name="connsiteY0" fmla="*/ 6758491 h 6880065"/>
              <a:gd name="connsiteX1" fmla="*/ 0 w 5963621"/>
              <a:gd name="connsiteY1" fmla="*/ 0 h 6880065"/>
              <a:gd name="connsiteX2" fmla="*/ 5963621 w 5963621"/>
              <a:gd name="connsiteY2" fmla="*/ 2050 h 6880065"/>
              <a:gd name="connsiteX3" fmla="*/ 1371380 w 5963621"/>
              <a:gd name="connsiteY3" fmla="*/ 6880065 h 6880065"/>
              <a:gd name="connsiteX4" fmla="*/ 94984 w 5963621"/>
              <a:gd name="connsiteY4" fmla="*/ 6758491 h 6880065"/>
              <a:gd name="connsiteX0" fmla="*/ 252 w 5964139"/>
              <a:gd name="connsiteY0" fmla="*/ 6856916 h 6880065"/>
              <a:gd name="connsiteX1" fmla="*/ 518 w 5964139"/>
              <a:gd name="connsiteY1" fmla="*/ 0 h 6880065"/>
              <a:gd name="connsiteX2" fmla="*/ 5964139 w 5964139"/>
              <a:gd name="connsiteY2" fmla="*/ 2050 h 6880065"/>
              <a:gd name="connsiteX3" fmla="*/ 1371898 w 5964139"/>
              <a:gd name="connsiteY3" fmla="*/ 6880065 h 6880065"/>
              <a:gd name="connsiteX4" fmla="*/ 252 w 5964139"/>
              <a:gd name="connsiteY4" fmla="*/ 6856916 h 6880065"/>
              <a:gd name="connsiteX0" fmla="*/ 252 w 5964139"/>
              <a:gd name="connsiteY0" fmla="*/ 6856916 h 6864190"/>
              <a:gd name="connsiteX1" fmla="*/ 518 w 5964139"/>
              <a:gd name="connsiteY1" fmla="*/ 0 h 6864190"/>
              <a:gd name="connsiteX2" fmla="*/ 5964139 w 5964139"/>
              <a:gd name="connsiteY2" fmla="*/ 2050 h 6864190"/>
              <a:gd name="connsiteX3" fmla="*/ 1381423 w 5964139"/>
              <a:gd name="connsiteY3" fmla="*/ 6864190 h 6864190"/>
              <a:gd name="connsiteX4" fmla="*/ 252 w 5964139"/>
              <a:gd name="connsiteY4" fmla="*/ 6856916 h 6864190"/>
              <a:gd name="connsiteX0" fmla="*/ 117 w 5967179"/>
              <a:gd name="connsiteY0" fmla="*/ 685691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56916 h 6864190"/>
              <a:gd name="connsiteX0" fmla="*/ 117 w 5967179"/>
              <a:gd name="connsiteY0" fmla="*/ 686326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63266 h 6864190"/>
              <a:gd name="connsiteX0" fmla="*/ 252 w 5967314"/>
              <a:gd name="connsiteY0" fmla="*/ 6866441 h 6867365"/>
              <a:gd name="connsiteX1" fmla="*/ 518 w 5967314"/>
              <a:gd name="connsiteY1" fmla="*/ 0 h 6867365"/>
              <a:gd name="connsiteX2" fmla="*/ 5967314 w 5967314"/>
              <a:gd name="connsiteY2" fmla="*/ 5225 h 6867365"/>
              <a:gd name="connsiteX3" fmla="*/ 1384598 w 5967314"/>
              <a:gd name="connsiteY3" fmla="*/ 6867365 h 6867365"/>
              <a:gd name="connsiteX4" fmla="*/ 252 w 5967314"/>
              <a:gd name="connsiteY4" fmla="*/ 6866441 h 6867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314" h="6867365">
                <a:moveTo>
                  <a:pt x="252" y="6866441"/>
                </a:moveTo>
                <a:cubicBezTo>
                  <a:pt x="-718" y="4577627"/>
                  <a:pt x="1488" y="2288814"/>
                  <a:pt x="518" y="0"/>
                </a:cubicBezTo>
                <a:lnTo>
                  <a:pt x="5967314" y="5225"/>
                </a:lnTo>
                <a:lnTo>
                  <a:pt x="1384598" y="6867365"/>
                </a:lnTo>
                <a:lnTo>
                  <a:pt x="252" y="686644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defTabSz="847788">
              <a:defRPr/>
            </a:pPr>
            <a:endParaRPr lang="ru-RU" sz="2307" kern="1200"/>
          </a:p>
        </p:txBody>
      </p:sp>
      <p:pic>
        <p:nvPicPr>
          <p:cNvPr id="6" name="Image 1">
            <a:extLst>
              <a:ext uri="{FF2B5EF4-FFF2-40B4-BE49-F238E27FC236}">
                <a16:creationId xmlns:a16="http://schemas.microsoft.com/office/drawing/2014/main" id="{48C02172-7393-35AD-4902-73735A5DF4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6335" y="619186"/>
            <a:ext cx="3882500" cy="1019671"/>
          </a:xfrm>
          <a:prstGeom prst="rect">
            <a:avLst/>
          </a:prstGeom>
          <a:noFill/>
          <a:ln>
            <a:noFill/>
          </a:ln>
        </p:spPr>
      </p:pic>
      <p:sp>
        <p:nvSpPr>
          <p:cNvPr id="2" name="Titre 1">
            <a:extLst>
              <a:ext uri="{FF2B5EF4-FFF2-40B4-BE49-F238E27FC236}">
                <a16:creationId xmlns:a16="http://schemas.microsoft.com/office/drawing/2014/main" id="{0AE01D72-D317-48EB-8946-13EE8EFCE25B}"/>
              </a:ext>
            </a:extLst>
          </p:cNvPr>
          <p:cNvSpPr>
            <a:spLocks noGrp="1"/>
          </p:cNvSpPr>
          <p:nvPr>
            <p:ph type="title" hasCustomPrompt="1"/>
          </p:nvPr>
        </p:nvSpPr>
        <p:spPr>
          <a:xfrm>
            <a:off x="3881297" y="2971780"/>
            <a:ext cx="5400000" cy="1799999"/>
          </a:xfrm>
        </p:spPr>
        <p:txBody>
          <a:bodyPr anchor="b"/>
          <a:lstStyle>
            <a:lvl1pPr>
              <a:defRPr sz="3152" b="0">
                <a:solidFill>
                  <a:schemeClr val="bg1"/>
                </a:solidFill>
                <a:latin typeface="+mn-lt"/>
              </a:defRPr>
            </a:lvl1pPr>
          </a:lstStyle>
          <a:p>
            <a:r>
              <a:rPr lang="en-US" noProof="0"/>
              <a:t>Click to edit Master title style</a:t>
            </a:r>
          </a:p>
        </p:txBody>
      </p:sp>
      <p:sp>
        <p:nvSpPr>
          <p:cNvPr id="9" name="Espace réservé du texte 10">
            <a:extLst>
              <a:ext uri="{FF2B5EF4-FFF2-40B4-BE49-F238E27FC236}">
                <a16:creationId xmlns:a16="http://schemas.microsoft.com/office/drawing/2014/main" id="{121B9EDF-81A4-4116-AE20-E6C846380D2A}"/>
              </a:ext>
            </a:extLst>
          </p:cNvPr>
          <p:cNvSpPr>
            <a:spLocks noGrp="1"/>
          </p:cNvSpPr>
          <p:nvPr>
            <p:ph type="body" sz="quarter" idx="13" hasCustomPrompt="1"/>
          </p:nvPr>
        </p:nvSpPr>
        <p:spPr>
          <a:xfrm>
            <a:off x="3881297" y="4838359"/>
            <a:ext cx="5400000" cy="1296000"/>
          </a:xfrm>
        </p:spPr>
        <p:txBody>
          <a:bodyPr/>
          <a:lstStyle>
            <a:lvl1pPr>
              <a:defRPr sz="1113">
                <a:solidFill>
                  <a:schemeClr val="bg1"/>
                </a:solidFill>
                <a:latin typeface="+mj-lt"/>
              </a:defRPr>
            </a:lvl1pPr>
            <a:lvl2pPr marL="0" indent="0">
              <a:spcBef>
                <a:spcPts val="0"/>
              </a:spcBef>
              <a:buNone/>
              <a:defRPr sz="1113">
                <a:solidFill>
                  <a:schemeClr val="bg1"/>
                </a:solidFill>
              </a:defRPr>
            </a:lvl2pPr>
            <a:lvl3pPr>
              <a:defRPr sz="1113">
                <a:solidFill>
                  <a:schemeClr val="bg1"/>
                </a:solidFill>
              </a:defRPr>
            </a:lvl3pPr>
            <a:lvl4pPr>
              <a:defRPr sz="1113">
                <a:solidFill>
                  <a:schemeClr val="bg1"/>
                </a:solidFill>
              </a:defRPr>
            </a:lvl4pPr>
            <a:lvl5pPr>
              <a:defRPr sz="1113">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069346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Contact">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FEBD29-A2FA-59FB-FF78-3F8070935093}"/>
              </a:ext>
            </a:extLst>
          </p:cNvPr>
          <p:cNvSpPr/>
          <p:nvPr userDrawn="1"/>
        </p:nvSpPr>
        <p:spPr>
          <a:xfrm>
            <a:off x="-4172" y="-3173"/>
            <a:ext cx="12196171" cy="6861175"/>
          </a:xfrm>
          <a:prstGeom prst="rect">
            <a:avLst/>
          </a:prstGeom>
          <a:gradFill flip="none" rotWithShape="1">
            <a:gsLst>
              <a:gs pos="15000">
                <a:schemeClr val="accent1">
                  <a:lumMod val="50000"/>
                </a:schemeClr>
              </a:gs>
              <a:gs pos="100000">
                <a:schemeClr val="accent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47788">
              <a:buClrTx/>
              <a:defRPr/>
            </a:pPr>
            <a:endParaRPr lang="fr-FR" sz="1669" kern="1200">
              <a:solidFill>
                <a:prstClr val="white"/>
              </a:solidFill>
              <a:latin typeface="Encode Sans ExpandedLight"/>
            </a:endParaRPr>
          </a:p>
        </p:txBody>
      </p:sp>
      <p:sp>
        <p:nvSpPr>
          <p:cNvPr id="4" name="Parallelogram 22">
            <a:extLst>
              <a:ext uri="{FF2B5EF4-FFF2-40B4-BE49-F238E27FC236}">
                <a16:creationId xmlns:a16="http://schemas.microsoft.com/office/drawing/2014/main" id="{0E3CF52A-2667-3E70-2B15-C411A883EBA1}"/>
              </a:ext>
            </a:extLst>
          </p:cNvPr>
          <p:cNvSpPr/>
          <p:nvPr userDrawn="1"/>
        </p:nvSpPr>
        <p:spPr>
          <a:xfrm>
            <a:off x="-4169" y="-3174"/>
            <a:ext cx="5967314" cy="6867365"/>
          </a:xfrm>
          <a:custGeom>
            <a:avLst/>
            <a:gdLst>
              <a:gd name="connsiteX0" fmla="*/ 0 w 8345097"/>
              <a:gd name="connsiteY0" fmla="*/ 7086360 h 7086360"/>
              <a:gd name="connsiteX1" fmla="*/ 4731137 w 8345097"/>
              <a:gd name="connsiteY1" fmla="*/ 0 h 7086360"/>
              <a:gd name="connsiteX2" fmla="*/ 8345097 w 8345097"/>
              <a:gd name="connsiteY2" fmla="*/ 0 h 7086360"/>
              <a:gd name="connsiteX3" fmla="*/ 3613960 w 8345097"/>
              <a:gd name="connsiteY3" fmla="*/ 7086360 h 7086360"/>
              <a:gd name="connsiteX4" fmla="*/ 0 w 8345097"/>
              <a:gd name="connsiteY4" fmla="*/ 7086360 h 7086360"/>
              <a:gd name="connsiteX0" fmla="*/ 0 w 8345097"/>
              <a:gd name="connsiteY0" fmla="*/ 7097935 h 7097935"/>
              <a:gd name="connsiteX1" fmla="*/ 2381476 w 8345097"/>
              <a:gd name="connsiteY1" fmla="*/ 0 h 7097935"/>
              <a:gd name="connsiteX2" fmla="*/ 8345097 w 8345097"/>
              <a:gd name="connsiteY2" fmla="*/ 11575 h 7097935"/>
              <a:gd name="connsiteX3" fmla="*/ 3613960 w 8345097"/>
              <a:gd name="connsiteY3" fmla="*/ 7097935 h 7097935"/>
              <a:gd name="connsiteX4" fmla="*/ 0 w 8345097"/>
              <a:gd name="connsiteY4" fmla="*/ 7097935 h 7097935"/>
              <a:gd name="connsiteX0" fmla="*/ 0 w 8345097"/>
              <a:gd name="connsiteY0" fmla="*/ 7097935 h 7097935"/>
              <a:gd name="connsiteX1" fmla="*/ 2381476 w 8345097"/>
              <a:gd name="connsiteY1" fmla="*/ 0 h 7097935"/>
              <a:gd name="connsiteX2" fmla="*/ 8345097 w 8345097"/>
              <a:gd name="connsiteY2" fmla="*/ 11575 h 7097935"/>
              <a:gd name="connsiteX3" fmla="*/ 3752856 w 8345097"/>
              <a:gd name="connsiteY3" fmla="*/ 6889590 h 7097935"/>
              <a:gd name="connsiteX4" fmla="*/ 0 w 8345097"/>
              <a:gd name="connsiteY4" fmla="*/ 7097935 h 7097935"/>
              <a:gd name="connsiteX0" fmla="*/ 49207 w 5963621"/>
              <a:gd name="connsiteY0" fmla="*/ 6415028 h 6889590"/>
              <a:gd name="connsiteX1" fmla="*/ 0 w 5963621"/>
              <a:gd name="connsiteY1" fmla="*/ 0 h 6889590"/>
              <a:gd name="connsiteX2" fmla="*/ 5963621 w 5963621"/>
              <a:gd name="connsiteY2" fmla="*/ 11575 h 6889590"/>
              <a:gd name="connsiteX3" fmla="*/ 1371380 w 5963621"/>
              <a:gd name="connsiteY3" fmla="*/ 6889590 h 6889590"/>
              <a:gd name="connsiteX4" fmla="*/ 49207 w 5963621"/>
              <a:gd name="connsiteY4" fmla="*/ 6415028 h 6889590"/>
              <a:gd name="connsiteX0" fmla="*/ 2909 w 5963621"/>
              <a:gd name="connsiteY0" fmla="*/ 6866441 h 6889590"/>
              <a:gd name="connsiteX1" fmla="*/ 0 w 5963621"/>
              <a:gd name="connsiteY1" fmla="*/ 0 h 6889590"/>
              <a:gd name="connsiteX2" fmla="*/ 5963621 w 5963621"/>
              <a:gd name="connsiteY2" fmla="*/ 11575 h 6889590"/>
              <a:gd name="connsiteX3" fmla="*/ 1371380 w 5963621"/>
              <a:gd name="connsiteY3" fmla="*/ 6889590 h 6889590"/>
              <a:gd name="connsiteX4" fmla="*/ 2909 w 5963621"/>
              <a:gd name="connsiteY4" fmla="*/ 6866441 h 6889590"/>
              <a:gd name="connsiteX0" fmla="*/ 3 w 5960715"/>
              <a:gd name="connsiteY0" fmla="*/ 6854866 h 6878015"/>
              <a:gd name="connsiteX1" fmla="*/ 330469 w 5960715"/>
              <a:gd name="connsiteY1" fmla="*/ 321800 h 6878015"/>
              <a:gd name="connsiteX2" fmla="*/ 5960715 w 5960715"/>
              <a:gd name="connsiteY2" fmla="*/ 0 h 6878015"/>
              <a:gd name="connsiteX3" fmla="*/ 1368474 w 5960715"/>
              <a:gd name="connsiteY3" fmla="*/ 6878015 h 6878015"/>
              <a:gd name="connsiteX4" fmla="*/ 3 w 5960715"/>
              <a:gd name="connsiteY4" fmla="*/ 6854866 h 6878015"/>
              <a:gd name="connsiteX0" fmla="*/ 2909 w 5963621"/>
              <a:gd name="connsiteY0" fmla="*/ 6856916 h 6880065"/>
              <a:gd name="connsiteX1" fmla="*/ 0 w 5963621"/>
              <a:gd name="connsiteY1" fmla="*/ 0 h 6880065"/>
              <a:gd name="connsiteX2" fmla="*/ 5963621 w 5963621"/>
              <a:gd name="connsiteY2" fmla="*/ 2050 h 6880065"/>
              <a:gd name="connsiteX3" fmla="*/ 1371380 w 5963621"/>
              <a:gd name="connsiteY3" fmla="*/ 6880065 h 6880065"/>
              <a:gd name="connsiteX4" fmla="*/ 2909 w 5963621"/>
              <a:gd name="connsiteY4" fmla="*/ 6856916 h 6880065"/>
              <a:gd name="connsiteX0" fmla="*/ 215634 w 5963621"/>
              <a:gd name="connsiteY0" fmla="*/ 6682291 h 6880065"/>
              <a:gd name="connsiteX1" fmla="*/ 0 w 5963621"/>
              <a:gd name="connsiteY1" fmla="*/ 0 h 6880065"/>
              <a:gd name="connsiteX2" fmla="*/ 5963621 w 5963621"/>
              <a:gd name="connsiteY2" fmla="*/ 2050 h 6880065"/>
              <a:gd name="connsiteX3" fmla="*/ 1371380 w 5963621"/>
              <a:gd name="connsiteY3" fmla="*/ 6880065 h 6880065"/>
              <a:gd name="connsiteX4" fmla="*/ 215634 w 5963621"/>
              <a:gd name="connsiteY4" fmla="*/ 6682291 h 6880065"/>
              <a:gd name="connsiteX0" fmla="*/ 94984 w 5963621"/>
              <a:gd name="connsiteY0" fmla="*/ 6758491 h 6880065"/>
              <a:gd name="connsiteX1" fmla="*/ 0 w 5963621"/>
              <a:gd name="connsiteY1" fmla="*/ 0 h 6880065"/>
              <a:gd name="connsiteX2" fmla="*/ 5963621 w 5963621"/>
              <a:gd name="connsiteY2" fmla="*/ 2050 h 6880065"/>
              <a:gd name="connsiteX3" fmla="*/ 1371380 w 5963621"/>
              <a:gd name="connsiteY3" fmla="*/ 6880065 h 6880065"/>
              <a:gd name="connsiteX4" fmla="*/ 94984 w 5963621"/>
              <a:gd name="connsiteY4" fmla="*/ 6758491 h 6880065"/>
              <a:gd name="connsiteX0" fmla="*/ 252 w 5964139"/>
              <a:gd name="connsiteY0" fmla="*/ 6856916 h 6880065"/>
              <a:gd name="connsiteX1" fmla="*/ 518 w 5964139"/>
              <a:gd name="connsiteY1" fmla="*/ 0 h 6880065"/>
              <a:gd name="connsiteX2" fmla="*/ 5964139 w 5964139"/>
              <a:gd name="connsiteY2" fmla="*/ 2050 h 6880065"/>
              <a:gd name="connsiteX3" fmla="*/ 1371898 w 5964139"/>
              <a:gd name="connsiteY3" fmla="*/ 6880065 h 6880065"/>
              <a:gd name="connsiteX4" fmla="*/ 252 w 5964139"/>
              <a:gd name="connsiteY4" fmla="*/ 6856916 h 6880065"/>
              <a:gd name="connsiteX0" fmla="*/ 252 w 5964139"/>
              <a:gd name="connsiteY0" fmla="*/ 6856916 h 6864190"/>
              <a:gd name="connsiteX1" fmla="*/ 518 w 5964139"/>
              <a:gd name="connsiteY1" fmla="*/ 0 h 6864190"/>
              <a:gd name="connsiteX2" fmla="*/ 5964139 w 5964139"/>
              <a:gd name="connsiteY2" fmla="*/ 2050 h 6864190"/>
              <a:gd name="connsiteX3" fmla="*/ 1381423 w 5964139"/>
              <a:gd name="connsiteY3" fmla="*/ 6864190 h 6864190"/>
              <a:gd name="connsiteX4" fmla="*/ 252 w 5964139"/>
              <a:gd name="connsiteY4" fmla="*/ 6856916 h 6864190"/>
              <a:gd name="connsiteX0" fmla="*/ 117 w 5967179"/>
              <a:gd name="connsiteY0" fmla="*/ 685691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56916 h 6864190"/>
              <a:gd name="connsiteX0" fmla="*/ 117 w 5967179"/>
              <a:gd name="connsiteY0" fmla="*/ 686326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63266 h 6864190"/>
              <a:gd name="connsiteX0" fmla="*/ 252 w 5967314"/>
              <a:gd name="connsiteY0" fmla="*/ 6866441 h 6867365"/>
              <a:gd name="connsiteX1" fmla="*/ 518 w 5967314"/>
              <a:gd name="connsiteY1" fmla="*/ 0 h 6867365"/>
              <a:gd name="connsiteX2" fmla="*/ 5967314 w 5967314"/>
              <a:gd name="connsiteY2" fmla="*/ 5225 h 6867365"/>
              <a:gd name="connsiteX3" fmla="*/ 1384598 w 5967314"/>
              <a:gd name="connsiteY3" fmla="*/ 6867365 h 6867365"/>
              <a:gd name="connsiteX4" fmla="*/ 252 w 5967314"/>
              <a:gd name="connsiteY4" fmla="*/ 6866441 h 6867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314" h="6867365">
                <a:moveTo>
                  <a:pt x="252" y="6866441"/>
                </a:moveTo>
                <a:cubicBezTo>
                  <a:pt x="-718" y="4577627"/>
                  <a:pt x="1488" y="2288814"/>
                  <a:pt x="518" y="0"/>
                </a:cubicBezTo>
                <a:lnTo>
                  <a:pt x="5967314" y="5225"/>
                </a:lnTo>
                <a:lnTo>
                  <a:pt x="1384598" y="6867365"/>
                </a:lnTo>
                <a:lnTo>
                  <a:pt x="252" y="686644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defTabSz="847788">
              <a:defRPr/>
            </a:pPr>
            <a:endParaRPr lang="ru-RU" sz="2307" kern="1200"/>
          </a:p>
        </p:txBody>
      </p:sp>
    </p:spTree>
    <p:extLst>
      <p:ext uri="{BB962C8B-B14F-4D97-AF65-F5344CB8AC3E}">
        <p14:creationId xmlns:p14="http://schemas.microsoft.com/office/powerpoint/2010/main" val="36597236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ext">
    <p:bg>
      <p:bgPr>
        <a:solidFill>
          <a:schemeClr val="bg1"/>
        </a:solidFill>
        <a:effectLst/>
      </p:bgPr>
    </p:bg>
    <p:spTree>
      <p:nvGrpSpPr>
        <p:cNvPr id="1" name=""/>
        <p:cNvGrpSpPr/>
        <p:nvPr/>
      </p:nvGrpSpPr>
      <p:grpSpPr>
        <a:xfrm>
          <a:off x="0" y="0"/>
          <a:ext cx="0" cy="0"/>
          <a:chOff x="0" y="0"/>
          <a:chExt cx="0" cy="0"/>
        </a:xfrm>
      </p:grpSpPr>
      <p:sp>
        <p:nvSpPr>
          <p:cNvPr id="77" name="Text Placeholder 8">
            <a:extLst>
              <a:ext uri="{FF2B5EF4-FFF2-40B4-BE49-F238E27FC236}">
                <a16:creationId xmlns:a16="http://schemas.microsoft.com/office/drawing/2014/main" id="{1BA5820D-D125-6B36-32C2-883928094B9A}"/>
              </a:ext>
            </a:extLst>
          </p:cNvPr>
          <p:cNvSpPr>
            <a:spLocks noGrp="1"/>
          </p:cNvSpPr>
          <p:nvPr>
            <p:ph type="body" sz="quarter" idx="56"/>
          </p:nvPr>
        </p:nvSpPr>
        <p:spPr>
          <a:xfrm>
            <a:off x="559776" y="1804189"/>
            <a:ext cx="11072450" cy="4262751"/>
          </a:xfrm>
          <a:prstGeom prst="rect">
            <a:avLst/>
          </a:prstGeom>
        </p:spPr>
        <p:txBody>
          <a:bodyPr>
            <a:noAutofit/>
          </a:bodyPr>
          <a:lstStyle>
            <a:lvl1pPr marL="12700" indent="-12700">
              <a:buFont typeface="Arial" panose="020B0604020202020204" pitchFamily="34" charset="0"/>
              <a:buNone/>
              <a:tabLst/>
              <a:defRPr sz="1400" b="0" i="0">
                <a:solidFill>
                  <a:schemeClr val="tx1"/>
                </a:solidFill>
                <a:latin typeface="Encode Sans Expanded Expanded L" pitchFamily="2" charset="77"/>
              </a:defRPr>
            </a:lvl1pPr>
            <a:lvl2pPr>
              <a:defRPr sz="1400" b="1" i="0">
                <a:latin typeface="Encode Sans Expanded Expanded S" pitchFamily="2" charset="77"/>
              </a:defRPr>
            </a:lvl2pPr>
            <a:lvl3pPr>
              <a:defRPr sz="1400" b="1" i="0">
                <a:latin typeface="Encode Sans Expanded Expanded S" pitchFamily="2" charset="77"/>
              </a:defRPr>
            </a:lvl3pPr>
            <a:lvl4pPr>
              <a:defRPr sz="1400" b="1" i="0">
                <a:latin typeface="Encode Sans Expanded Expanded S" pitchFamily="2" charset="77"/>
              </a:defRPr>
            </a:lvl4pPr>
            <a:lvl5pPr>
              <a:defRPr sz="1400" b="1" i="0">
                <a:latin typeface="Encode Sans Expanded Expanded S" pitchFamily="2" charset="77"/>
              </a:defRPr>
            </a:lvl5pPr>
          </a:lstStyle>
          <a:p>
            <a:pPr lvl="0"/>
            <a:r>
              <a:rPr lang="en-US"/>
              <a:t>Click to edit Master text styles</a:t>
            </a:r>
          </a:p>
        </p:txBody>
      </p:sp>
      <p:sp>
        <p:nvSpPr>
          <p:cNvPr id="5" name="Title 1">
            <a:extLst>
              <a:ext uri="{FF2B5EF4-FFF2-40B4-BE49-F238E27FC236}">
                <a16:creationId xmlns:a16="http://schemas.microsoft.com/office/drawing/2014/main" id="{EE6F978A-DD40-416B-1128-C0C86FB2A942}"/>
              </a:ext>
            </a:extLst>
          </p:cNvPr>
          <p:cNvSpPr>
            <a:spLocks noGrp="1"/>
          </p:cNvSpPr>
          <p:nvPr>
            <p:ph type="title" hasCustomPrompt="1"/>
          </p:nvPr>
        </p:nvSpPr>
        <p:spPr>
          <a:xfrm>
            <a:off x="559776" y="312618"/>
            <a:ext cx="9210389" cy="671405"/>
          </a:xfrm>
          <a:prstGeom prst="rect">
            <a:avLst/>
          </a:prstGeom>
        </p:spPr>
        <p:txBody>
          <a:bodyPr anchor="t">
            <a:noAutofit/>
          </a:bodyPr>
          <a:lstStyle>
            <a:lvl1pPr>
              <a:buFont typeface="Arial" panose="020B0604020202020204" pitchFamily="34" charset="0"/>
              <a:buNone/>
              <a:defRPr sz="3600" b="1" i="0" cap="none">
                <a:solidFill>
                  <a:srgbClr val="243782"/>
                </a:solidFill>
                <a:latin typeface="Encode Sans Expanded Expanded S" pitchFamily="2" charset="77"/>
              </a:defRPr>
            </a:lvl1pPr>
          </a:lstStyle>
          <a:p>
            <a:r>
              <a:rPr lang="en-US"/>
              <a:t>Click to edit master title style</a:t>
            </a:r>
          </a:p>
        </p:txBody>
      </p:sp>
      <p:sp>
        <p:nvSpPr>
          <p:cNvPr id="8" name="Text Placeholder 16">
            <a:extLst>
              <a:ext uri="{FF2B5EF4-FFF2-40B4-BE49-F238E27FC236}">
                <a16:creationId xmlns:a16="http://schemas.microsoft.com/office/drawing/2014/main" id="{8367D7C7-224D-7E60-96F4-714E2C6682E6}"/>
              </a:ext>
            </a:extLst>
          </p:cNvPr>
          <p:cNvSpPr>
            <a:spLocks noGrp="1"/>
          </p:cNvSpPr>
          <p:nvPr>
            <p:ph type="body" sz="quarter" idx="11" hasCustomPrompt="1"/>
          </p:nvPr>
        </p:nvSpPr>
        <p:spPr>
          <a:xfrm>
            <a:off x="559775" y="984024"/>
            <a:ext cx="7255267" cy="649283"/>
          </a:xfrm>
          <a:prstGeom prst="rect">
            <a:avLst/>
          </a:prstGeom>
        </p:spPr>
        <p:txBody>
          <a:bodyPr>
            <a:noAutofit/>
          </a:bodyPr>
          <a:lstStyle>
            <a:lvl1pPr marL="12700" indent="-12700">
              <a:buFont typeface="Arial" panose="020B0604020202020204" pitchFamily="34" charset="0"/>
              <a:buNone/>
              <a:tabLst/>
              <a:defRPr sz="1800" b="0" i="0">
                <a:solidFill>
                  <a:srgbClr val="243782"/>
                </a:solidFill>
                <a:latin typeface="Encode Sans Expanded Expanded L" pitchFamily="2" charset="77"/>
              </a:defRPr>
            </a:lvl1pPr>
          </a:lstStyle>
          <a:p>
            <a:pPr lvl="0"/>
            <a:r>
              <a:rPr lang="en-US"/>
              <a:t>Click to edit Master subtitle style</a:t>
            </a:r>
          </a:p>
        </p:txBody>
      </p:sp>
      <p:pic>
        <p:nvPicPr>
          <p:cNvPr id="19" name="Graphic 18">
            <a:extLst>
              <a:ext uri="{FF2B5EF4-FFF2-40B4-BE49-F238E27FC236}">
                <a16:creationId xmlns:a16="http://schemas.microsoft.com/office/drawing/2014/main" id="{6D4DAF9A-CC82-232C-7366-8A2028BD0EE1}"/>
              </a:ext>
            </a:extLst>
          </p:cNvPr>
          <p:cNvPicPr>
            <a:picLocks noChangeAspect="1"/>
          </p:cNvPicPr>
          <p:nvPr userDrawn="1"/>
        </p:nvPicPr>
        <p:blipFill>
          <a:blip>
            <a:extLst>
              <a:ext uri="{96DAC541-7B7A-43D3-8B79-37D633B846F1}">
                <asvg:svgBlip xmlns:asvg="http://schemas.microsoft.com/office/drawing/2016/SVG/main" r:embed="rId2"/>
              </a:ext>
            </a:extLst>
          </a:blip>
          <a:srcRect l="11605" t="14035" r="11222" b="15322"/>
          <a:stretch>
            <a:fillRect/>
          </a:stretch>
        </p:blipFill>
        <p:spPr>
          <a:xfrm>
            <a:off x="10406787" y="471807"/>
            <a:ext cx="1254673" cy="319253"/>
          </a:xfrm>
          <a:prstGeom prst="rect">
            <a:avLst/>
          </a:prstGeom>
        </p:spPr>
      </p:pic>
      <p:sp>
        <p:nvSpPr>
          <p:cNvPr id="2" name="Espace réservé du numéro de diapositive 7">
            <a:extLst>
              <a:ext uri="{FF2B5EF4-FFF2-40B4-BE49-F238E27FC236}">
                <a16:creationId xmlns:a16="http://schemas.microsoft.com/office/drawing/2014/main" id="{7C285708-436C-E0FE-72D1-36BA92287518}"/>
              </a:ext>
            </a:extLst>
          </p:cNvPr>
          <p:cNvSpPr>
            <a:spLocks noGrp="1"/>
          </p:cNvSpPr>
          <p:nvPr>
            <p:ph type="sldNum" sz="quarter" idx="17"/>
          </p:nvPr>
        </p:nvSpPr>
        <p:spPr>
          <a:xfrm>
            <a:off x="11328548" y="6397368"/>
            <a:ext cx="541454" cy="184666"/>
          </a:xfrm>
        </p:spPr>
        <p:txBody>
          <a:bodyPr/>
          <a:lstStyle/>
          <a:p>
            <a:fld id="{975A587B-5814-4D9B-9598-FE9CB954CB01}" type="slidenum">
              <a:rPr lang="en-US" noProof="0" smtClean="0"/>
              <a:pPr/>
              <a:t>‹#›</a:t>
            </a:fld>
            <a:endParaRPr lang="en-US" b="0" noProof="0"/>
          </a:p>
        </p:txBody>
      </p:sp>
    </p:spTree>
    <p:extLst>
      <p:ext uri="{BB962C8B-B14F-4D97-AF65-F5344CB8AC3E}">
        <p14:creationId xmlns:p14="http://schemas.microsoft.com/office/powerpoint/2010/main" val="26972716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0915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 Id="rId21"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545081" y="1535088"/>
            <a:ext cx="10800000" cy="864000"/>
          </a:xfrm>
          <a:prstGeom prst="rect">
            <a:avLst/>
          </a:prstGeom>
        </p:spPr>
        <p:txBody>
          <a:bodyPr vert="horz" lIns="91440" tIns="45720" rIns="91440" bIns="45720" rtlCol="0" anchor="t">
            <a:noAutofit/>
          </a:bodyPr>
          <a:lstStyle/>
          <a:p>
            <a:r>
              <a:rPr lang="en-US" noProof="0"/>
              <a:t>Click to edit Master title style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545081" y="2624771"/>
            <a:ext cx="10800000" cy="3600000"/>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FDD59078-F0EA-4B2B-B92A-CB1D0AA4F88E}"/>
              </a:ext>
            </a:extLst>
          </p:cNvPr>
          <p:cNvSpPr>
            <a:spLocks noGrp="1"/>
          </p:cNvSpPr>
          <p:nvPr>
            <p:ph type="dt" sz="half" idx="2"/>
          </p:nvPr>
        </p:nvSpPr>
        <p:spPr>
          <a:xfrm>
            <a:off x="546100" y="6489701"/>
            <a:ext cx="1056000" cy="216000"/>
          </a:xfrm>
          <a:prstGeom prst="rect">
            <a:avLst/>
          </a:prstGeom>
        </p:spPr>
        <p:txBody>
          <a:bodyPr vert="horz" lIns="91440" tIns="45720" rIns="91440" bIns="45720" rtlCol="0" anchor="ctr">
            <a:noAutofit/>
          </a:bodyPr>
          <a:lstStyle>
            <a:lvl1pPr algn="l">
              <a:defRPr sz="900" b="0">
                <a:solidFill>
                  <a:schemeClr val="tx2"/>
                </a:solidFill>
                <a:latin typeface="+mn-lt"/>
              </a:defRPr>
            </a:lvl1pPr>
          </a:lstStyle>
          <a:p>
            <a:endParaRPr lang="en-US"/>
          </a:p>
        </p:txBody>
      </p:sp>
      <p:sp>
        <p:nvSpPr>
          <p:cNvPr id="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328548" y="6397368"/>
            <a:ext cx="541454" cy="184666"/>
          </a:xfrm>
          <a:prstGeom prst="rect">
            <a:avLst/>
          </a:prstGeom>
        </p:spPr>
        <p:txBody>
          <a:bodyPr vert="horz" lIns="0" tIns="0" rIns="0" bIns="0" rtlCol="0" anchor="ctr">
            <a:spAutoFit/>
          </a:bodyPr>
          <a:lstStyle>
            <a:lvl1pPr algn="ctr">
              <a:defRPr sz="1200" b="0" spc="100" baseline="0">
                <a:solidFill>
                  <a:schemeClr val="tx2"/>
                </a:solidFill>
                <a:latin typeface="+mn-lt"/>
              </a:defRPr>
            </a:lvl1pPr>
          </a:lstStyle>
          <a:p>
            <a:fld id="{975A587B-5814-4D9B-9598-FE9CB954CB01}" type="slidenum">
              <a:rPr lang="en-US" smtClean="0"/>
              <a:pPr/>
              <a:t>‹#›</a:t>
            </a:fld>
            <a:endParaRPr lang="en-US"/>
          </a:p>
        </p:txBody>
      </p:sp>
      <p:pic>
        <p:nvPicPr>
          <p:cNvPr id="16" name="Image 15" descr="Une image contenant texte&#10;&#10;Description générée automatiquement">
            <a:extLst>
              <a:ext uri="{FF2B5EF4-FFF2-40B4-BE49-F238E27FC236}">
                <a16:creationId xmlns:a16="http://schemas.microsoft.com/office/drawing/2014/main" id="{C3BC85E7-A235-4FF4-9B8B-EFEEC472A86F}"/>
              </a:ext>
            </a:extLst>
          </p:cNvPr>
          <p:cNvPicPr>
            <a:picLocks noChangeAspect="1"/>
          </p:cNvPicPr>
          <p:nvPr userDrawn="1"/>
        </p:nvPicPr>
        <p:blipFill rotWithShape="1">
          <a:blip r:embed="rId21">
            <a:extLst>
              <a:ext uri="{28A0092B-C50C-407E-A947-70E740481C1C}">
                <a14:useLocalDpi xmlns:a14="http://schemas.microsoft.com/office/drawing/2010/main" val="0"/>
              </a:ext>
            </a:extLst>
          </a:blip>
          <a:srcRect/>
          <a:stretch/>
        </p:blipFill>
        <p:spPr>
          <a:xfrm>
            <a:off x="9806940" y="350044"/>
            <a:ext cx="1904048" cy="557212"/>
          </a:xfrm>
          <a:prstGeom prst="rect">
            <a:avLst/>
          </a:prstGeom>
        </p:spPr>
      </p:pic>
      <p:sp>
        <p:nvSpPr>
          <p:cNvPr id="12" name="Google Shape;88;p3">
            <a:extLst>
              <a:ext uri="{FF2B5EF4-FFF2-40B4-BE49-F238E27FC236}">
                <a16:creationId xmlns:a16="http://schemas.microsoft.com/office/drawing/2014/main" id="{9CC1F3B9-2D6B-B620-6DC4-E74D7296A69E}"/>
              </a:ext>
            </a:extLst>
          </p:cNvPr>
          <p:cNvSpPr/>
          <p:nvPr userDrawn="1"/>
        </p:nvSpPr>
        <p:spPr>
          <a:xfrm>
            <a:off x="11431928" y="6335801"/>
            <a:ext cx="307800" cy="307800"/>
          </a:xfrm>
          <a:prstGeom prst="ellipse">
            <a:avLst/>
          </a:prstGeom>
          <a:noFill/>
          <a:ln w="9525"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43782"/>
              </a:solidFill>
              <a:latin typeface="Arial"/>
              <a:ea typeface="Arial"/>
              <a:cs typeface="Arial"/>
              <a:sym typeface="Arial"/>
            </a:endParaRPr>
          </a:p>
        </p:txBody>
      </p:sp>
    </p:spTree>
    <p:extLst>
      <p:ext uri="{BB962C8B-B14F-4D97-AF65-F5344CB8AC3E}">
        <p14:creationId xmlns:p14="http://schemas.microsoft.com/office/powerpoint/2010/main" val="33811220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hdr="0" dt="0"/>
  <p:txStyles>
    <p:titleStyle>
      <a:lvl1pPr algn="l" defTabSz="685800" rtl="0" eaLnBrk="1" latinLnBrk="0" hangingPunct="1">
        <a:lnSpc>
          <a:spcPct val="95000"/>
        </a:lnSpc>
        <a:spcBef>
          <a:spcPct val="0"/>
        </a:spcBef>
        <a:buNone/>
        <a:defRPr sz="2600" b="0" kern="1200" cap="all" baseline="0">
          <a:solidFill>
            <a:schemeClr val="tx2"/>
          </a:solidFill>
          <a:latin typeface="+mj-lt"/>
          <a:ea typeface="+mj-ea"/>
          <a:cs typeface="+mj-cs"/>
        </a:defRPr>
      </a:lvl1pPr>
    </p:titleStyle>
    <p:bodyStyle>
      <a:lvl1pPr marL="0" indent="0" algn="l" defTabSz="685800" rtl="0" eaLnBrk="1" latinLnBrk="0" hangingPunct="1">
        <a:lnSpc>
          <a:spcPct val="105000"/>
        </a:lnSpc>
        <a:spcBef>
          <a:spcPts val="0"/>
        </a:spcBef>
        <a:buFont typeface="Arial" panose="020B0604020202020204" pitchFamily="34" charset="0"/>
        <a:buNone/>
        <a:defRPr sz="1600" b="0" kern="1200">
          <a:solidFill>
            <a:schemeClr val="tx2"/>
          </a:solidFill>
          <a:latin typeface="+mj-lt"/>
          <a:ea typeface="+mn-ea"/>
          <a:cs typeface="+mn-cs"/>
        </a:defRPr>
      </a:lvl1pPr>
      <a:lvl2pPr marL="216000" indent="-216000" algn="l" defTabSz="685800" rtl="0" eaLnBrk="1" latinLnBrk="0" hangingPunct="1">
        <a:lnSpc>
          <a:spcPct val="105000"/>
        </a:lnSpc>
        <a:spcBef>
          <a:spcPts val="700"/>
        </a:spcBef>
        <a:buFont typeface="Arial" panose="020B0604020202020204" pitchFamily="34" charset="0"/>
        <a:buChar char="•"/>
        <a:defRPr sz="1600" kern="1200">
          <a:solidFill>
            <a:schemeClr val="tx2"/>
          </a:solidFill>
          <a:latin typeface="+mn-lt"/>
          <a:ea typeface="+mn-ea"/>
          <a:cs typeface="+mn-cs"/>
        </a:defRPr>
      </a:lvl2pPr>
      <a:lvl3pPr marL="216000" indent="0" algn="l" defTabSz="685800" rtl="0" eaLnBrk="1" latinLnBrk="0" hangingPunct="1">
        <a:lnSpc>
          <a:spcPct val="105000"/>
        </a:lnSpc>
        <a:spcBef>
          <a:spcPts val="700"/>
        </a:spcBef>
        <a:buSzPct val="120000"/>
        <a:buFont typeface="Encode Sans" pitchFamily="2" charset="0"/>
        <a:buNone/>
        <a:defRPr sz="1400" b="0" kern="1200">
          <a:solidFill>
            <a:schemeClr val="accent1"/>
          </a:solidFill>
          <a:latin typeface="+mn-lt"/>
          <a:ea typeface="+mn-ea"/>
          <a:cs typeface="+mn-cs"/>
        </a:defRPr>
      </a:lvl3pPr>
      <a:lvl4pPr marL="216000" indent="0" algn="l" defTabSz="685800" rtl="0" eaLnBrk="1" latinLnBrk="0" hangingPunct="1">
        <a:lnSpc>
          <a:spcPct val="105000"/>
        </a:lnSpc>
        <a:spcBef>
          <a:spcPts val="400"/>
        </a:spcBef>
        <a:buFont typeface="Encode Sans" pitchFamily="2" charset="0"/>
        <a:buNone/>
        <a:defRPr sz="1400" b="0" kern="1200">
          <a:solidFill>
            <a:schemeClr val="accent1"/>
          </a:solidFill>
          <a:latin typeface="+mj-lt"/>
          <a:ea typeface="+mn-ea"/>
          <a:cs typeface="+mn-cs"/>
        </a:defRPr>
      </a:lvl4pPr>
      <a:lvl5pPr marL="360000" indent="-144000" algn="l" defTabSz="685800" rtl="0" eaLnBrk="1" latinLnBrk="0" hangingPunct="1">
        <a:lnSpc>
          <a:spcPct val="105000"/>
        </a:lnSpc>
        <a:spcBef>
          <a:spcPts val="400"/>
        </a:spcBef>
        <a:buFont typeface="Arial" panose="020B0604020202020204" pitchFamily="34" charset="0"/>
        <a:buChar char="•"/>
        <a:defRPr sz="1400"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7ADFE1-BAAD-24CE-8C65-F9C4F87B2FDA}"/>
              </a:ext>
            </a:extLst>
          </p:cNvPr>
          <p:cNvSpPr>
            <a:spLocks noGrp="1"/>
          </p:cNvSpPr>
          <p:nvPr>
            <p:ph type="sldNum" sz="quarter" idx="4294967295"/>
          </p:nvPr>
        </p:nvSpPr>
        <p:spPr>
          <a:xfrm>
            <a:off x="16191" y="1036687"/>
            <a:ext cx="541454" cy="184666"/>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9" name="Titre 1">
            <a:extLst>
              <a:ext uri="{FF2B5EF4-FFF2-40B4-BE49-F238E27FC236}">
                <a16:creationId xmlns:a16="http://schemas.microsoft.com/office/drawing/2014/main" id="{3517677B-B530-7CFC-8687-C401E1E5F987}"/>
              </a:ext>
            </a:extLst>
          </p:cNvPr>
          <p:cNvSpPr txBox="1">
            <a:spLocks/>
          </p:cNvSpPr>
          <p:nvPr/>
        </p:nvSpPr>
        <p:spPr>
          <a:xfrm>
            <a:off x="731727" y="3673502"/>
            <a:ext cx="9113970" cy="1576096"/>
          </a:xfrm>
          <a:prstGeom prst="rect">
            <a:avLst/>
          </a:prstGeom>
        </p:spPr>
        <p:txBody>
          <a:bodyPr vert="horz" lIns="91440" tIns="45720" rIns="91440" bIns="45720" rtlCol="0" anchor="b">
            <a:noAutofit/>
          </a:bodyPr>
          <a:lstStyle>
            <a:lvl1pPr algn="l" defTabSz="685800" rtl="0" eaLnBrk="1" latinLnBrk="0" hangingPunct="1">
              <a:lnSpc>
                <a:spcPct val="95000"/>
              </a:lnSpc>
              <a:spcBef>
                <a:spcPct val="0"/>
              </a:spcBef>
              <a:buNone/>
              <a:defRPr sz="5000" b="0" kern="1200" cap="all" baseline="0">
                <a:solidFill>
                  <a:schemeClr val="bg1"/>
                </a:solidFill>
                <a:latin typeface="+mn-lt"/>
                <a:ea typeface="+mj-ea"/>
                <a:cs typeface="+mj-cs"/>
              </a:defRPr>
            </a:lvl1pPr>
          </a:lstStyle>
          <a:p>
            <a:pPr marL="0" marR="0" lvl="0" indent="0" algn="l" defTabSz="685800" rtl="0" eaLnBrk="1" fontAlgn="auto" latinLnBrk="0" hangingPunct="1">
              <a:lnSpc>
                <a:spcPct val="95000"/>
              </a:lnSpc>
              <a:spcBef>
                <a:spcPct val="0"/>
              </a:spcBef>
              <a:spcAft>
                <a:spcPts val="0"/>
              </a:spcAft>
              <a:buClrTx/>
              <a:buSzTx/>
              <a:buFontTx/>
              <a:buNone/>
              <a:tabLst/>
              <a:defRPr/>
            </a:pPr>
            <a:r>
              <a:rPr kumimoji="0" lang="en-GB" sz="4000" b="1" i="0" u="none" strike="noStrike" kern="1200" cap="all" spc="0" normalizeH="0" baseline="0" noProof="1">
                <a:ln>
                  <a:noFill/>
                </a:ln>
                <a:solidFill>
                  <a:prstClr val="white"/>
                </a:solidFill>
                <a:effectLst/>
                <a:uLnTx/>
                <a:uFillTx/>
                <a:latin typeface="Encode Sans Expanded Expanded"/>
                <a:ea typeface="+mj-ea"/>
                <a:cs typeface="Encode Sans ExpandedLight"/>
              </a:rPr>
              <a:t>ESG</a:t>
            </a:r>
          </a:p>
          <a:p>
            <a:pPr marL="0" marR="0" lvl="0" indent="0" algn="l" defTabSz="685800" rtl="0" eaLnBrk="1" fontAlgn="auto" latinLnBrk="0" hangingPunct="1">
              <a:lnSpc>
                <a:spcPct val="95000"/>
              </a:lnSpc>
              <a:spcBef>
                <a:spcPct val="0"/>
              </a:spcBef>
              <a:spcAft>
                <a:spcPts val="0"/>
              </a:spcAft>
              <a:buClrTx/>
              <a:buSzTx/>
              <a:buFontTx/>
              <a:buNone/>
              <a:tabLst/>
              <a:defRPr/>
            </a:pPr>
            <a:r>
              <a:rPr kumimoji="0" lang="en-GB" sz="4000" b="1" i="0" u="none" strike="noStrike" kern="1200" cap="all" spc="0" normalizeH="0" baseline="0" noProof="1">
                <a:ln>
                  <a:noFill/>
                </a:ln>
                <a:solidFill>
                  <a:prstClr val="white"/>
                </a:solidFill>
                <a:effectLst/>
                <a:uLnTx/>
                <a:uFillTx/>
                <a:latin typeface="Encode Sans Expanded Expanded"/>
                <a:ea typeface="+mj-ea"/>
                <a:cs typeface="Encode Sans ExpandedLight"/>
              </a:rPr>
              <a:t> </a:t>
            </a:r>
          </a:p>
          <a:p>
            <a:pPr marL="0" marR="0" lvl="0" indent="0" algn="l" defTabSz="685800" rtl="0" eaLnBrk="1" fontAlgn="auto" latinLnBrk="0" hangingPunct="1">
              <a:lnSpc>
                <a:spcPct val="95000"/>
              </a:lnSpc>
              <a:spcBef>
                <a:spcPct val="0"/>
              </a:spcBef>
              <a:spcAft>
                <a:spcPts val="0"/>
              </a:spcAft>
              <a:buClrTx/>
              <a:buSzTx/>
              <a:buFontTx/>
              <a:buNone/>
              <a:tabLst/>
              <a:defRPr/>
            </a:pPr>
            <a:r>
              <a:rPr kumimoji="0" lang="en-US" sz="4000" b="0" i="0" u="none" strike="noStrike" kern="1200" cap="all" spc="0" normalizeH="0" baseline="0" noProof="0">
                <a:ln>
                  <a:noFill/>
                </a:ln>
                <a:solidFill>
                  <a:prstClr val="white"/>
                </a:solidFill>
                <a:effectLst/>
                <a:uLnTx/>
                <a:uFillTx/>
                <a:latin typeface="Encode Sans ExpandedLight"/>
                <a:ea typeface="+mj-ea"/>
                <a:cs typeface="+mj-cs"/>
              </a:rPr>
              <a:t>Benchmark Sustainability Communication &amp; HR</a:t>
            </a:r>
            <a:endParaRPr kumimoji="0" lang="en-GB" sz="4400" b="0" i="0" u="none" strike="noStrike" kern="1200" cap="all" spc="0" normalizeH="0" baseline="0" noProof="1">
              <a:ln>
                <a:noFill/>
              </a:ln>
              <a:solidFill>
                <a:prstClr val="white"/>
              </a:solidFill>
              <a:effectLst/>
              <a:uLnTx/>
              <a:uFillTx/>
              <a:latin typeface="Encode Sans Expanded Light" pitchFamily="2" charset="77"/>
              <a:ea typeface="+mj-ea"/>
              <a:cs typeface="Encode Sans ExpandedLight"/>
            </a:endParaRPr>
          </a:p>
          <a:p>
            <a:pPr marL="0" marR="0" lvl="0" indent="0" algn="l" defTabSz="685800" rtl="0" eaLnBrk="1" fontAlgn="auto" latinLnBrk="0" hangingPunct="1">
              <a:lnSpc>
                <a:spcPct val="95000"/>
              </a:lnSpc>
              <a:spcBef>
                <a:spcPts val="140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Encode Sans ExpandedLight"/>
                <a:ea typeface="+mj-ea"/>
                <a:cs typeface="+mj-cs"/>
              </a:rPr>
              <a:t>Global sustainability narrative: corporate storytelling</a:t>
            </a:r>
            <a:endParaRPr kumimoji="0" lang="en-GB" sz="4400" b="0" i="0" u="none" strike="noStrike" kern="1200" cap="all" spc="0" normalizeH="0" baseline="0" noProof="1">
              <a:ln>
                <a:noFill/>
              </a:ln>
              <a:solidFill>
                <a:prstClr val="white"/>
              </a:solidFill>
              <a:effectLst/>
              <a:uLnTx/>
              <a:uFillTx/>
              <a:latin typeface="Encode Sans Expanded Light" pitchFamily="2" charset="77"/>
              <a:ea typeface="+mj-ea"/>
              <a:cs typeface="Encode Sans ExpandedLight"/>
            </a:endParaRPr>
          </a:p>
        </p:txBody>
      </p:sp>
      <p:sp>
        <p:nvSpPr>
          <p:cNvPr id="10" name="Titre 1">
            <a:extLst>
              <a:ext uri="{FF2B5EF4-FFF2-40B4-BE49-F238E27FC236}">
                <a16:creationId xmlns:a16="http://schemas.microsoft.com/office/drawing/2014/main" id="{EF6DE7AC-311D-AC5B-6A67-6D6A2CF11EBF}"/>
              </a:ext>
            </a:extLst>
          </p:cNvPr>
          <p:cNvSpPr txBox="1">
            <a:spLocks/>
          </p:cNvSpPr>
          <p:nvPr/>
        </p:nvSpPr>
        <p:spPr>
          <a:xfrm>
            <a:off x="6914305" y="5938344"/>
            <a:ext cx="4783709" cy="344214"/>
          </a:xfrm>
          <a:prstGeom prst="rect">
            <a:avLst/>
          </a:prstGeom>
        </p:spPr>
        <p:txBody>
          <a:bodyPr vert="horz" lIns="91440" tIns="45720" rIns="91440" bIns="45720" rtlCol="0" anchor="t">
            <a:noAutofit/>
          </a:bodyPr>
          <a:lstStyle>
            <a:lvl1pPr algn="l" defTabSz="685800" rtl="0" eaLnBrk="1" latinLnBrk="0" hangingPunct="1">
              <a:lnSpc>
                <a:spcPct val="90000"/>
              </a:lnSpc>
              <a:spcBef>
                <a:spcPct val="0"/>
              </a:spcBef>
              <a:buNone/>
              <a:defRPr sz="4700" kern="1200" cap="all" baseline="0">
                <a:solidFill>
                  <a:schemeClr val="bg1"/>
                </a:solidFill>
                <a:latin typeface="+mn-lt"/>
                <a:ea typeface="+mj-ea"/>
                <a:cs typeface="+mj-cs"/>
              </a:defRPr>
            </a:lvl1pPr>
          </a:lstStyle>
          <a:p>
            <a:pPr marL="0" marR="0" lvl="0" indent="0" algn="r" defTabSz="685800" rtl="0" eaLnBrk="1" fontAlgn="auto" latinLnBrk="0" hangingPunct="1">
              <a:lnSpc>
                <a:spcPct val="90000"/>
              </a:lnSpc>
              <a:spcBef>
                <a:spcPct val="0"/>
              </a:spcBef>
              <a:spcAft>
                <a:spcPts val="0"/>
              </a:spcAft>
              <a:buClrTx/>
              <a:buSzTx/>
              <a:buFontTx/>
              <a:buNone/>
              <a:tabLst/>
              <a:defRPr/>
            </a:pPr>
            <a:r>
              <a:rPr kumimoji="0" lang="en-GB" sz="1800" b="0" i="0" u="none" strike="noStrike" kern="1200" cap="all" spc="0" normalizeH="0" baseline="0" noProof="1">
                <a:ln>
                  <a:noFill/>
                </a:ln>
                <a:solidFill>
                  <a:prstClr val="white"/>
                </a:solidFill>
                <a:effectLst/>
                <a:uLnTx/>
                <a:uFillTx/>
                <a:latin typeface="Encode Sans ExpandedLight"/>
                <a:ea typeface="+mj-ea"/>
                <a:cs typeface="+mj-cs"/>
              </a:rPr>
              <a:t>October 2026</a:t>
            </a:r>
            <a:endParaRPr kumimoji="0" lang="en-GB" sz="3200" b="0" i="0" u="none" strike="noStrike" kern="1200" cap="all" spc="0" normalizeH="0" baseline="0" noProof="1">
              <a:ln>
                <a:noFill/>
              </a:ln>
              <a:solidFill>
                <a:prstClr val="white"/>
              </a:solidFill>
              <a:effectLst/>
              <a:uLnTx/>
              <a:uFillTx/>
              <a:latin typeface="Encode Sans ExpandedLight"/>
              <a:ea typeface="+mj-ea"/>
              <a:cs typeface="+mj-cs"/>
            </a:endParaRPr>
          </a:p>
        </p:txBody>
      </p:sp>
    </p:spTree>
    <p:extLst>
      <p:ext uri="{BB962C8B-B14F-4D97-AF65-F5344CB8AC3E}">
        <p14:creationId xmlns:p14="http://schemas.microsoft.com/office/powerpoint/2010/main" val="1255367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8E99B-64B6-F0DC-0C5C-04AC1719876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CC0418-3991-9DEE-57EA-33F4C59FDFE6}"/>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7" name="Text Placeholder 6">
            <a:extLst>
              <a:ext uri="{FF2B5EF4-FFF2-40B4-BE49-F238E27FC236}">
                <a16:creationId xmlns:a16="http://schemas.microsoft.com/office/drawing/2014/main" id="{04DF6A94-9E98-98BF-84BE-D2338A6B7BF4}"/>
              </a:ext>
            </a:extLst>
          </p:cNvPr>
          <p:cNvSpPr>
            <a:spLocks noGrp="1"/>
          </p:cNvSpPr>
          <p:nvPr>
            <p:ph type="body" idx="19"/>
          </p:nvPr>
        </p:nvSpPr>
        <p:spPr/>
        <p:txBody>
          <a:bodyPr/>
          <a:lstStyle/>
          <a:p>
            <a:r>
              <a:rPr lang="en-GB" sz="1600" noProof="1">
                <a:latin typeface="Encode Sans Expanded Expanded"/>
              </a:rPr>
              <a:t>Agenda</a:t>
            </a:r>
            <a:endParaRPr lang="en-GB" noProof="1"/>
          </a:p>
        </p:txBody>
      </p:sp>
      <p:sp>
        <p:nvSpPr>
          <p:cNvPr id="8" name="TextBox 7">
            <a:extLst>
              <a:ext uri="{FF2B5EF4-FFF2-40B4-BE49-F238E27FC236}">
                <a16:creationId xmlns:a16="http://schemas.microsoft.com/office/drawing/2014/main" id="{DA182C4D-6E12-E200-14F8-C8CEB07C455B}"/>
              </a:ext>
            </a:extLst>
          </p:cNvPr>
          <p:cNvSpPr txBox="1"/>
          <p:nvPr/>
        </p:nvSpPr>
        <p:spPr>
          <a:xfrm>
            <a:off x="612700" y="1037260"/>
            <a:ext cx="7616900" cy="64633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272B35"/>
                </a:solidFill>
                <a:effectLst/>
                <a:uLnTx/>
                <a:uFillTx/>
                <a:latin typeface="Encode Sans ExpandedLight"/>
                <a:ea typeface="+mn-ea"/>
                <a:cs typeface="+mn-cs"/>
              </a:rPr>
              <a:t>RESEARCH AREAS</a:t>
            </a:r>
            <a:endParaRPr kumimoji="0" lang="en-GB" sz="3600" b="1" i="0" u="none" strike="noStrike" kern="1200" cap="none" spc="0" normalizeH="0" baseline="0" noProof="1">
              <a:ln>
                <a:noFill/>
              </a:ln>
              <a:solidFill>
                <a:srgbClr val="243782"/>
              </a:solidFill>
              <a:effectLst/>
              <a:uLnTx/>
              <a:uFillTx/>
              <a:latin typeface="Encode Sans Expanded" pitchFamily="2" charset="77"/>
              <a:ea typeface="Encode Sans ExpandedLight"/>
              <a:cs typeface="+mn-lt"/>
            </a:endParaRPr>
          </a:p>
        </p:txBody>
      </p:sp>
      <p:sp>
        <p:nvSpPr>
          <p:cNvPr id="11" name="TextBox 10">
            <a:extLst>
              <a:ext uri="{FF2B5EF4-FFF2-40B4-BE49-F238E27FC236}">
                <a16:creationId xmlns:a16="http://schemas.microsoft.com/office/drawing/2014/main" id="{A8EBB142-D9A3-988E-30FF-40C76B169B47}"/>
              </a:ext>
            </a:extLst>
          </p:cNvPr>
          <p:cNvSpPr txBox="1"/>
          <p:nvPr/>
        </p:nvSpPr>
        <p:spPr>
          <a:xfrm>
            <a:off x="612700" y="2216484"/>
            <a:ext cx="8686800" cy="492764"/>
          </a:xfrm>
          <a:prstGeom prst="rect">
            <a:avLst/>
          </a:prstGeom>
          <a:noFill/>
        </p:spPr>
        <p:txBody>
          <a:bodyPr wrap="square" lIns="91440" tIns="45720" rIns="91440" bIns="45720" anchor="t">
            <a:spAutoFit/>
          </a:bodyPr>
          <a:lstStyle>
            <a:defPPr>
              <a:defRPr lang="en-US"/>
            </a:defPPr>
            <a:lvl1pPr marL="342900" indent="-342900">
              <a:lnSpc>
                <a:spcPct val="150000"/>
              </a:lnSpc>
              <a:buClr>
                <a:schemeClr val="tx2"/>
              </a:buClr>
              <a:buSzPct val="126000"/>
              <a:buFont typeface="+mj-lt"/>
              <a:buAutoNum type="arabicPeriod"/>
              <a:defRPr sz="1400" b="1">
                <a:latin typeface="Encode Sans Expanded" pitchFamily="2" charset="77"/>
              </a:defRPr>
            </a:lvl1pPr>
            <a:lvl2pPr marL="800100" lvl="1" indent="-342900">
              <a:lnSpc>
                <a:spcPct val="150000"/>
              </a:lnSpc>
              <a:buClr>
                <a:schemeClr val="tx2"/>
              </a:buClr>
              <a:buSzPct val="126000"/>
              <a:buFont typeface="Arial" panose="020B0604020202020204" pitchFamily="34" charset="0"/>
              <a:buChar char="•"/>
              <a:defRPr sz="1400">
                <a:latin typeface="Encode Sans Expanded" pitchFamily="2" charset="77"/>
              </a:defRPr>
            </a:lvl2pPr>
          </a:lstStyle>
          <a:p>
            <a:pPr marL="342900" marR="0" lvl="0" indent="-342900" algn="l" defTabSz="914400" rtl="0" eaLnBrk="1" fontAlgn="auto" latinLnBrk="0" hangingPunct="1">
              <a:lnSpc>
                <a:spcPct val="150000"/>
              </a:lnSpc>
              <a:spcBef>
                <a:spcPts val="0"/>
              </a:spcBef>
              <a:spcAft>
                <a:spcPts val="0"/>
              </a:spcAft>
              <a:buClr>
                <a:srgbClr val="243782"/>
              </a:buClr>
              <a:buSzPct val="126000"/>
              <a:buFont typeface="+mj-lt"/>
              <a:buAutoNum type="arabicPeriod"/>
              <a:tabLst/>
              <a:defRPr/>
            </a:pPr>
            <a:r>
              <a:rPr kumimoji="0" lang="en-US" sz="2000" b="1" i="0" u="none" strike="noStrike" kern="1200" cap="none" spc="0" normalizeH="0" baseline="0" noProof="0" dirty="0">
                <a:ln>
                  <a:noFill/>
                </a:ln>
                <a:solidFill>
                  <a:srgbClr val="272B35"/>
                </a:solidFill>
                <a:effectLst/>
                <a:uLnTx/>
                <a:uFillTx/>
                <a:latin typeface="Encode Sans Expanded" pitchFamily="2" charset="77"/>
                <a:ea typeface="+mn-ea"/>
                <a:cs typeface="+mn-cs"/>
              </a:rPr>
              <a:t>Global sustainability narrative: corporate storytelling</a:t>
            </a:r>
            <a:endParaRPr kumimoji="0" lang="en-US" sz="1400" b="1" i="0" u="none" strike="noStrike" kern="1200" cap="none" spc="0" normalizeH="0" baseline="0" noProof="0" dirty="0">
              <a:ln>
                <a:noFill/>
              </a:ln>
              <a:solidFill>
                <a:srgbClr val="272B35"/>
              </a:solidFill>
              <a:effectLst/>
              <a:uLnTx/>
              <a:uFillTx/>
              <a:latin typeface="Encode Sans Expanded" pitchFamily="2" charset="77"/>
              <a:ea typeface="+mn-ea"/>
              <a:cs typeface="+mn-cs"/>
            </a:endParaRPr>
          </a:p>
          <a:p>
            <a:pPr lvl="1"/>
            <a:r>
              <a:rPr sz="1400" b="0" i="0">
                <a:solidFill>
                  <a:srgbClr val="272B35"/>
                </a:solidFill>
                <a:latin typeface="Encode Sans ExpandedLight"/>
              </a:rPr>
              <a:t>Key insight</a:t>
            </a:r>
          </a:p>
          <a:p>
            <a:pPr lvl="1"/>
            <a:r>
              <a:rPr sz="1400" b="0" i="0">
                <a:solidFill>
                  <a:srgbClr val="272B35"/>
                </a:solidFill>
                <a:latin typeface="Encode Sans ExpandedLight"/>
              </a:rPr>
              <a:t>Reference case: Volkswagen Group</a:t>
            </a:r>
          </a:p>
          <a:p>
            <a:pPr lvl="1"/>
            <a:r>
              <a:rPr sz="1400" b="0" i="0">
                <a:solidFill>
                  <a:srgbClr val="272B35"/>
                </a:solidFill>
                <a:latin typeface="Encode Sans ExpandedLight"/>
              </a:rPr>
              <a:t>Best practices: automotive and beyond</a:t>
            </a:r>
          </a:p>
          <a:p>
            <a:pPr lvl="1"/>
            <a:r>
              <a:rPr sz="1400" b="0" i="0">
                <a:solidFill>
                  <a:srgbClr val="272B35"/>
                </a:solidFill>
                <a:latin typeface="Encode Sans ExpandedLight"/>
              </a:rPr>
              <a:t>Benchmark overview and expert view</a:t>
            </a:r>
          </a:p>
          <a:p>
            <a:pPr lvl="1"/>
            <a:r>
              <a:rPr sz="1400" b="0" i="0">
                <a:solidFill>
                  <a:srgbClr val="272B35"/>
                </a:solidFill>
                <a:latin typeface="Encode Sans ExpandedLight"/>
              </a:rPr>
              <a:t>Stellantis today</a:t>
            </a:r>
          </a:p>
          <a:p>
            <a:pPr lvl="1"/>
            <a:r>
              <a:rPr sz="1400" b="0" i="0">
                <a:solidFill>
                  <a:srgbClr val="272B35"/>
                </a:solidFill>
                <a:latin typeface="Encode Sans ExpandedLight"/>
              </a:rPr>
              <a:t>Design principles and take-outs</a:t>
            </a:r>
          </a:p>
        </p:txBody>
      </p:sp>
    </p:spTree>
    <p:extLst>
      <p:ext uri="{BB962C8B-B14F-4D97-AF65-F5344CB8AC3E}">
        <p14:creationId xmlns:p14="http://schemas.microsoft.com/office/powerpoint/2010/main" val="3382104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92709C3-6C73-AF64-8C76-E4D3FD59B0D5}"/>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US" sz="1200" b="0" i="0" u="none" strike="noStrike" kern="1200" cap="none" spc="100" normalizeH="0" baseline="0" noProof="0"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100" normalizeH="0" baseline="0" noProof="0">
              <a:ln>
                <a:noFill/>
              </a:ln>
              <a:solidFill>
                <a:srgbClr val="243782"/>
              </a:solidFill>
              <a:effectLst/>
              <a:uLnTx/>
              <a:uFillTx/>
              <a:latin typeface="Encode Sans ExpandedLight"/>
              <a:ea typeface="+mn-ea"/>
              <a:cs typeface="+mn-cs"/>
            </a:endParaRPr>
          </a:p>
        </p:txBody>
      </p:sp>
      <p:sp>
        <p:nvSpPr>
          <p:cNvPr id="10" name="Text Placeholder 9">
            <a:extLst>
              <a:ext uri="{FF2B5EF4-FFF2-40B4-BE49-F238E27FC236}">
                <a16:creationId xmlns:a16="http://schemas.microsoft.com/office/drawing/2014/main" id="{5D4F1699-0D06-92D0-9045-AA3F624A85A7}"/>
              </a:ext>
            </a:extLst>
          </p:cNvPr>
          <p:cNvSpPr>
            <a:spLocks noGrp="1"/>
          </p:cNvSpPr>
          <p:nvPr>
            <p:ph type="body" sz="quarter" idx="13"/>
          </p:nvPr>
        </p:nvSpPr>
        <p:spPr>
          <a:xfrm>
            <a:off x="536400" y="1337159"/>
            <a:ext cx="8096961" cy="669771"/>
          </a:xfrm>
        </p:spPr>
        <p:txBody>
          <a:bodyPr/>
          <a:lstStyle/>
          <a:p>
            <a:r>
              <a:rPr lang="en-US" dirty="0"/>
              <a:t>GLOBAL SUSTAINABILITY NARRATIVE</a:t>
            </a:r>
          </a:p>
        </p:txBody>
      </p:sp>
      <p:sp>
        <p:nvSpPr>
          <p:cNvPr id="12" name="Text Placeholder 11">
            <a:extLst>
              <a:ext uri="{FF2B5EF4-FFF2-40B4-BE49-F238E27FC236}">
                <a16:creationId xmlns:a16="http://schemas.microsoft.com/office/drawing/2014/main" id="{B1333CCC-EE47-3594-14CE-B3A6997F72BB}"/>
              </a:ext>
            </a:extLst>
          </p:cNvPr>
          <p:cNvSpPr>
            <a:spLocks noGrp="1"/>
          </p:cNvSpPr>
          <p:nvPr>
            <p:ph type="body" idx="21"/>
          </p:nvPr>
        </p:nvSpPr>
        <p:spPr/>
        <p:txBody>
          <a:bodyPr/>
          <a:lstStyle/>
          <a:p>
            <a:r>
              <a:rPr lang="en-US"/>
              <a:t>1</a:t>
            </a:r>
          </a:p>
        </p:txBody>
      </p:sp>
      <p:sp>
        <p:nvSpPr>
          <p:cNvPr id="13" name="Text 35">
            <a:extLst>
              <a:ext uri="{FF2B5EF4-FFF2-40B4-BE49-F238E27FC236}">
                <a16:creationId xmlns:a16="http://schemas.microsoft.com/office/drawing/2014/main" id="{87D3B3EB-89E0-E866-7861-27CF38FDCCB8}"/>
              </a:ext>
            </a:extLst>
          </p:cNvPr>
          <p:cNvSpPr/>
          <p:nvPr/>
        </p:nvSpPr>
        <p:spPr>
          <a:xfrm>
            <a:off x="706873" y="2486874"/>
            <a:ext cx="5852160" cy="221758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94E24"/>
                </a:solidFill>
                <a:effectLst/>
                <a:uLnTx/>
                <a:uFillTx/>
                <a:latin typeface="Encode Sans ExpandedLight"/>
                <a:ea typeface="+mn-ea"/>
                <a:cs typeface="+mn-cs"/>
              </a:rPr>
              <a:t>KEY QUESTION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72B35"/>
              </a:solidFill>
              <a:effectLst/>
              <a:uLnTx/>
              <a:uFillTx/>
              <a:latin typeface="Encode Sans ExpandedLigh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72B35"/>
                </a:solidFill>
                <a:effectLst/>
                <a:uLnTx/>
                <a:uFillTx/>
                <a:latin typeface="Encode Sans ExpandedLight"/>
                <a:ea typeface="+mn-ea"/>
                <a:cs typeface="+mn-cs"/>
              </a:rPr>
              <a:t>How do top players link ESG and business strategy through one recognisable story that stays coherent over time, across markets and stakeholders?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272B35"/>
              </a:solidFill>
              <a:effectLst/>
              <a:uLnTx/>
              <a:uFillTx/>
              <a:latin typeface="Encode Sans Expanded" pitchFamily="2" charset="77"/>
              <a:ea typeface="+mn-ea"/>
              <a:cs typeface="+mn-cs"/>
            </a:endParaRPr>
          </a:p>
        </p:txBody>
      </p:sp>
    </p:spTree>
    <p:extLst>
      <p:ext uri="{BB962C8B-B14F-4D97-AF65-F5344CB8AC3E}">
        <p14:creationId xmlns:p14="http://schemas.microsoft.com/office/powerpoint/2010/main" val="4131768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61A7E-A2BD-6288-BB93-8598342911A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4FD897B-153E-0E9C-3835-1015A547EE70}"/>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US" sz="1200" b="0" i="0" u="none" strike="noStrike" kern="1200" cap="none" spc="100" normalizeH="0" baseline="0" noProof="0"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100" normalizeH="0" baseline="0" noProof="0">
              <a:ln>
                <a:noFill/>
              </a:ln>
              <a:solidFill>
                <a:srgbClr val="243782"/>
              </a:solidFill>
              <a:effectLst/>
              <a:uLnTx/>
              <a:uFillTx/>
              <a:latin typeface="Encode Sans ExpandedLight"/>
              <a:ea typeface="+mn-ea"/>
              <a:cs typeface="+mn-cs"/>
            </a:endParaRPr>
          </a:p>
        </p:txBody>
      </p:sp>
      <p:sp>
        <p:nvSpPr>
          <p:cNvPr id="10" name="Text Placeholder 9">
            <a:extLst>
              <a:ext uri="{FF2B5EF4-FFF2-40B4-BE49-F238E27FC236}">
                <a16:creationId xmlns:a16="http://schemas.microsoft.com/office/drawing/2014/main" id="{99EC3581-D74B-BA46-0C07-CCB791CE92C4}"/>
              </a:ext>
            </a:extLst>
          </p:cNvPr>
          <p:cNvSpPr>
            <a:spLocks noGrp="1"/>
          </p:cNvSpPr>
          <p:nvPr>
            <p:ph type="body" sz="quarter" idx="13"/>
          </p:nvPr>
        </p:nvSpPr>
        <p:spPr/>
        <p:txBody>
          <a:bodyPr/>
          <a:lstStyle/>
          <a:p>
            <a:r>
              <a:rPr lang="en-US" dirty="0"/>
              <a:t>TAKE-OUTS</a:t>
            </a:r>
          </a:p>
        </p:txBody>
      </p:sp>
      <p:sp>
        <p:nvSpPr>
          <p:cNvPr id="12" name="Text Placeholder 11">
            <a:extLst>
              <a:ext uri="{FF2B5EF4-FFF2-40B4-BE49-F238E27FC236}">
                <a16:creationId xmlns:a16="http://schemas.microsoft.com/office/drawing/2014/main" id="{C1D06DEC-8C91-0DE9-35E4-52017B3914EC}"/>
              </a:ext>
            </a:extLst>
          </p:cNvPr>
          <p:cNvSpPr>
            <a:spLocks noGrp="1"/>
          </p:cNvSpPr>
          <p:nvPr>
            <p:ph type="body" idx="21"/>
          </p:nvPr>
        </p:nvSpPr>
        <p:spPr/>
        <p:txBody>
          <a:bodyPr/>
          <a:lstStyle/>
          <a:p>
            <a:r>
              <a:rPr lang="en-US"/>
              <a:t>1</a:t>
            </a:r>
          </a:p>
        </p:txBody>
      </p:sp>
      <p:sp>
        <p:nvSpPr>
          <p:cNvPr id="13" name="Text 35">
            <a:extLst>
              <a:ext uri="{FF2B5EF4-FFF2-40B4-BE49-F238E27FC236}">
                <a16:creationId xmlns:a16="http://schemas.microsoft.com/office/drawing/2014/main" id="{C13E93CE-77BF-E7A3-D4BD-1BC48471F86F}"/>
              </a:ext>
            </a:extLst>
          </p:cNvPr>
          <p:cNvSpPr/>
          <p:nvPr/>
        </p:nvSpPr>
        <p:spPr>
          <a:xfrm>
            <a:off x="706873" y="2486874"/>
            <a:ext cx="6400800" cy="32918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400"/>
              </a:spcAft>
              <a:buClrTx/>
              <a:buSzTx/>
              <a:buFontTx/>
              <a:buNone/>
              <a:tabLst/>
              <a:defRPr/>
            </a:pPr>
            <a:r>
              <a:rPr kumimoji="0" lang="en-US" sz="2000" b="1" i="0" u="none" strike="noStrike" kern="1200" cap="none" spc="0" normalizeH="0" baseline="0" noProof="0">
                <a:ln>
                  <a:noFill/>
                </a:ln>
                <a:solidFill>
                  <a:srgbClr val="243782"/>
                </a:solidFill>
                <a:effectLst/>
                <a:uLnTx/>
                <a:uFillTx/>
                <a:latin typeface="Encode Sans ExpandedLight"/>
                <a:ea typeface="+mn-ea"/>
                <a:cs typeface="+mn-cs"/>
              </a:rPr>
              <a:t>The 2050 reset is not an obstacle to the story: it is the chance to build one that does not depend on a date.</a:t>
            </a:r>
            <a:endParaRPr kumimoji="0" lang="en-US" sz="2400" b="0" i="0" u="none" strike="noStrike" kern="1200" cap="none" spc="0" normalizeH="0" baseline="0" noProof="0" dirty="0">
              <a:ln>
                <a:noFill/>
              </a:ln>
              <a:solidFill>
                <a:srgbClr val="272B35"/>
              </a:solidFill>
              <a:effectLst/>
              <a:uLnTx/>
              <a:uFillTx/>
              <a:latin typeface="Encode Sans ExpandedLight"/>
              <a:ea typeface="+mn-ea"/>
              <a:cs typeface="+mn-cs"/>
            </a:endParaRPr>
          </a:p>
          <a:p>
            <a:pPr marL="228600" indent="-228600">
              <a:spcAft>
                <a:spcPts val="800"/>
              </a:spcAft>
              <a:buChar char="•"/>
            </a:pPr>
            <a:r>
              <a:rPr sz="1500" b="0" i="0">
                <a:solidFill>
                  <a:srgbClr val="272B35"/>
                </a:solidFill>
                <a:latin typeface="Encode Sans ExpandedLight"/>
              </a:rPr>
              <a:t>One organising idea and one grid, everywhere the group speaks.</a:t>
            </a:r>
          </a:p>
          <a:p>
            <a:pPr marL="228600" indent="-228600">
              <a:spcAft>
                <a:spcPts val="800"/>
              </a:spcAft>
              <a:buChar char="•"/>
            </a:pPr>
            <a:r>
              <a:rPr sz="1500" b="0" i="0">
                <a:solidFill>
                  <a:srgbClr val="272B35"/>
                </a:solidFill>
                <a:latin typeface="Encode Sans ExpandedLight"/>
              </a:rPr>
              <a:t>Impact areas in the framework; dates in the KPIs and the transition plan.</a:t>
            </a:r>
          </a:p>
          <a:p>
            <a:pPr marL="228600" indent="-228600">
              <a:spcAft>
                <a:spcPts val="800"/>
              </a:spcAft>
              <a:buChar char="•"/>
            </a:pPr>
            <a:r>
              <a:rPr sz="1500" b="0" i="0">
                <a:solidFill>
                  <a:srgbClr val="272B35"/>
                </a:solidFill>
                <a:latin typeface="Encode Sans ExpandedLight"/>
              </a:rPr>
              <a:t>Prove every claim and say what is still missing.</a:t>
            </a:r>
          </a:p>
          <a:p>
            <a:pPr marL="228600" indent="-228600">
              <a:spcAft>
                <a:spcPts val="800"/>
              </a:spcAft>
              <a:buChar char="•"/>
            </a:pPr>
            <a:r>
              <a:rPr sz="1500" b="0" i="0">
                <a:solidFill>
                  <a:srgbClr val="272B35"/>
                </a:solidFill>
                <a:latin typeface="Encode Sans ExpandedLight"/>
              </a:rPr>
              <a:t>A framework where ESG guarantees the proof and HR provides the people.</a:t>
            </a:r>
          </a:p>
        </p:txBody>
      </p:sp>
    </p:spTree>
    <p:extLst>
      <p:ext uri="{BB962C8B-B14F-4D97-AF65-F5344CB8AC3E}">
        <p14:creationId xmlns:p14="http://schemas.microsoft.com/office/powerpoint/2010/main" val="4273387618"/>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Key insight</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Statement"/>
          <p:cNvSpPr txBox="1"/>
          <p:nvPr/>
        </p:nvSpPr>
        <p:spPr>
          <a:xfrm>
            <a:off x="612648" y="1097280"/>
            <a:ext cx="10607040" cy="1188720"/>
          </a:xfrm>
          <a:prstGeom prst="rect">
            <a:avLst/>
          </a:prstGeom>
          <a:noFill/>
        </p:spPr>
        <p:txBody>
          <a:bodyPr wrap="square" lIns="0" rIns="0" tIns="0" bIns="0" anchor="t">
            <a:spAutoFit/>
          </a:bodyPr>
          <a:lstStyle/>
          <a:p>
            <a:pPr algn="l">
              <a:spcAft>
                <a:spcPts val="0"/>
              </a:spcAft>
            </a:pPr>
            <a:r>
              <a:rPr sz="2400" b="1" i="0">
                <a:solidFill>
                  <a:srgbClr val="243782"/>
                </a:solidFill>
                <a:latin typeface="Encode Sans Expanded"/>
              </a:rPr>
              <a:t>The best sustainability storytellers do not have the smartest slogan. They have one organising idea, repeated identically wherever the company speaks.</a:t>
            </a:r>
          </a:p>
        </p:txBody>
      </p:sp>
      <p:sp>
        <p:nvSpPr>
          <p:cNvPr id="7" name="Card 01"/>
          <p:cNvSpPr/>
          <p:nvPr/>
        </p:nvSpPr>
        <p:spPr>
          <a:xfrm>
            <a:off x="612648" y="2743200"/>
            <a:ext cx="3520440" cy="2514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ard 01 text"/>
          <p:cNvSpPr txBox="1"/>
          <p:nvPr/>
        </p:nvSpPr>
        <p:spPr>
          <a:xfrm>
            <a:off x="886968" y="3017520"/>
            <a:ext cx="2971800" cy="2651760"/>
          </a:xfrm>
          <a:prstGeom prst="rect">
            <a:avLst/>
          </a:prstGeom>
          <a:noFill/>
        </p:spPr>
        <p:txBody>
          <a:bodyPr wrap="square" lIns="0" rIns="0" tIns="0" bIns="0" anchor="t">
            <a:spAutoFit/>
          </a:bodyPr>
          <a:lstStyle/>
          <a:p>
            <a:pPr algn="l">
              <a:spcAft>
                <a:spcPts val="1000"/>
              </a:spcAft>
            </a:pPr>
            <a:r>
              <a:rPr sz="2800" b="1" i="0">
                <a:solidFill>
                  <a:srgbClr val="E94E24"/>
                </a:solidFill>
                <a:latin typeface="Encode Sans Expanded"/>
              </a:rPr>
              <a:t>01</a:t>
            </a:r>
          </a:p>
          <a:p>
            <a:pPr algn="l">
              <a:spcAft>
                <a:spcPts val="800"/>
              </a:spcAft>
            </a:pPr>
            <a:r>
              <a:rPr sz="1800" b="1" i="0">
                <a:solidFill>
                  <a:srgbClr val="243782"/>
                </a:solidFill>
                <a:latin typeface="Encode Sans Expanded"/>
              </a:rPr>
              <a:t>One grid, everywhere</a:t>
            </a:r>
          </a:p>
          <a:p>
            <a:pPr algn="l">
              <a:spcAft>
                <a:spcPts val="0"/>
              </a:spcAft>
            </a:pPr>
            <a:r>
              <a:rPr sz="1500" b="0" i="0">
                <a:solidFill>
                  <a:srgbClr val="272B35"/>
                </a:solidFill>
                <a:latin typeface="Encode Sans ExpandedLight"/>
              </a:rPr>
              <a:t>Hub, KPIs, report, governance and local sites all use the same dimensions.</a:t>
            </a:r>
          </a:p>
        </p:txBody>
      </p:sp>
      <p:sp>
        <p:nvSpPr>
          <p:cNvPr id="9" name="Card 02"/>
          <p:cNvSpPr/>
          <p:nvPr/>
        </p:nvSpPr>
        <p:spPr>
          <a:xfrm>
            <a:off x="4334256" y="2743200"/>
            <a:ext cx="3520440" cy="2514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ard 02 text"/>
          <p:cNvSpPr txBox="1"/>
          <p:nvPr/>
        </p:nvSpPr>
        <p:spPr>
          <a:xfrm>
            <a:off x="4608576" y="3017520"/>
            <a:ext cx="2971800" cy="2651760"/>
          </a:xfrm>
          <a:prstGeom prst="rect">
            <a:avLst/>
          </a:prstGeom>
          <a:noFill/>
        </p:spPr>
        <p:txBody>
          <a:bodyPr wrap="square" lIns="0" rIns="0" tIns="0" bIns="0" anchor="t">
            <a:spAutoFit/>
          </a:bodyPr>
          <a:lstStyle/>
          <a:p>
            <a:pPr algn="l">
              <a:spcAft>
                <a:spcPts val="1000"/>
              </a:spcAft>
            </a:pPr>
            <a:r>
              <a:rPr sz="2800" b="1" i="0">
                <a:solidFill>
                  <a:srgbClr val="E94E24"/>
                </a:solidFill>
                <a:latin typeface="Encode Sans Expanded"/>
              </a:rPr>
              <a:t>02</a:t>
            </a:r>
          </a:p>
          <a:p>
            <a:pPr algn="l">
              <a:spcAft>
                <a:spcPts val="800"/>
              </a:spcAft>
            </a:pPr>
            <a:r>
              <a:rPr sz="1800" b="1" i="0">
                <a:solidFill>
                  <a:srgbClr val="243782"/>
                </a:solidFill>
                <a:latin typeface="Encode Sans Expanded"/>
              </a:rPr>
              <a:t>Impact areas, not dates</a:t>
            </a:r>
          </a:p>
          <a:p>
            <a:pPr algn="l">
              <a:spcAft>
                <a:spcPts val="0"/>
              </a:spcAft>
            </a:pPr>
            <a:r>
              <a:rPr sz="1500" b="0" i="0">
                <a:solidFill>
                  <a:srgbClr val="272B35"/>
                </a:solidFill>
                <a:latin typeface="Encode Sans ExpandedLight"/>
              </a:rPr>
              <a:t>Toyota, VW and Schneider survived target changes. Mercedes' Ambition 2039 and Stellantis' 2038 did not.</a:t>
            </a:r>
          </a:p>
        </p:txBody>
      </p:sp>
      <p:sp>
        <p:nvSpPr>
          <p:cNvPr id="11" name="Card 03"/>
          <p:cNvSpPr/>
          <p:nvPr/>
        </p:nvSpPr>
        <p:spPr>
          <a:xfrm>
            <a:off x="8055864" y="2743200"/>
            <a:ext cx="3520440" cy="2514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ard 03 text"/>
          <p:cNvSpPr txBox="1"/>
          <p:nvPr/>
        </p:nvSpPr>
        <p:spPr>
          <a:xfrm>
            <a:off x="8330184" y="3017520"/>
            <a:ext cx="2971800" cy="2651760"/>
          </a:xfrm>
          <a:prstGeom prst="rect">
            <a:avLst/>
          </a:prstGeom>
          <a:noFill/>
        </p:spPr>
        <p:txBody>
          <a:bodyPr wrap="square" lIns="0" rIns="0" tIns="0" bIns="0" anchor="t">
            <a:spAutoFit/>
          </a:bodyPr>
          <a:lstStyle/>
          <a:p>
            <a:pPr algn="l">
              <a:spcAft>
                <a:spcPts val="1000"/>
              </a:spcAft>
            </a:pPr>
            <a:r>
              <a:rPr sz="2800" b="1" i="0">
                <a:solidFill>
                  <a:srgbClr val="E94E24"/>
                </a:solidFill>
                <a:latin typeface="Encode Sans Expanded"/>
              </a:rPr>
              <a:t>03</a:t>
            </a:r>
          </a:p>
          <a:p>
            <a:pPr algn="l">
              <a:spcAft>
                <a:spcPts val="800"/>
              </a:spcAft>
            </a:pPr>
            <a:r>
              <a:rPr sz="1800" b="1" i="0">
                <a:solidFill>
                  <a:srgbClr val="243782"/>
                </a:solidFill>
                <a:latin typeface="Encode Sans Expanded"/>
              </a:rPr>
              <a:t>Prove and admit</a:t>
            </a:r>
          </a:p>
          <a:p>
            <a:pPr algn="l">
              <a:spcAft>
                <a:spcPts val="0"/>
              </a:spcAft>
            </a:pPr>
            <a:r>
              <a:rPr sz="1500" b="0" i="0">
                <a:solidFill>
                  <a:srgbClr val="272B35"/>
                </a:solidFill>
                <a:latin typeface="Encode Sans ExpandedLight"/>
              </a:rPr>
              <a:t>One number for every promise, and the courage to say what is still missing.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Reference case · Volkswagen Group</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1024128"/>
            <a:ext cx="7040880" cy="548640"/>
          </a:xfrm>
          <a:prstGeom prst="rect">
            <a:avLst/>
          </a:prstGeom>
          <a:noFill/>
        </p:spPr>
        <p:txBody>
          <a:bodyPr wrap="square" lIns="0" rIns="0" tIns="0" bIns="0" anchor="t">
            <a:spAutoFit/>
          </a:bodyPr>
          <a:lstStyle/>
          <a:p>
            <a:pPr algn="l">
              <a:spcAft>
                <a:spcPts val="0"/>
              </a:spcAft>
            </a:pPr>
            <a:r>
              <a:rPr sz="2200" b="1" i="0">
                <a:solidFill>
                  <a:srgbClr val="243782"/>
                </a:solidFill>
                <a:latin typeface="Encode Sans Expanded"/>
              </a:rPr>
              <a:t>regenerate+: one grid beyond the website</a:t>
            </a:r>
          </a:p>
        </p:txBody>
      </p:sp>
      <p:sp>
        <p:nvSpPr>
          <p:cNvPr id="7" name="regenerate+ box"/>
          <p:cNvSpPr/>
          <p:nvPr/>
        </p:nvSpPr>
        <p:spPr>
          <a:xfrm>
            <a:off x="612648" y="1737360"/>
            <a:ext cx="6949440" cy="777240"/>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
            </a:r>
          </a:p>
        </p:txBody>
      </p:sp>
      <p:sp>
        <p:nvSpPr>
          <p:cNvPr id="8" name="regenerate+ text"/>
          <p:cNvSpPr txBox="1"/>
          <p:nvPr/>
        </p:nvSpPr>
        <p:spPr>
          <a:xfrm>
            <a:off x="777240" y="1801368"/>
            <a:ext cx="6675120" cy="685800"/>
          </a:xfrm>
          <a:prstGeom prst="rect">
            <a:avLst/>
          </a:prstGeom>
          <a:noFill/>
        </p:spPr>
        <p:txBody>
          <a:bodyPr wrap="square" lIns="0" rIns="0" tIns="0" bIns="0" anchor="t">
            <a:spAutoFit/>
          </a:bodyPr>
          <a:lstStyle/>
          <a:p>
            <a:pPr algn="ctr">
              <a:spcAft>
                <a:spcPts val="200"/>
              </a:spcAft>
            </a:pPr>
            <a:r>
              <a:rPr sz="1800" b="1" i="0">
                <a:solidFill>
                  <a:srgbClr val="FFFFFF"/>
                </a:solidFill>
                <a:latin typeface="Encode Sans Expanded"/>
              </a:rPr>
              <a:t>regenerate+</a:t>
            </a:r>
          </a:p>
          <a:p>
            <a:pPr algn="ctr">
              <a:spcAft>
                <a:spcPts val="0"/>
              </a:spcAft>
            </a:pPr>
            <a:r>
              <a:rPr sz="1100" b="0" i="1">
                <a:solidFill>
                  <a:srgbClr val="FFFFFF"/>
                </a:solidFill>
                <a:latin typeface="Encode Sans ExpandedLight"/>
              </a:rPr>
              <a:t>“A mobility provider with positive added value for nature and society”</a:t>
            </a:r>
          </a:p>
        </p:txBody>
      </p:sp>
      <p:sp>
        <p:nvSpPr>
          <p:cNvPr id="9" name="Dimension Nature"/>
          <p:cNvSpPr/>
          <p:nvPr/>
        </p:nvSpPr>
        <p:spPr>
          <a:xfrm>
            <a:off x="612648" y="2697480"/>
            <a:ext cx="1627632" cy="13258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Dimension Nature text"/>
          <p:cNvSpPr txBox="1"/>
          <p:nvPr/>
        </p:nvSpPr>
        <p:spPr>
          <a:xfrm>
            <a:off x="740664" y="2816352"/>
            <a:ext cx="1371600" cy="1143000"/>
          </a:xfrm>
          <a:prstGeom prst="rect">
            <a:avLst/>
          </a:prstGeom>
          <a:noFill/>
        </p:spPr>
        <p:txBody>
          <a:bodyPr wrap="square" lIns="0" rIns="0" tIns="0" bIns="0" anchor="t">
            <a:spAutoFit/>
          </a:bodyPr>
          <a:lstStyle/>
          <a:p>
            <a:pPr algn="l">
              <a:spcAft>
                <a:spcPts val="400"/>
              </a:spcAft>
            </a:pPr>
            <a:r>
              <a:rPr sz="1300" b="1" i="0">
                <a:solidFill>
                  <a:srgbClr val="243782"/>
                </a:solidFill>
                <a:latin typeface="Encode Sans Expanded"/>
              </a:rPr>
              <a:t>Nature</a:t>
            </a:r>
          </a:p>
          <a:p>
            <a:pPr algn="l">
              <a:spcAft>
                <a:spcPts val="0"/>
              </a:spcAft>
            </a:pPr>
            <a:r>
              <a:rPr sz="1000" b="0" i="0">
                <a:solidFill>
                  <a:srgbClr val="272B35"/>
                </a:solidFill>
                <a:latin typeface="Encode Sans ExpandedLight"/>
              </a:rPr>
              <a:t>3 Top-KPIs: decarbonisation, circularity, biodiversity</a:t>
            </a:r>
          </a:p>
        </p:txBody>
      </p:sp>
      <p:sp>
        <p:nvSpPr>
          <p:cNvPr id="11" name="Dimension Our People"/>
          <p:cNvSpPr/>
          <p:nvPr/>
        </p:nvSpPr>
        <p:spPr>
          <a:xfrm>
            <a:off x="2386584" y="2697480"/>
            <a:ext cx="1627632" cy="13258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imension Our People text"/>
          <p:cNvSpPr txBox="1"/>
          <p:nvPr/>
        </p:nvSpPr>
        <p:spPr>
          <a:xfrm>
            <a:off x="2514600" y="2816352"/>
            <a:ext cx="1371600" cy="1143000"/>
          </a:xfrm>
          <a:prstGeom prst="rect">
            <a:avLst/>
          </a:prstGeom>
          <a:noFill/>
        </p:spPr>
        <p:txBody>
          <a:bodyPr wrap="square" lIns="0" rIns="0" tIns="0" bIns="0" anchor="t">
            <a:spAutoFit/>
          </a:bodyPr>
          <a:lstStyle/>
          <a:p>
            <a:pPr algn="l">
              <a:spcAft>
                <a:spcPts val="400"/>
              </a:spcAft>
            </a:pPr>
            <a:r>
              <a:rPr sz="1300" b="1" i="0">
                <a:solidFill>
                  <a:srgbClr val="243782"/>
                </a:solidFill>
                <a:latin typeface="Encode Sans Expanded"/>
              </a:rPr>
              <a:t>Our People</a:t>
            </a:r>
          </a:p>
          <a:p>
            <a:pPr algn="l">
              <a:spcAft>
                <a:spcPts val="0"/>
              </a:spcAft>
            </a:pPr>
            <a:r>
              <a:rPr sz="1000" b="0" i="0">
                <a:solidFill>
                  <a:srgbClr val="272B35"/>
                </a:solidFill>
                <a:latin typeface="Encode Sans ExpandedLight"/>
              </a:rPr>
              <a:t>3 Top-KPIs</a:t>
            </a:r>
          </a:p>
        </p:txBody>
      </p:sp>
      <p:sp>
        <p:nvSpPr>
          <p:cNvPr id="13" name="Dimension Society"/>
          <p:cNvSpPr/>
          <p:nvPr/>
        </p:nvSpPr>
        <p:spPr>
          <a:xfrm>
            <a:off x="4160520" y="2697480"/>
            <a:ext cx="1627632" cy="13258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Dimension Society text"/>
          <p:cNvSpPr txBox="1"/>
          <p:nvPr/>
        </p:nvSpPr>
        <p:spPr>
          <a:xfrm>
            <a:off x="4288536" y="2816352"/>
            <a:ext cx="1371600" cy="1143000"/>
          </a:xfrm>
          <a:prstGeom prst="rect">
            <a:avLst/>
          </a:prstGeom>
          <a:noFill/>
        </p:spPr>
        <p:txBody>
          <a:bodyPr wrap="square" lIns="0" rIns="0" tIns="0" bIns="0" anchor="t">
            <a:spAutoFit/>
          </a:bodyPr>
          <a:lstStyle/>
          <a:p>
            <a:pPr algn="l">
              <a:spcAft>
                <a:spcPts val="400"/>
              </a:spcAft>
            </a:pPr>
            <a:r>
              <a:rPr sz="1300" b="1" i="0">
                <a:solidFill>
                  <a:srgbClr val="243782"/>
                </a:solidFill>
                <a:latin typeface="Encode Sans Expanded"/>
              </a:rPr>
              <a:t>Society</a:t>
            </a:r>
          </a:p>
          <a:p>
            <a:pPr algn="l">
              <a:spcAft>
                <a:spcPts val="0"/>
              </a:spcAft>
            </a:pPr>
            <a:r>
              <a:rPr sz="1000" b="0" i="0">
                <a:solidFill>
                  <a:srgbClr val="272B35"/>
                </a:solidFill>
                <a:latin typeface="Encode Sans ExpandedLight"/>
              </a:rPr>
              <a:t>3 Top-KPIs</a:t>
            </a:r>
          </a:p>
        </p:txBody>
      </p:sp>
      <p:sp>
        <p:nvSpPr>
          <p:cNvPr id="15" name="Dimension Business"/>
          <p:cNvSpPr/>
          <p:nvPr/>
        </p:nvSpPr>
        <p:spPr>
          <a:xfrm>
            <a:off x="5934456" y="2697480"/>
            <a:ext cx="1627632" cy="13258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imension Business text"/>
          <p:cNvSpPr txBox="1"/>
          <p:nvPr/>
        </p:nvSpPr>
        <p:spPr>
          <a:xfrm>
            <a:off x="6062472" y="2816352"/>
            <a:ext cx="1371600" cy="1143000"/>
          </a:xfrm>
          <a:prstGeom prst="rect">
            <a:avLst/>
          </a:prstGeom>
          <a:noFill/>
        </p:spPr>
        <p:txBody>
          <a:bodyPr wrap="square" lIns="0" rIns="0" tIns="0" bIns="0" anchor="t">
            <a:spAutoFit/>
          </a:bodyPr>
          <a:lstStyle/>
          <a:p>
            <a:pPr algn="l">
              <a:spcAft>
                <a:spcPts val="400"/>
              </a:spcAft>
            </a:pPr>
            <a:r>
              <a:rPr sz="1300" b="1" i="0">
                <a:solidFill>
                  <a:srgbClr val="243782"/>
                </a:solidFill>
                <a:latin typeface="Encode Sans Expanded"/>
              </a:rPr>
              <a:t>Business</a:t>
            </a:r>
          </a:p>
          <a:p>
            <a:pPr algn="l">
              <a:spcAft>
                <a:spcPts val="0"/>
              </a:spcAft>
            </a:pPr>
            <a:r>
              <a:rPr sz="1000" b="0" i="0">
                <a:solidFill>
                  <a:srgbClr val="272B35"/>
                </a:solidFill>
                <a:latin typeface="Encode Sans ExpandedLight"/>
              </a:rPr>
              <a:t>3 Top-KPIs: the most distinctive dimension</a:t>
            </a:r>
          </a:p>
        </p:txBody>
      </p:sp>
      <p:sp>
        <p:nvSpPr>
          <p:cNvPr id="17" name="Grid label"/>
          <p:cNvSpPr txBox="1"/>
          <p:nvPr/>
        </p:nvSpPr>
        <p:spPr>
          <a:xfrm>
            <a:off x="612648" y="4206240"/>
            <a:ext cx="6949440" cy="274320"/>
          </a:xfrm>
          <a:prstGeom prst="rect">
            <a:avLst/>
          </a:prstGeom>
          <a:noFill/>
        </p:spPr>
        <p:txBody>
          <a:bodyPr wrap="square" lIns="0" rIns="0" tIns="0" bIns="0" anchor="t">
            <a:spAutoFit/>
          </a:bodyPr>
          <a:lstStyle/>
          <a:p>
            <a:pPr algn="l">
              <a:spcAft>
                <a:spcPts val="0"/>
              </a:spcAft>
            </a:pPr>
            <a:r>
              <a:rPr sz="1100" b="1" i="0">
                <a:solidFill>
                  <a:srgbClr val="E94E24"/>
                </a:solidFill>
                <a:latin typeface="Encode Sans Expanded"/>
              </a:rPr>
              <a:t>THE SAME GRID ORGANISES</a:t>
            </a:r>
          </a:p>
        </p:txBody>
      </p:sp>
      <p:sp>
        <p:nvSpPr>
          <p:cNvPr id="18" name="Use 1"/>
          <p:cNvSpPr/>
          <p:nvPr/>
        </p:nvSpPr>
        <p:spPr>
          <a:xfrm>
            <a:off x="612648" y="4526280"/>
            <a:ext cx="1627632" cy="914400"/>
          </a:xfrm>
          <a:prstGeom prst="roundRect">
            <a:avLst>
              <a:gd name="adj" fmla="val 30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243782"/>
                </a:solidFill>
                <a:latin typeface="Encode Sans Expanded"/>
              </a:rPr>
              <a:t>The web hub and strategy page</a:t>
            </a:r>
          </a:p>
        </p:txBody>
      </p:sp>
      <p:sp>
        <p:nvSpPr>
          <p:cNvPr id="19" name="Use 2"/>
          <p:cNvSpPr/>
          <p:nvPr/>
        </p:nvSpPr>
        <p:spPr>
          <a:xfrm>
            <a:off x="2386584" y="4526280"/>
            <a:ext cx="1627632" cy="914400"/>
          </a:xfrm>
          <a:prstGeom prst="roundRect">
            <a:avLst>
              <a:gd name="adj" fmla="val 30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243782"/>
                </a:solidFill>
                <a:latin typeface="Encode Sans Expanded"/>
              </a:rPr>
              <a:t>The regenerate+ Progress Report</a:t>
            </a:r>
          </a:p>
        </p:txBody>
      </p:sp>
      <p:sp>
        <p:nvSpPr>
          <p:cNvPr id="20" name="Use 3"/>
          <p:cNvSpPr/>
          <p:nvPr/>
        </p:nvSpPr>
        <p:spPr>
          <a:xfrm>
            <a:off x="4160520" y="4526280"/>
            <a:ext cx="1627632" cy="914400"/>
          </a:xfrm>
          <a:prstGeom prst="roundRect">
            <a:avLst>
              <a:gd name="adj" fmla="val 30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243782"/>
                </a:solidFill>
                <a:latin typeface="Encode Sans Expanded"/>
              </a:rPr>
              <a:t>The external council: 4 Practice Groups</a:t>
            </a:r>
          </a:p>
        </p:txBody>
      </p:sp>
      <p:sp>
        <p:nvSpPr>
          <p:cNvPr id="21" name="Use 4"/>
          <p:cNvSpPr/>
          <p:nvPr/>
        </p:nvSpPr>
        <p:spPr>
          <a:xfrm>
            <a:off x="5934456" y="4526280"/>
            <a:ext cx="1627632" cy="914400"/>
          </a:xfrm>
          <a:prstGeom prst="roundRect">
            <a:avLst>
              <a:gd name="adj" fmla="val 30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243782"/>
                </a:solidFill>
                <a:latin typeface="Encode Sans Expanded"/>
              </a:rPr>
              <a:t>The Decarbonization Index in Board pay</a:t>
            </a:r>
          </a:p>
        </p:txBody>
      </p:sp>
      <p:sp>
        <p:nvSpPr>
          <p:cNvPr id="22" name="Assessment card"/>
          <p:cNvSpPr/>
          <p:nvPr/>
        </p:nvSpPr>
        <p:spPr>
          <a:xfrm>
            <a:off x="7863840" y="1097280"/>
            <a:ext cx="3749039" cy="512064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ogo box"/>
          <p:cNvSpPr/>
          <p:nvPr/>
        </p:nvSpPr>
        <p:spPr>
          <a:xfrm>
            <a:off x="7863840" y="1097280"/>
            <a:ext cx="3749039"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300" b="0" i="0">
                <a:solidFill>
                  <a:srgbClr val="FFFFFF"/>
                </a:solidFill>
                <a:latin typeface="Encode Sans ExpandedLight"/>
              </a:rPr>
              <a:t>Volkswagen Group</a:t>
            </a:r>
          </a:p>
        </p:txBody>
      </p:sp>
      <p:sp>
        <p:nvSpPr>
          <p:cNvPr id="24" name="Assessment text"/>
          <p:cNvSpPr txBox="1"/>
          <p:nvPr/>
        </p:nvSpPr>
        <p:spPr>
          <a:xfrm>
            <a:off x="8092440" y="1691640"/>
            <a:ext cx="3291840" cy="4297680"/>
          </a:xfrm>
          <a:prstGeom prst="rect">
            <a:avLst/>
          </a:prstGeom>
          <a:noFill/>
        </p:spPr>
        <p:txBody>
          <a:bodyPr wrap="square" lIns="0" rIns="0" tIns="0" bIns="0" anchor="t">
            <a:spAutoFit/>
          </a:bodyPr>
          <a:lstStyle/>
          <a:p>
            <a:pPr algn="l">
              <a:spcAft>
                <a:spcPts val="200"/>
              </a:spcAft>
            </a:pPr>
            <a:r>
              <a:rPr sz="1000" b="1" i="0">
                <a:solidFill>
                  <a:srgbClr val="E94E24"/>
                </a:solidFill>
                <a:latin typeface="Encode Sans Expanded"/>
              </a:rPr>
              <a:t>Why it works</a:t>
            </a:r>
          </a:p>
          <a:p>
            <a:pPr algn="l">
              <a:spcAft>
                <a:spcPts val="1000"/>
              </a:spcAft>
            </a:pPr>
            <a:r>
              <a:rPr sz="1100" b="0" i="0">
                <a:solidFill>
                  <a:srgbClr val="272B35"/>
                </a:solidFill>
                <a:latin typeface="Encode Sans ExpandedLight"/>
              </a:rPr>
              <a:t>A proprietary name, four dimensions with three Top-KPIs each, and one grid for site, report, external council and Board pay. “Elevate sustainability” sits inside the group strategy.</a:t>
            </a:r>
          </a:p>
          <a:p>
            <a:pPr algn="l">
              <a:spcAft>
                <a:spcPts val="200"/>
              </a:spcAft>
            </a:pPr>
            <a:r>
              <a:rPr sz="1000" b="1" i="0">
                <a:solidFill>
                  <a:srgbClr val="E94E24"/>
                </a:solidFill>
                <a:latin typeface="Encode Sans Expanded"/>
              </a:rPr>
              <a:t>Why it matters for Stellantis</a:t>
            </a:r>
          </a:p>
          <a:p>
            <a:pPr algn="l">
              <a:spcAft>
                <a:spcPts val="1000"/>
              </a:spcAft>
            </a:pPr>
            <a:r>
              <a:rPr sz="1100" b="0" i="0">
                <a:solidFill>
                  <a:srgbClr val="272B35"/>
                </a:solidFill>
                <a:latin typeface="Encode Sans ExpandedLight"/>
              </a:rPr>
              <a:t>Adopt the skeleton, then add what VW lacks: its own voice, an explicit link to FaSTLAne 2030 and a People dimension owned by HR (VW already has “Our People”).</a:t>
            </a:r>
          </a:p>
          <a:p>
            <a:pPr algn="l">
              <a:spcAft>
                <a:spcPts val="200"/>
              </a:spcAft>
            </a:pPr>
            <a:r>
              <a:rPr sz="1000" b="1" i="0">
                <a:solidFill>
                  <a:srgbClr val="E94E24"/>
                </a:solidFill>
                <a:latin typeface="Encode Sans Expanded"/>
              </a:rPr>
              <a:t>What stays generic</a:t>
            </a:r>
          </a:p>
          <a:p>
            <a:pPr algn="l">
              <a:spcAft>
                <a:spcPts val="0"/>
              </a:spcAft>
            </a:pPr>
            <a:r>
              <a:rPr sz="1100" b="0" i="0">
                <a:solidFill>
                  <a:srgbClr val="272B35"/>
                </a:solidFill>
                <a:latin typeface="Encode Sans ExpandedLight"/>
              </a:rPr>
              <a:t>Textbook ESG names, a framework only about two years old, no verified visual signature.</a:t>
            </a:r>
          </a:p>
        </p:txBody>
      </p:sp>
      <p:sp>
        <p:nvSpPr>
          <p:cNvPr id="25" name="Hashtag"/>
          <p:cNvSpPr txBox="1"/>
          <p:nvPr/>
        </p:nvSpPr>
        <p:spPr>
          <a:xfrm>
            <a:off x="9144000" y="5897880"/>
            <a:ext cx="2286000"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#OneGridEverywhere</a:t>
            </a:r>
          </a:p>
        </p:txBody>
      </p:sp>
      <p:sp>
        <p:nvSpPr>
          <p:cNvPr id="26" name="Footnote"/>
          <p:cNvSpPr txBox="1"/>
          <p:nvPr/>
        </p:nvSpPr>
        <p:spPr>
          <a:xfrm>
            <a:off x="612648" y="6382512"/>
            <a:ext cx="10241280" cy="274320"/>
          </a:xfrm>
          <a:prstGeom prst="rect">
            <a:avLst/>
          </a:prstGeom>
          <a:noFill/>
        </p:spPr>
        <p:txBody>
          <a:bodyPr wrap="square" lIns="0" rIns="0" tIns="0" bIns="0" anchor="t">
            <a:spAutoFit/>
          </a:bodyPr>
          <a:lstStyle/>
          <a:p>
            <a:pPr algn="l">
              <a:spcAft>
                <a:spcPts val="0"/>
              </a:spcAft>
            </a:pPr>
            <a:r>
              <a:rPr sz="900" b="0" i="1">
                <a:solidFill>
                  <a:srgbClr val="5E6370"/>
                </a:solidFill>
                <a:latin typeface="Encode Sans ExpandedLight"/>
              </a:rPr>
              <a:t>Sources: VW Sustainability hub, VW Annual Report 2024-2025, EMobility+, MarketScreener. Hub page not opened directly: visual judgement provisional.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Best practices · Automotive</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Side label"/>
          <p:cNvSpPr txBox="1"/>
          <p:nvPr/>
        </p:nvSpPr>
        <p:spPr>
          <a:xfrm rot="16200000">
            <a:off x="-868680" y="3566160"/>
            <a:ext cx="2377440" cy="274320"/>
          </a:xfrm>
          <a:prstGeom prst="rect">
            <a:avLst/>
          </a:prstGeom>
          <a:noFill/>
        </p:spPr>
        <p:txBody>
          <a:bodyPr wrap="square" lIns="0" rIns="0" tIns="0" bIns="0" anchor="t">
            <a:spAutoFit/>
          </a:bodyPr>
          <a:lstStyle/>
          <a:p>
            <a:pPr algn="ctr">
              <a:spcAft>
                <a:spcPts val="0"/>
              </a:spcAft>
            </a:pPr>
            <a:r>
              <a:rPr sz="1200" b="1" i="0">
                <a:solidFill>
                  <a:srgbClr val="243782"/>
                </a:solidFill>
                <a:latin typeface="Encode Sans Expanded"/>
              </a:rPr>
              <a:t>ESG Narrative</a:t>
            </a:r>
          </a:p>
        </p:txBody>
      </p:sp>
      <p:sp>
        <p:nvSpPr>
          <p:cNvPr id="7" name="Card 1"/>
          <p:cNvSpPr/>
          <p:nvPr/>
        </p:nvSpPr>
        <p:spPr>
          <a:xfrm>
            <a:off x="603504"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Logo 1"/>
          <p:cNvSpPr/>
          <p:nvPr/>
        </p:nvSpPr>
        <p:spPr>
          <a:xfrm>
            <a:off x="603504"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Mercedes-Benz</a:t>
            </a:r>
          </a:p>
        </p:txBody>
      </p:sp>
      <p:sp>
        <p:nvSpPr>
          <p:cNvPr id="9" name="Card 1 text"/>
          <p:cNvSpPr txBox="1"/>
          <p:nvPr/>
        </p:nvSpPr>
        <p:spPr>
          <a:xfrm>
            <a:off x="804672" y="1691640"/>
            <a:ext cx="3163824" cy="4160520"/>
          </a:xfrm>
          <a:prstGeom prst="rect">
            <a:avLst/>
          </a:prstGeom>
          <a:noFill/>
        </p:spPr>
        <p:txBody>
          <a:bodyPr wrap="square" lIns="0" rIns="0" tIns="0" bIns="0" anchor="t">
            <a:spAutoFit/>
          </a:bodyPr>
          <a:lstStyle/>
          <a:p>
            <a:pPr algn="l">
              <a:spcAft>
                <a:spcPts val="200"/>
              </a:spcAft>
            </a:pPr>
            <a:r>
              <a:rPr sz="1000" b="1" i="0">
                <a:solidFill>
                  <a:srgbClr val="E94E24"/>
                </a:solidFill>
                <a:latin typeface="Encode Sans Expanded"/>
              </a:rPr>
              <a:t>Title</a:t>
            </a:r>
          </a:p>
          <a:p>
            <a:pPr algn="l">
              <a:spcAft>
                <a:spcPts val="1200"/>
              </a:spcAft>
            </a:pPr>
            <a:r>
              <a:rPr sz="1200" b="1" i="0">
                <a:solidFill>
                  <a:srgbClr val="243782"/>
                </a:solidFill>
                <a:latin typeface="Encode Sans Expanded"/>
              </a:rPr>
              <a:t>The deepest hub: from promise to single model</a:t>
            </a:r>
          </a:p>
          <a:p>
            <a:pPr algn="l">
              <a:spcAft>
                <a:spcPts val="200"/>
              </a:spcAft>
            </a:pPr>
            <a:r>
              <a:rPr sz="1000" b="1" i="0">
                <a:solidFill>
                  <a:srgbClr val="E94E24"/>
                </a:solidFill>
                <a:latin typeface="Encode Sans Expanded"/>
              </a:rPr>
              <a:t>Why it works</a:t>
            </a:r>
          </a:p>
          <a:p>
            <a:pPr algn="l">
              <a:spcAft>
                <a:spcPts val="1200"/>
              </a:spcAft>
            </a:pPr>
            <a:r>
              <a:rPr sz="1100" b="0" i="0">
                <a:solidFill>
                  <a:srgbClr val="272B35"/>
                </a:solidFill>
                <a:latin typeface="Encode Sans ExpandedLight"/>
              </a:rPr>
              <a:t>One path, five layers: overview, six strategic areas, Ambition 2039, a 360° Environmental Check per model, investor metrics and a Climate Transition Action Plan. Plant target −50% reached in 2022, then raised to −80%.</a:t>
            </a:r>
          </a:p>
          <a:p>
            <a:pPr algn="l">
              <a:spcAft>
                <a:spcPts val="200"/>
              </a:spcAft>
            </a:pPr>
            <a:r>
              <a:rPr sz="1000" b="1" i="0">
                <a:solidFill>
                  <a:srgbClr val="E94E24"/>
                </a:solidFill>
                <a:latin typeface="Encode Sans Expanded"/>
              </a:rPr>
              <a:t>Why it matters for Stellantis</a:t>
            </a:r>
          </a:p>
          <a:p>
            <a:pPr algn="l">
              <a:spcAft>
                <a:spcPts val="0"/>
              </a:spcAft>
            </a:pPr>
            <a:r>
              <a:rPr sz="1100" b="0" i="0">
                <a:solidFill>
                  <a:srgbClr val="272B35"/>
                </a:solidFill>
                <a:latin typeface="Encode Sans ExpandedLight"/>
              </a:rPr>
              <a:t>The same layered path, from one screen to the investor PDF, plus a public Climate Transition Plan linked from the 2050 page, as EmpCo will require.</a:t>
            </a:r>
          </a:p>
        </p:txBody>
      </p:sp>
      <p:sp>
        <p:nvSpPr>
          <p:cNvPr id="10" name="Hashtag 1"/>
          <p:cNvSpPr txBox="1"/>
          <p:nvPr/>
        </p:nvSpPr>
        <p:spPr>
          <a:xfrm>
            <a:off x="1700784" y="5943600"/>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#LayeredHub</a:t>
            </a:r>
          </a:p>
        </p:txBody>
      </p:sp>
      <p:sp>
        <p:nvSpPr>
          <p:cNvPr id="11" name="Card 2"/>
          <p:cNvSpPr/>
          <p:nvPr/>
        </p:nvSpPr>
        <p:spPr>
          <a:xfrm>
            <a:off x="4325112"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Logo 2"/>
          <p:cNvSpPr/>
          <p:nvPr/>
        </p:nvSpPr>
        <p:spPr>
          <a:xfrm>
            <a:off x="4325112"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Toyota</a:t>
            </a:r>
          </a:p>
        </p:txBody>
      </p:sp>
      <p:sp>
        <p:nvSpPr>
          <p:cNvPr id="13" name="Card 2 text"/>
          <p:cNvSpPr txBox="1"/>
          <p:nvPr/>
        </p:nvSpPr>
        <p:spPr>
          <a:xfrm>
            <a:off x="4526280" y="1691640"/>
            <a:ext cx="3163824" cy="4160520"/>
          </a:xfrm>
          <a:prstGeom prst="rect">
            <a:avLst/>
          </a:prstGeom>
          <a:noFill/>
        </p:spPr>
        <p:txBody>
          <a:bodyPr wrap="square" lIns="0" rIns="0" tIns="0" bIns="0" anchor="t">
            <a:spAutoFit/>
          </a:bodyPr>
          <a:lstStyle/>
          <a:p>
            <a:pPr algn="l">
              <a:spcAft>
                <a:spcPts val="200"/>
              </a:spcAft>
            </a:pPr>
            <a:r>
              <a:rPr sz="1000" b="1" i="0">
                <a:solidFill>
                  <a:srgbClr val="E94E24"/>
                </a:solidFill>
                <a:latin typeface="Encode Sans Expanded"/>
              </a:rPr>
              <a:t>Title</a:t>
            </a:r>
          </a:p>
          <a:p>
            <a:pPr algn="l">
              <a:spcAft>
                <a:spcPts val="1200"/>
              </a:spcAft>
            </a:pPr>
            <a:r>
              <a:rPr sz="1200" b="1" i="0">
                <a:solidFill>
                  <a:srgbClr val="243782"/>
                </a:solidFill>
                <a:latin typeface="Encode Sans Expanded"/>
              </a:rPr>
              <a:t>Environmental Challenge 2050: eleven years, same frame</a:t>
            </a:r>
          </a:p>
          <a:p>
            <a:pPr algn="l">
              <a:spcAft>
                <a:spcPts val="200"/>
              </a:spcAft>
            </a:pPr>
            <a:r>
              <a:rPr sz="1000" b="1" i="0">
                <a:solidFill>
                  <a:srgbClr val="E94E24"/>
                </a:solidFill>
                <a:latin typeface="Encode Sans Expanded"/>
              </a:rPr>
              <a:t>Why it works</a:t>
            </a:r>
          </a:p>
          <a:p>
            <a:pPr algn="l">
              <a:spcAft>
                <a:spcPts val="1200"/>
              </a:spcAft>
            </a:pPr>
            <a:r>
              <a:rPr sz="1100" b="0" i="0">
                <a:solidFill>
                  <a:srgbClr val="272B35"/>
                </a:solidFill>
                <a:latin typeface="Encode Sans ExpandedLight"/>
              </a:rPr>
              <a:t>Six numbered challenges since 2015: impact areas, not deadlines. Interim dates change, the story does not. The same icon set travels across UK, US, Lebanese and dealer sites.</a:t>
            </a:r>
          </a:p>
          <a:p>
            <a:pPr algn="l">
              <a:spcAft>
                <a:spcPts val="200"/>
              </a:spcAft>
            </a:pPr>
            <a:r>
              <a:rPr sz="1000" b="1" i="0">
                <a:solidFill>
                  <a:srgbClr val="E94E24"/>
                </a:solidFill>
                <a:latin typeface="Encode Sans Expanded"/>
              </a:rPr>
              <a:t>Why it matters for Stellantis</a:t>
            </a:r>
          </a:p>
          <a:p>
            <a:pPr algn="l">
              <a:spcAft>
                <a:spcPts val="0"/>
              </a:spcAft>
            </a:pPr>
            <a:r>
              <a:rPr sz="1100" b="0" i="0">
                <a:solidFill>
                  <a:srgbClr val="272B35"/>
                </a:solidFill>
                <a:latin typeface="Encode Sans ExpandedLight"/>
              </a:rPr>
              <a:t>Make the dimensions numbered, iconic and dateless, with dates kept in the KPIs. Proof that a multi-energy plan like FaSTLAne can carry a lasting story.</a:t>
            </a:r>
          </a:p>
        </p:txBody>
      </p:sp>
      <p:sp>
        <p:nvSpPr>
          <p:cNvPr id="14" name="Hashtag 2"/>
          <p:cNvSpPr txBox="1"/>
          <p:nvPr/>
        </p:nvSpPr>
        <p:spPr>
          <a:xfrm>
            <a:off x="5422392" y="5943600"/>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#ImpactAreasNotDates</a:t>
            </a:r>
          </a:p>
        </p:txBody>
      </p:sp>
      <p:sp>
        <p:nvSpPr>
          <p:cNvPr id="15" name="Card 3"/>
          <p:cNvSpPr/>
          <p:nvPr/>
        </p:nvSpPr>
        <p:spPr>
          <a:xfrm>
            <a:off x="8046720"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Logo 3"/>
          <p:cNvSpPr/>
          <p:nvPr/>
        </p:nvSpPr>
        <p:spPr>
          <a:xfrm>
            <a:off x="8046720"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Renault Group</a:t>
            </a:r>
          </a:p>
        </p:txBody>
      </p:sp>
      <p:sp>
        <p:nvSpPr>
          <p:cNvPr id="17" name="Card 3 text"/>
          <p:cNvSpPr txBox="1"/>
          <p:nvPr/>
        </p:nvSpPr>
        <p:spPr>
          <a:xfrm>
            <a:off x="8247888" y="1691640"/>
            <a:ext cx="3163824" cy="4160520"/>
          </a:xfrm>
          <a:prstGeom prst="rect">
            <a:avLst/>
          </a:prstGeom>
          <a:noFill/>
        </p:spPr>
        <p:txBody>
          <a:bodyPr wrap="square" lIns="0" rIns="0" tIns="0" bIns="0" anchor="t">
            <a:spAutoFit/>
          </a:bodyPr>
          <a:lstStyle/>
          <a:p>
            <a:pPr algn="l">
              <a:spcAft>
                <a:spcPts val="200"/>
              </a:spcAft>
            </a:pPr>
            <a:r>
              <a:rPr sz="1000" b="1" i="0">
                <a:solidFill>
                  <a:srgbClr val="E94E24"/>
                </a:solidFill>
                <a:latin typeface="Encode Sans Expanded"/>
              </a:rPr>
              <a:t>Title</a:t>
            </a:r>
          </a:p>
          <a:p>
            <a:pPr algn="l">
              <a:spcAft>
                <a:spcPts val="1200"/>
              </a:spcAft>
            </a:pPr>
            <a:r>
              <a:rPr sz="1200" b="1" i="0">
                <a:solidFill>
                  <a:srgbClr val="243782"/>
                </a:solidFill>
                <a:latin typeface="Encode Sans Expanded"/>
              </a:rPr>
              <a:t>The Future is NEUTRAL: sustainability in the brand menu</a:t>
            </a:r>
          </a:p>
          <a:p>
            <a:pPr algn="l">
              <a:spcAft>
                <a:spcPts val="200"/>
              </a:spcAft>
            </a:pPr>
            <a:r>
              <a:rPr sz="1000" b="1" i="0">
                <a:solidFill>
                  <a:srgbClr val="E94E24"/>
                </a:solidFill>
                <a:latin typeface="Encode Sans Expanded"/>
              </a:rPr>
              <a:t>Why it works</a:t>
            </a:r>
          </a:p>
          <a:p>
            <a:pPr algn="l">
              <a:spcAft>
                <a:spcPts val="1200"/>
              </a:spcAft>
            </a:pPr>
            <a:r>
              <a:rPr sz="1100" b="0" i="0">
                <a:solidFill>
                  <a:srgbClr val="272B35"/>
                </a:solidFill>
                <a:latin typeface="Encode Sans ExpandedLight"/>
              </a:rPr>
              <a:t>Circularity sits under “brands &amp; entities” next to Renault, Dacia and Alpine: a business with its own logo and targets (over €2.3bn revenue, over 10% margin by 2030, self-reported). Born in 2022, kept in futuREady.</a:t>
            </a:r>
          </a:p>
          <a:p>
            <a:pPr algn="l">
              <a:spcAft>
                <a:spcPts val="200"/>
              </a:spcAft>
            </a:pPr>
            <a:r>
              <a:rPr sz="1000" b="1" i="0">
                <a:solidFill>
                  <a:srgbClr val="E94E24"/>
                </a:solidFill>
                <a:latin typeface="Encode Sans Expanded"/>
              </a:rPr>
              <a:t>Why it matters for Stellantis</a:t>
            </a:r>
          </a:p>
          <a:p>
            <a:pPr algn="l">
              <a:spcAft>
                <a:spcPts val="0"/>
              </a:spcAft>
            </a:pPr>
            <a:r>
              <a:rPr sz="1100" b="0" i="0">
                <a:solidFill>
                  <a:srgbClr val="272B35"/>
                </a:solidFill>
                <a:latin typeface="Encode Sans ExpandedLight"/>
              </a:rPr>
              <a:t>Move SUSTAINera out of the “Vehicles” page and into the group's entities, with revenue and margin KPIs: proof that sustainability pays for every powertrain.</a:t>
            </a:r>
          </a:p>
        </p:txBody>
      </p:sp>
      <p:sp>
        <p:nvSpPr>
          <p:cNvPr id="18" name="Hashtag 3"/>
          <p:cNvSpPr txBox="1"/>
          <p:nvPr/>
        </p:nvSpPr>
        <p:spPr>
          <a:xfrm>
            <a:off x="9144000" y="5943600"/>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#CircularityAsBusiness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Best practices · Beyond automotive</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Side label"/>
          <p:cNvSpPr txBox="1"/>
          <p:nvPr/>
        </p:nvSpPr>
        <p:spPr>
          <a:xfrm rot="16200000">
            <a:off x="-868680" y="3566160"/>
            <a:ext cx="2377440" cy="274320"/>
          </a:xfrm>
          <a:prstGeom prst="rect">
            <a:avLst/>
          </a:prstGeom>
          <a:noFill/>
        </p:spPr>
        <p:txBody>
          <a:bodyPr wrap="square" lIns="0" rIns="0" tIns="0" bIns="0" anchor="t">
            <a:spAutoFit/>
          </a:bodyPr>
          <a:lstStyle/>
          <a:p>
            <a:pPr algn="ctr">
              <a:spcAft>
                <a:spcPts val="0"/>
              </a:spcAft>
            </a:pPr>
            <a:r>
              <a:rPr sz="1200" b="1" i="0">
                <a:solidFill>
                  <a:srgbClr val="243782"/>
                </a:solidFill>
                <a:latin typeface="Encode Sans Expanded"/>
              </a:rPr>
              <a:t>ESG Narrative</a:t>
            </a:r>
          </a:p>
        </p:txBody>
      </p:sp>
      <p:sp>
        <p:nvSpPr>
          <p:cNvPr id="7" name="Card 1"/>
          <p:cNvSpPr/>
          <p:nvPr/>
        </p:nvSpPr>
        <p:spPr>
          <a:xfrm>
            <a:off x="603504"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Logo 1"/>
          <p:cNvSpPr/>
          <p:nvPr/>
        </p:nvSpPr>
        <p:spPr>
          <a:xfrm>
            <a:off x="603504"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Microsoft</a:t>
            </a:r>
          </a:p>
        </p:txBody>
      </p:sp>
      <p:sp>
        <p:nvSpPr>
          <p:cNvPr id="9" name="Card 1 text"/>
          <p:cNvSpPr txBox="1"/>
          <p:nvPr/>
        </p:nvSpPr>
        <p:spPr>
          <a:xfrm>
            <a:off x="804672" y="1691640"/>
            <a:ext cx="3163824" cy="4160520"/>
          </a:xfrm>
          <a:prstGeom prst="rect">
            <a:avLst/>
          </a:prstGeom>
          <a:noFill/>
        </p:spPr>
        <p:txBody>
          <a:bodyPr wrap="square" lIns="0" rIns="0" tIns="0" bIns="0" anchor="t">
            <a:spAutoFit/>
          </a:bodyPr>
          <a:lstStyle/>
          <a:p>
            <a:pPr algn="l">
              <a:spcAft>
                <a:spcPts val="200"/>
              </a:spcAft>
            </a:pPr>
            <a:r>
              <a:rPr sz="1000" b="1" i="0">
                <a:solidFill>
                  <a:srgbClr val="E94E24"/>
                </a:solidFill>
                <a:latin typeface="Encode Sans Expanded"/>
              </a:rPr>
              <a:t>Title</a:t>
            </a:r>
          </a:p>
          <a:p>
            <a:pPr algn="l">
              <a:spcAft>
                <a:spcPts val="1200"/>
              </a:spcAft>
            </a:pPr>
            <a:r>
              <a:rPr sz="1200" b="1" i="0">
                <a:solidFill>
                  <a:srgbClr val="243782"/>
                </a:solidFill>
                <a:latin typeface="Encode Sans Expanded"/>
              </a:rPr>
              <a:t>Promise, proof, people, depth</a:t>
            </a:r>
          </a:p>
          <a:p>
            <a:pPr algn="l">
              <a:spcAft>
                <a:spcPts val="200"/>
              </a:spcAft>
            </a:pPr>
            <a:r>
              <a:rPr sz="1000" b="1" i="0">
                <a:solidFill>
                  <a:srgbClr val="E94E24"/>
                </a:solidFill>
                <a:latin typeface="Encode Sans Expanded"/>
              </a:rPr>
              <a:t>Why it works</a:t>
            </a:r>
          </a:p>
          <a:p>
            <a:pPr algn="l">
              <a:spcAft>
                <a:spcPts val="1200"/>
              </a:spcAft>
            </a:pPr>
            <a:r>
              <a:rPr sz="1100" b="0" i="0">
                <a:solidFill>
                  <a:srgbClr val="272B35"/>
                </a:solidFill>
                <a:latin typeface="Encode Sans ExpandedLight"/>
              </a:rPr>
              <a:t>Four 2030 commitments, each with one big proof number and its own sub-page, then the CSO's voice, stories and a reports hub. It owns the bad news in the first person: emissions up about 25% in 2025, solutions “not scaling fast enough”.</a:t>
            </a:r>
          </a:p>
          <a:p>
            <a:pPr algn="l">
              <a:spcAft>
                <a:spcPts val="200"/>
              </a:spcAft>
            </a:pPr>
            <a:r>
              <a:rPr sz="1000" b="1" i="0">
                <a:solidFill>
                  <a:srgbClr val="E94E24"/>
                </a:solidFill>
                <a:latin typeface="Encode Sans Expanded"/>
              </a:rPr>
              <a:t>Why it matters for Stellantis</a:t>
            </a:r>
          </a:p>
          <a:p>
            <a:pPr algn="l">
              <a:spcAft>
                <a:spcPts val="0"/>
              </a:spcAft>
            </a:pPr>
            <a:r>
              <a:rPr sz="1100" b="0" i="0">
                <a:solidFill>
                  <a:srgbClr val="272B35"/>
                </a:solidFill>
                <a:latin typeface="Encode Sans ExpandedLight"/>
              </a:rPr>
              <a:t>The model for the first two layers of the hub: 3-4 commitments, one number and one page each. And the register for 2050: name the setback before the press does.</a:t>
            </a:r>
          </a:p>
        </p:txBody>
      </p:sp>
      <p:sp>
        <p:nvSpPr>
          <p:cNvPr id="10" name="Hashtag 1"/>
          <p:cNvSpPr txBox="1"/>
          <p:nvPr/>
        </p:nvSpPr>
        <p:spPr>
          <a:xfrm>
            <a:off x="1700784" y="5943600"/>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#PromiseProofPeople</a:t>
            </a:r>
          </a:p>
        </p:txBody>
      </p:sp>
      <p:sp>
        <p:nvSpPr>
          <p:cNvPr id="11" name="Card 2"/>
          <p:cNvSpPr/>
          <p:nvPr/>
        </p:nvSpPr>
        <p:spPr>
          <a:xfrm>
            <a:off x="4325112"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Logo 2"/>
          <p:cNvSpPr/>
          <p:nvPr/>
        </p:nvSpPr>
        <p:spPr>
          <a:xfrm>
            <a:off x="4325112"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Schneider Electric</a:t>
            </a:r>
          </a:p>
        </p:txBody>
      </p:sp>
      <p:sp>
        <p:nvSpPr>
          <p:cNvPr id="13" name="Card 2 text"/>
          <p:cNvSpPr txBox="1"/>
          <p:nvPr/>
        </p:nvSpPr>
        <p:spPr>
          <a:xfrm>
            <a:off x="4526280" y="1691640"/>
            <a:ext cx="3163824" cy="4160520"/>
          </a:xfrm>
          <a:prstGeom prst="rect">
            <a:avLst/>
          </a:prstGeom>
          <a:noFill/>
        </p:spPr>
        <p:txBody>
          <a:bodyPr wrap="square" lIns="0" rIns="0" tIns="0" bIns="0" anchor="t">
            <a:spAutoFit/>
          </a:bodyPr>
          <a:lstStyle/>
          <a:p>
            <a:pPr algn="l">
              <a:spcAft>
                <a:spcPts val="200"/>
              </a:spcAft>
            </a:pPr>
            <a:r>
              <a:rPr sz="1000" b="1" i="0">
                <a:solidFill>
                  <a:srgbClr val="E94E24"/>
                </a:solidFill>
                <a:latin typeface="Encode Sans Expanded"/>
              </a:rPr>
              <a:t>Title</a:t>
            </a:r>
          </a:p>
          <a:p>
            <a:pPr algn="l">
              <a:spcAft>
                <a:spcPts val="1200"/>
              </a:spcAft>
            </a:pPr>
            <a:r>
              <a:rPr sz="1200" b="1" i="0">
                <a:solidFill>
                  <a:srgbClr val="243782"/>
                </a:solidFill>
                <a:latin typeface="Encode Sans Expanded"/>
              </a:rPr>
              <a:t>A score out of 10 that survives a change of plan</a:t>
            </a:r>
          </a:p>
          <a:p>
            <a:pPr algn="l">
              <a:spcAft>
                <a:spcPts val="200"/>
              </a:spcAft>
            </a:pPr>
            <a:r>
              <a:rPr sz="1000" b="1" i="0">
                <a:solidFill>
                  <a:srgbClr val="E94E24"/>
                </a:solidFill>
                <a:latin typeface="Encode Sans Expanded"/>
              </a:rPr>
              <a:t>Why it works</a:t>
            </a:r>
          </a:p>
          <a:p>
            <a:pPr algn="l">
              <a:spcAft>
                <a:spcPts val="1200"/>
              </a:spcAft>
            </a:pPr>
            <a:r>
              <a:rPr sz="1100" b="0" i="0">
                <a:solidFill>
                  <a:srgbClr val="272B35"/>
                </a:solidFill>
                <a:latin typeface="Encode Sans ExpandedLight"/>
              </a:rPr>
              <a:t>SSI 2021-25 closed at 8.86/10; Impact 2030 restarts the scale (3.69 at H1 2026 vs a 4.20 target). Published quarterly with results, with pillars written as business missions, one of them for human potential.</a:t>
            </a:r>
          </a:p>
          <a:p>
            <a:pPr algn="l">
              <a:spcAft>
                <a:spcPts val="200"/>
              </a:spcAft>
            </a:pPr>
            <a:r>
              <a:rPr sz="1000" b="1" i="0">
                <a:solidFill>
                  <a:srgbClr val="E94E24"/>
                </a:solidFill>
                <a:latin typeface="Encode Sans Expanded"/>
              </a:rPr>
              <a:t>Why it matters for Stellantis</a:t>
            </a:r>
          </a:p>
          <a:p>
            <a:pPr algn="l">
              <a:spcAft>
                <a:spcPts val="0"/>
              </a:spcAft>
            </a:pPr>
            <a:r>
              <a:rPr sz="1100" b="0" i="0">
                <a:solidFill>
                  <a:srgbClr val="272B35"/>
                </a:solidFill>
                <a:latin typeface="Encode Sans ExpandedLight"/>
              </a:rPr>
              <a:t>A “Stellantis Impact Score” that restarts with FaSTLAne turns the new plan into a chapter, not a retreat, and is reported with quarterly results.</a:t>
            </a:r>
          </a:p>
        </p:txBody>
      </p:sp>
      <p:sp>
        <p:nvSpPr>
          <p:cNvPr id="14" name="Hashtag 2"/>
          <p:cNvSpPr txBox="1"/>
          <p:nvPr/>
        </p:nvSpPr>
        <p:spPr>
          <a:xfrm>
            <a:off x="5422392" y="5943600"/>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#OneScore</a:t>
            </a:r>
          </a:p>
        </p:txBody>
      </p:sp>
      <p:sp>
        <p:nvSpPr>
          <p:cNvPr id="15" name="Card 3"/>
          <p:cNvSpPr/>
          <p:nvPr/>
        </p:nvSpPr>
        <p:spPr>
          <a:xfrm>
            <a:off x="8046720"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Logo 3"/>
          <p:cNvSpPr/>
          <p:nvPr/>
        </p:nvSpPr>
        <p:spPr>
          <a:xfrm>
            <a:off x="8046720"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Patagonia</a:t>
            </a:r>
          </a:p>
        </p:txBody>
      </p:sp>
      <p:sp>
        <p:nvSpPr>
          <p:cNvPr id="17" name="Card 3 text"/>
          <p:cNvSpPr txBox="1"/>
          <p:nvPr/>
        </p:nvSpPr>
        <p:spPr>
          <a:xfrm>
            <a:off x="8247888" y="1691640"/>
            <a:ext cx="3163824" cy="4160520"/>
          </a:xfrm>
          <a:prstGeom prst="rect">
            <a:avLst/>
          </a:prstGeom>
          <a:noFill/>
        </p:spPr>
        <p:txBody>
          <a:bodyPr wrap="square" lIns="0" rIns="0" tIns="0" bIns="0" anchor="t">
            <a:spAutoFit/>
          </a:bodyPr>
          <a:lstStyle/>
          <a:p>
            <a:pPr algn="l">
              <a:spcAft>
                <a:spcPts val="200"/>
              </a:spcAft>
            </a:pPr>
            <a:r>
              <a:rPr sz="1000" b="1" i="0">
                <a:solidFill>
                  <a:srgbClr val="E94E24"/>
                </a:solidFill>
                <a:latin typeface="Encode Sans Expanded"/>
              </a:rPr>
              <a:t>Title</a:t>
            </a:r>
          </a:p>
          <a:p>
            <a:pPr algn="l">
              <a:spcAft>
                <a:spcPts val="1200"/>
              </a:spcAft>
            </a:pPr>
            <a:r>
              <a:rPr sz="1200" b="1" i="0">
                <a:solidFill>
                  <a:srgbClr val="243782"/>
                </a:solidFill>
                <a:latin typeface="Encode Sans Expanded"/>
              </a:rPr>
              <a:t>“Work in Progress”: candour as a brand trait</a:t>
            </a:r>
          </a:p>
          <a:p>
            <a:pPr algn="l">
              <a:spcAft>
                <a:spcPts val="200"/>
              </a:spcAft>
            </a:pPr>
            <a:r>
              <a:rPr sz="1000" b="1" i="0">
                <a:solidFill>
                  <a:srgbClr val="E94E24"/>
                </a:solidFill>
                <a:latin typeface="Encode Sans Expanded"/>
              </a:rPr>
              <a:t>Why it works</a:t>
            </a:r>
          </a:p>
          <a:p>
            <a:pPr algn="l">
              <a:spcAft>
                <a:spcPts val="1200"/>
              </a:spcAft>
            </a:pPr>
            <a:r>
              <a:rPr sz="1100" b="0" i="0">
                <a:solidFill>
                  <a:srgbClr val="272B35"/>
                </a:solidFill>
                <a:latin typeface="Encode Sans ExpandedLight"/>
              </a:rPr>
              <a:t>A purpose, an act that proves it (“Earth is now our only shareholder”) and a first impact report with missed targets on the cover: footprint up 2%. Ranked first by GlobeScan/ERM experts in 2025.</a:t>
            </a:r>
          </a:p>
          <a:p>
            <a:pPr algn="l">
              <a:spcAft>
                <a:spcPts val="200"/>
              </a:spcAft>
            </a:pPr>
            <a:r>
              <a:rPr sz="1000" b="1" i="0">
                <a:solidFill>
                  <a:srgbClr val="E94E24"/>
                </a:solidFill>
                <a:latin typeface="Encode Sans Expanded"/>
              </a:rPr>
              <a:t>Why it matters for Stellantis</a:t>
            </a:r>
          </a:p>
          <a:p>
            <a:pPr algn="l">
              <a:spcAft>
                <a:spcPts val="0"/>
              </a:spcAft>
            </a:pPr>
            <a:r>
              <a:rPr sz="1100" b="0" i="0">
                <a:solidFill>
                  <a:srgbClr val="272B35"/>
                </a:solidFill>
                <a:latin typeface="Encode Sans ExpandedLight"/>
              </a:rPr>
              <a:t>One lesson only: name the step back, explain why, reaffirm the path. The opposite of Unilever's quiet 2024 target cuts. The tone itself is not transferable.</a:t>
            </a:r>
          </a:p>
        </p:txBody>
      </p:sp>
      <p:sp>
        <p:nvSpPr>
          <p:cNvPr id="18" name="Hashtag 3"/>
          <p:cNvSpPr txBox="1"/>
          <p:nvPr/>
        </p:nvSpPr>
        <p:spPr>
          <a:xfrm>
            <a:off x="9144000" y="5943600"/>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#RadicalCandour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Benchmark overview</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1024128"/>
            <a:ext cx="10972800" cy="548640"/>
          </a:xfrm>
          <a:prstGeom prst="rect">
            <a:avLst/>
          </a:prstGeom>
          <a:noFill/>
        </p:spPr>
        <p:txBody>
          <a:bodyPr wrap="square" lIns="0" rIns="0" tIns="0" bIns="0" anchor="t">
            <a:spAutoFit/>
          </a:bodyPr>
          <a:lstStyle/>
          <a:p>
            <a:pPr algn="l">
              <a:spcAft>
                <a:spcPts val="0"/>
              </a:spcAft>
            </a:pPr>
            <a:r>
              <a:rPr sz="2200" b="1" i="0">
                <a:solidFill>
                  <a:srgbClr val="243782"/>
                </a:solidFill>
                <a:latin typeface="Encode Sans Expanded"/>
              </a:rPr>
              <a:t>Depth beats slogans; impact areas beat dates</a:t>
            </a:r>
          </a:p>
        </p:txBody>
      </p:sp>
      <p:graphicFrame>
        <p:nvGraphicFramePr>
          <p:cNvPr id="7" name="Table 6"/>
          <p:cNvGraphicFramePr>
            <a:graphicFrameLocks noGrp="1"/>
          </p:cNvGraphicFramePr>
          <p:nvPr/>
        </p:nvGraphicFramePr>
        <p:xfrm>
          <a:off x="612648" y="1691640"/>
          <a:ext cx="10972800" cy="3840480"/>
        </p:xfrm>
        <a:graphic>
          <a:graphicData uri="http://schemas.openxmlformats.org/drawingml/2006/table">
            <a:tbl>
              <a:tblPr firstRow="1" bandRow="1">
                <a:tableStyleId>{5C22544A-7EE6-4342-B048-85BDC9FD1C3A}</a:tableStyleId>
              </a:tblPr>
              <a:tblGrid>
                <a:gridCol w="1828800"/>
                <a:gridCol w="3291840"/>
                <a:gridCol w="1280160"/>
                <a:gridCol w="2651760"/>
                <a:gridCol w="1920240"/>
              </a:tblGrid>
              <a:tr h="384048">
                <a:tc>
                  <a:txBody>
                    <a:bodyPr/>
                    <a:lstStyle/>
                    <a:p>
                      <a:r>
                        <a:rPr sz="1100" b="1" i="0">
                          <a:solidFill>
                            <a:srgbClr val="FFFFFF"/>
                          </a:solidFill>
                          <a:latin typeface="Encode Sans Expanded"/>
                        </a:rPr>
                        <a:t>Case</a:t>
                      </a:r>
                    </a:p>
                  </a:txBody>
                  <a:tcPr marL="91440" marR="91440" anchor="ctr">
                    <a:solidFill>
                      <a:srgbClr val="243782"/>
                    </a:solidFill>
                  </a:tcPr>
                </a:tc>
                <a:tc>
                  <a:txBody>
                    <a:bodyPr/>
                    <a:lstStyle/>
                    <a:p>
                      <a:r>
                        <a:rPr sz="1100" b="1" i="0">
                          <a:solidFill>
                            <a:srgbClr val="FFFFFF"/>
                          </a:solidFill>
                          <a:latin typeface="Encode Sans Expanded"/>
                        </a:rPr>
                        <a:t>Organising idea</a:t>
                      </a:r>
                    </a:p>
                  </a:txBody>
                  <a:tcPr marL="91440" marR="91440" anchor="ctr">
                    <a:solidFill>
                      <a:srgbClr val="243782"/>
                    </a:solidFill>
                  </a:tcPr>
                </a:tc>
                <a:tc>
                  <a:txBody>
                    <a:bodyPr/>
                    <a:lstStyle/>
                    <a:p>
                      <a:r>
                        <a:rPr sz="1100" b="1" i="0">
                          <a:solidFill>
                            <a:srgbClr val="FFFFFF"/>
                          </a:solidFill>
                          <a:latin typeface="Encode Sans Expanded"/>
                        </a:rPr>
                        <a:t>Years</a:t>
                      </a:r>
                    </a:p>
                  </a:txBody>
                  <a:tcPr marL="91440" marR="91440" anchor="ctr">
                    <a:solidFill>
                      <a:srgbClr val="243782"/>
                    </a:solidFill>
                  </a:tcPr>
                </a:tc>
                <a:tc>
                  <a:txBody>
                    <a:bodyPr/>
                    <a:lstStyle/>
                    <a:p>
                      <a:r>
                        <a:rPr sz="1100" b="1" i="0">
                          <a:solidFill>
                            <a:srgbClr val="FFFFFF"/>
                          </a:solidFill>
                          <a:latin typeface="Encode Sans Expanded"/>
                        </a:rPr>
                        <a:t>Link to business</a:t>
                      </a:r>
                    </a:p>
                  </a:txBody>
                  <a:tcPr marL="91440" marR="91440" anchor="ctr">
                    <a:solidFill>
                      <a:srgbClr val="243782"/>
                    </a:solidFill>
                  </a:tcPr>
                </a:tc>
                <a:tc>
                  <a:txBody>
                    <a:bodyPr/>
                    <a:lstStyle/>
                    <a:p>
                      <a:r>
                        <a:rPr sz="1100" b="1" i="0">
                          <a:solidFill>
                            <a:srgbClr val="FFFFFF"/>
                          </a:solidFill>
                          <a:latin typeface="Encode Sans Expanded"/>
                        </a:rPr>
                        <a:t>Verdict</a:t>
                      </a:r>
                    </a:p>
                  </a:txBody>
                  <a:tcPr marL="91440" marR="91440" anchor="ctr">
                    <a:solidFill>
                      <a:srgbClr val="243782"/>
                    </a:solidFill>
                  </a:tcPr>
                </a:tc>
              </a:tr>
              <a:tr h="384048">
                <a:tc>
                  <a:txBody>
                    <a:bodyPr/>
                    <a:lstStyle/>
                    <a:p>
                      <a:r>
                        <a:rPr sz="1100" b="1" i="0">
                          <a:solidFill>
                            <a:srgbClr val="243782"/>
                          </a:solidFill>
                          <a:latin typeface="Encode Sans Expanded"/>
                        </a:rPr>
                        <a:t>Volkswagen</a:t>
                      </a:r>
                    </a:p>
                  </a:txBody>
                  <a:tcPr marL="91440" marR="91440" anchor="ctr">
                    <a:solidFill>
                      <a:srgbClr val="FFFFFF"/>
                    </a:solidFill>
                  </a:tcPr>
                </a:tc>
                <a:tc>
                  <a:txBody>
                    <a:bodyPr/>
                    <a:lstStyle/>
                    <a:p>
                      <a:r>
                        <a:rPr sz="1100" b="0" i="0">
                          <a:solidFill>
                            <a:srgbClr val="272B35"/>
                          </a:solidFill>
                          <a:latin typeface="Encode Sans ExpandedLight"/>
                        </a:rPr>
                        <a:t>regenerate+, 4 dimensions × 3 Top-KPIs</a:t>
                      </a:r>
                    </a:p>
                  </a:txBody>
                  <a:tcPr marL="91440" marR="91440" anchor="ctr">
                    <a:solidFill>
                      <a:srgbClr val="FFFFFF"/>
                    </a:solidFill>
                  </a:tcPr>
                </a:tc>
                <a:tc>
                  <a:txBody>
                    <a:bodyPr/>
                    <a:lstStyle/>
                    <a:p>
                      <a:r>
                        <a:rPr sz="1100" b="0" i="0">
                          <a:solidFill>
                            <a:srgbClr val="272B35"/>
                          </a:solidFill>
                          <a:latin typeface="Encode Sans ExpandedLight"/>
                        </a:rPr>
                        <a:t>~2</a:t>
                      </a:r>
                    </a:p>
                  </a:txBody>
                  <a:tcPr marL="91440" marR="91440" anchor="ctr">
                    <a:solidFill>
                      <a:srgbClr val="FFFFFF"/>
                    </a:solidFill>
                  </a:tcPr>
                </a:tc>
                <a:tc>
                  <a:txBody>
                    <a:bodyPr/>
                    <a:lstStyle/>
                    <a:p>
                      <a:r>
                        <a:rPr sz="1100" b="0" i="0">
                          <a:solidFill>
                            <a:srgbClr val="272B35"/>
                          </a:solidFill>
                          <a:latin typeface="Encode Sans ExpandedLight"/>
                        </a:rPr>
                        <a:t>Index in Board pay</a:t>
                      </a:r>
                    </a:p>
                  </a:txBody>
                  <a:tcPr marL="91440" marR="91440" anchor="ctr">
                    <a:solidFill>
                      <a:srgbClr val="FFFFFF"/>
                    </a:solidFill>
                  </a:tcPr>
                </a:tc>
                <a:tc>
                  <a:txBody>
                    <a:bodyPr/>
                    <a:lstStyle/>
                    <a:p>
                      <a:r>
                        <a:rPr sz="1100" b="0" i="0">
                          <a:solidFill>
                            <a:srgbClr val="272B35"/>
                          </a:solidFill>
                          <a:latin typeface="Encode Sans ExpandedLight"/>
                        </a:rPr>
                        <a:t>Top: architecture</a:t>
                      </a:r>
                    </a:p>
                  </a:txBody>
                  <a:tcPr marL="91440" marR="91440" anchor="ctr">
                    <a:solidFill>
                      <a:srgbClr val="FFFFFF"/>
                    </a:solidFill>
                  </a:tcPr>
                </a:tc>
              </a:tr>
              <a:tr h="384048">
                <a:tc>
                  <a:txBody>
                    <a:bodyPr/>
                    <a:lstStyle/>
                    <a:p>
                      <a:r>
                        <a:rPr sz="1100" b="1" i="0">
                          <a:solidFill>
                            <a:srgbClr val="243782"/>
                          </a:solidFill>
                          <a:latin typeface="Encode Sans Expanded"/>
                        </a:rPr>
                        <a:t>Mercedes-Benz</a:t>
                      </a:r>
                    </a:p>
                  </a:txBody>
                  <a:tcPr marL="91440" marR="91440" anchor="ctr">
                    <a:solidFill>
                      <a:srgbClr val="EEF0FA"/>
                    </a:solidFill>
                  </a:tcPr>
                </a:tc>
                <a:tc>
                  <a:txBody>
                    <a:bodyPr/>
                    <a:lstStyle/>
                    <a:p>
                      <a:r>
                        <a:rPr sz="1100" b="0" i="0">
                          <a:solidFill>
                            <a:srgbClr val="272B35"/>
                          </a:solidFill>
                          <a:latin typeface="Encode Sans ExpandedLight"/>
                        </a:rPr>
                        <a:t>6 areas + Ambition 2039</a:t>
                      </a:r>
                    </a:p>
                  </a:txBody>
                  <a:tcPr marL="91440" marR="91440" anchor="ctr">
                    <a:solidFill>
                      <a:srgbClr val="EEF0FA"/>
                    </a:solidFill>
                  </a:tcPr>
                </a:tc>
                <a:tc>
                  <a:txBody>
                    <a:bodyPr/>
                    <a:lstStyle/>
                    <a:p>
                      <a:r>
                        <a:rPr sz="1100" b="0" i="0">
                          <a:solidFill>
                            <a:srgbClr val="272B35"/>
                          </a:solidFill>
                          <a:latin typeface="Encode Sans ExpandedLight"/>
                        </a:rPr>
                        <a:t>7</a:t>
                      </a:r>
                    </a:p>
                  </a:txBody>
                  <a:tcPr marL="91440" marR="91440" anchor="ctr">
                    <a:solidFill>
                      <a:srgbClr val="EEF0FA"/>
                    </a:solidFill>
                  </a:tcPr>
                </a:tc>
                <a:tc>
                  <a:txBody>
                    <a:bodyPr/>
                    <a:lstStyle/>
                    <a:p>
                      <a:r>
                        <a:rPr sz="1100" b="0" i="0">
                          <a:solidFill>
                            <a:srgbClr val="272B35"/>
                          </a:solidFill>
                          <a:latin typeface="Encode Sans ExpandedLight"/>
                        </a:rPr>
                        <a:t>Investor ESG event</a:t>
                      </a:r>
                    </a:p>
                  </a:txBody>
                  <a:tcPr marL="91440" marR="91440" anchor="ctr">
                    <a:solidFill>
                      <a:srgbClr val="EEF0FA"/>
                    </a:solidFill>
                  </a:tcPr>
                </a:tc>
                <a:tc>
                  <a:txBody>
                    <a:bodyPr/>
                    <a:lstStyle/>
                    <a:p>
                      <a:r>
                        <a:rPr sz="1100" b="0" i="0">
                          <a:solidFill>
                            <a:srgbClr val="272B35"/>
                          </a:solidFill>
                          <a:latin typeface="Encode Sans ExpandedLight"/>
                        </a:rPr>
                        <a:t>Top: depth</a:t>
                      </a:r>
                    </a:p>
                  </a:txBody>
                  <a:tcPr marL="91440" marR="91440" anchor="ctr">
                    <a:solidFill>
                      <a:srgbClr val="EEF0FA"/>
                    </a:solidFill>
                  </a:tcPr>
                </a:tc>
              </a:tr>
              <a:tr h="384048">
                <a:tc>
                  <a:txBody>
                    <a:bodyPr/>
                    <a:lstStyle/>
                    <a:p>
                      <a:r>
                        <a:rPr sz="1100" b="1" i="0">
                          <a:solidFill>
                            <a:srgbClr val="243782"/>
                          </a:solidFill>
                          <a:latin typeface="Encode Sans Expanded"/>
                        </a:rPr>
                        <a:t>Toyota</a:t>
                      </a:r>
                    </a:p>
                  </a:txBody>
                  <a:tcPr marL="91440" marR="91440" anchor="ctr">
                    <a:solidFill>
                      <a:srgbClr val="FFFFFF"/>
                    </a:solidFill>
                  </a:tcPr>
                </a:tc>
                <a:tc>
                  <a:txBody>
                    <a:bodyPr/>
                    <a:lstStyle/>
                    <a:p>
                      <a:r>
                        <a:rPr sz="1100" b="0" i="0">
                          <a:solidFill>
                            <a:srgbClr val="272B35"/>
                          </a:solidFill>
                          <a:latin typeface="Encode Sans ExpandedLight"/>
                        </a:rPr>
                        <a:t>Challenge 2050, 6 challenges</a:t>
                      </a:r>
                    </a:p>
                  </a:txBody>
                  <a:tcPr marL="91440" marR="91440" anchor="ctr">
                    <a:solidFill>
                      <a:srgbClr val="FFFFFF"/>
                    </a:solidFill>
                  </a:tcPr>
                </a:tc>
                <a:tc>
                  <a:txBody>
                    <a:bodyPr/>
                    <a:lstStyle/>
                    <a:p>
                      <a:r>
                        <a:rPr sz="1100" b="0" i="0">
                          <a:solidFill>
                            <a:srgbClr val="272B35"/>
                          </a:solidFill>
                          <a:latin typeface="Encode Sans ExpandedLight"/>
                        </a:rPr>
                        <a:t>11</a:t>
                      </a:r>
                    </a:p>
                  </a:txBody>
                  <a:tcPr marL="91440" marR="91440" anchor="ctr">
                    <a:solidFill>
                      <a:srgbClr val="FFFFFF"/>
                    </a:solidFill>
                  </a:tcPr>
                </a:tc>
                <a:tc>
                  <a:txBody>
                    <a:bodyPr/>
                    <a:lstStyle/>
                    <a:p>
                      <a:r>
                        <a:rPr sz="1100" b="0" i="0">
                          <a:solidFill>
                            <a:srgbClr val="272B35"/>
                          </a:solidFill>
                          <a:latin typeface="Encode Sans ExpandedLight"/>
                        </a:rPr>
                        <a:t>Multi-pathway Beyond Zero</a:t>
                      </a:r>
                    </a:p>
                  </a:txBody>
                  <a:tcPr marL="91440" marR="91440" anchor="ctr">
                    <a:solidFill>
                      <a:srgbClr val="FFFFFF"/>
                    </a:solidFill>
                  </a:tcPr>
                </a:tc>
                <a:tc>
                  <a:txBody>
                    <a:bodyPr/>
                    <a:lstStyle/>
                    <a:p>
                      <a:r>
                        <a:rPr sz="1100" b="0" i="0">
                          <a:solidFill>
                            <a:srgbClr val="272B35"/>
                          </a:solidFill>
                          <a:latin typeface="Encode Sans ExpandedLight"/>
                        </a:rPr>
                        <a:t>Top: longevity</a:t>
                      </a:r>
                    </a:p>
                  </a:txBody>
                  <a:tcPr marL="91440" marR="91440" anchor="ctr">
                    <a:solidFill>
                      <a:srgbClr val="FFFFFF"/>
                    </a:solidFill>
                  </a:tcPr>
                </a:tc>
              </a:tr>
              <a:tr h="384048">
                <a:tc>
                  <a:txBody>
                    <a:bodyPr/>
                    <a:lstStyle/>
                    <a:p>
                      <a:r>
                        <a:rPr sz="1100" b="1" i="0">
                          <a:solidFill>
                            <a:srgbClr val="243782"/>
                          </a:solidFill>
                          <a:latin typeface="Encode Sans Expanded"/>
                        </a:rPr>
                        <a:t>Renault</a:t>
                      </a:r>
                    </a:p>
                  </a:txBody>
                  <a:tcPr marL="91440" marR="91440" anchor="ctr">
                    <a:solidFill>
                      <a:srgbClr val="EEF0FA"/>
                    </a:solidFill>
                  </a:tcPr>
                </a:tc>
                <a:tc>
                  <a:txBody>
                    <a:bodyPr/>
                    <a:lstStyle/>
                    <a:p>
                      <a:r>
                        <a:rPr sz="1100" b="0" i="0">
                          <a:solidFill>
                            <a:srgbClr val="272B35"/>
                          </a:solidFill>
                          <a:latin typeface="Encode Sans ExpandedLight"/>
                        </a:rPr>
                        <a:t>The Future is NEUTRAL</a:t>
                      </a:r>
                    </a:p>
                  </a:txBody>
                  <a:tcPr marL="91440" marR="91440" anchor="ctr">
                    <a:solidFill>
                      <a:srgbClr val="EEF0FA"/>
                    </a:solidFill>
                  </a:tcPr>
                </a:tc>
                <a:tc>
                  <a:txBody>
                    <a:bodyPr/>
                    <a:lstStyle/>
                    <a:p>
                      <a:r>
                        <a:rPr sz="1100" b="0" i="0">
                          <a:solidFill>
                            <a:srgbClr val="272B35"/>
                          </a:solidFill>
                          <a:latin typeface="Encode Sans ExpandedLight"/>
                        </a:rPr>
                        <a:t>4</a:t>
                      </a:r>
                    </a:p>
                  </a:txBody>
                  <a:tcPr marL="91440" marR="91440" anchor="ctr">
                    <a:solidFill>
                      <a:srgbClr val="EEF0FA"/>
                    </a:solidFill>
                  </a:tcPr>
                </a:tc>
                <a:tc>
                  <a:txBody>
                    <a:bodyPr/>
                    <a:lstStyle/>
                    <a:p>
                      <a:r>
                        <a:rPr sz="1100" b="0" i="0">
                          <a:solidFill>
                            <a:srgbClr val="272B35"/>
                          </a:solidFill>
                          <a:latin typeface="Encode Sans ExpandedLight"/>
                        </a:rPr>
                        <a:t>€2.3bn revenue, &gt;10% margin</a:t>
                      </a:r>
                    </a:p>
                  </a:txBody>
                  <a:tcPr marL="91440" marR="91440" anchor="ctr">
                    <a:solidFill>
                      <a:srgbClr val="EEF0FA"/>
                    </a:solidFill>
                  </a:tcPr>
                </a:tc>
                <a:tc>
                  <a:txBody>
                    <a:bodyPr/>
                    <a:lstStyle/>
                    <a:p>
                      <a:r>
                        <a:rPr sz="1100" b="0" i="0">
                          <a:solidFill>
                            <a:srgbClr val="272B35"/>
                          </a:solidFill>
                          <a:latin typeface="Encode Sans ExpandedLight"/>
                        </a:rPr>
                        <a:t>Top: business link</a:t>
                      </a:r>
                    </a:p>
                  </a:txBody>
                  <a:tcPr marL="91440" marR="91440" anchor="ctr">
                    <a:solidFill>
                      <a:srgbClr val="EEF0FA"/>
                    </a:solidFill>
                  </a:tcPr>
                </a:tc>
              </a:tr>
              <a:tr h="384048">
                <a:tc>
                  <a:txBody>
                    <a:bodyPr/>
                    <a:lstStyle/>
                    <a:p>
                      <a:r>
                        <a:rPr sz="1100" b="1" i="0">
                          <a:solidFill>
                            <a:srgbClr val="243782"/>
                          </a:solidFill>
                          <a:latin typeface="Encode Sans Expanded"/>
                        </a:rPr>
                        <a:t>Microsoft</a:t>
                      </a:r>
                    </a:p>
                  </a:txBody>
                  <a:tcPr marL="91440" marR="91440" anchor="ctr">
                    <a:solidFill>
                      <a:srgbClr val="FFFFFF"/>
                    </a:solidFill>
                  </a:tcPr>
                </a:tc>
                <a:tc>
                  <a:txBody>
                    <a:bodyPr/>
                    <a:lstStyle/>
                    <a:p>
                      <a:r>
                        <a:rPr sz="1100" b="0" i="0">
                          <a:solidFill>
                            <a:srgbClr val="272B35"/>
                          </a:solidFill>
                          <a:latin typeface="Encode Sans ExpandedLight"/>
                        </a:rPr>
                        <a:t>Four 2030 commitments</a:t>
                      </a:r>
                    </a:p>
                  </a:txBody>
                  <a:tcPr marL="91440" marR="91440" anchor="ctr">
                    <a:solidFill>
                      <a:srgbClr val="FFFFFF"/>
                    </a:solidFill>
                  </a:tcPr>
                </a:tc>
                <a:tc>
                  <a:txBody>
                    <a:bodyPr/>
                    <a:lstStyle/>
                    <a:p>
                      <a:r>
                        <a:rPr sz="1100" b="0" i="0">
                          <a:solidFill>
                            <a:srgbClr val="272B35"/>
                          </a:solidFill>
                          <a:latin typeface="Encode Sans ExpandedLight"/>
                        </a:rPr>
                        <a:t>Several</a:t>
                      </a:r>
                    </a:p>
                  </a:txBody>
                  <a:tcPr marL="91440" marR="91440" anchor="ctr">
                    <a:solidFill>
                      <a:srgbClr val="FFFFFF"/>
                    </a:solidFill>
                  </a:tcPr>
                </a:tc>
                <a:tc>
                  <a:txBody>
                    <a:bodyPr/>
                    <a:lstStyle/>
                    <a:p>
                      <a:r>
                        <a:rPr sz="1100" b="0" i="0">
                          <a:solidFill>
                            <a:srgbClr val="272B35"/>
                          </a:solidFill>
                          <a:latin typeface="Encode Sans ExpandedLight"/>
                        </a:rPr>
                        <a:t>AI and cloud, $1bn fund</a:t>
                      </a:r>
                    </a:p>
                  </a:txBody>
                  <a:tcPr marL="91440" marR="91440" anchor="ctr">
                    <a:solidFill>
                      <a:srgbClr val="FFFFFF"/>
                    </a:solidFill>
                  </a:tcPr>
                </a:tc>
                <a:tc>
                  <a:txBody>
                    <a:bodyPr/>
                    <a:lstStyle/>
                    <a:p>
                      <a:r>
                        <a:rPr sz="1100" b="0" i="0">
                          <a:solidFill>
                            <a:srgbClr val="272B35"/>
                          </a:solidFill>
                          <a:latin typeface="Encode Sans ExpandedLight"/>
                        </a:rPr>
                        <a:t>Top: architecture</a:t>
                      </a:r>
                    </a:p>
                  </a:txBody>
                  <a:tcPr marL="91440" marR="91440" anchor="ctr">
                    <a:solidFill>
                      <a:srgbClr val="FFFFFF"/>
                    </a:solidFill>
                  </a:tcPr>
                </a:tc>
              </a:tr>
              <a:tr h="384048">
                <a:tc>
                  <a:txBody>
                    <a:bodyPr/>
                    <a:lstStyle/>
                    <a:p>
                      <a:r>
                        <a:rPr sz="1100" b="1" i="0">
                          <a:solidFill>
                            <a:srgbClr val="243782"/>
                          </a:solidFill>
                          <a:latin typeface="Encode Sans Expanded"/>
                        </a:rPr>
                        <a:t>Schneider Electric</a:t>
                      </a:r>
                    </a:p>
                  </a:txBody>
                  <a:tcPr marL="91440" marR="91440" anchor="ctr">
                    <a:solidFill>
                      <a:srgbClr val="EEF0FA"/>
                    </a:solidFill>
                  </a:tcPr>
                </a:tc>
                <a:tc>
                  <a:txBody>
                    <a:bodyPr/>
                    <a:lstStyle/>
                    <a:p>
                      <a:r>
                        <a:rPr sz="1100" b="0" i="0">
                          <a:solidFill>
                            <a:srgbClr val="272B35"/>
                          </a:solidFill>
                          <a:latin typeface="Encode Sans ExpandedLight"/>
                        </a:rPr>
                        <a:t>Impact score out of 10</a:t>
                      </a:r>
                    </a:p>
                  </a:txBody>
                  <a:tcPr marL="91440" marR="91440" anchor="ctr">
                    <a:solidFill>
                      <a:srgbClr val="EEF0FA"/>
                    </a:solidFill>
                  </a:tcPr>
                </a:tc>
                <a:tc>
                  <a:txBody>
                    <a:bodyPr/>
                    <a:lstStyle/>
                    <a:p>
                      <a:r>
                        <a:rPr sz="1100" b="0" i="0">
                          <a:solidFill>
                            <a:srgbClr val="272B35"/>
                          </a:solidFill>
                          <a:latin typeface="Encode Sans ExpandedLight"/>
                        </a:rPr>
                        <a:t>Several cycles</a:t>
                      </a:r>
                    </a:p>
                  </a:txBody>
                  <a:tcPr marL="91440" marR="91440" anchor="ctr">
                    <a:solidFill>
                      <a:srgbClr val="EEF0FA"/>
                    </a:solidFill>
                  </a:tcPr>
                </a:tc>
                <a:tc>
                  <a:txBody>
                    <a:bodyPr/>
                    <a:lstStyle/>
                    <a:p>
                      <a:r>
                        <a:rPr sz="1100" b="0" i="0">
                          <a:solidFill>
                            <a:srgbClr val="272B35"/>
                          </a:solidFill>
                          <a:latin typeface="Encode Sans ExpandedLight"/>
                        </a:rPr>
                        <a:t>Quarterly, with results</a:t>
                      </a:r>
                    </a:p>
                  </a:txBody>
                  <a:tcPr marL="91440" marR="91440" anchor="ctr">
                    <a:solidFill>
                      <a:srgbClr val="EEF0FA"/>
                    </a:solidFill>
                  </a:tcPr>
                </a:tc>
                <a:tc>
                  <a:txBody>
                    <a:bodyPr/>
                    <a:lstStyle/>
                    <a:p>
                      <a:r>
                        <a:rPr sz="1100" b="0" i="0">
                          <a:solidFill>
                            <a:srgbClr val="272B35"/>
                          </a:solidFill>
                          <a:latin typeface="Encode Sans ExpandedLight"/>
                        </a:rPr>
                        <a:t>Top: across plans</a:t>
                      </a:r>
                    </a:p>
                  </a:txBody>
                  <a:tcPr marL="91440" marR="91440" anchor="ctr">
                    <a:solidFill>
                      <a:srgbClr val="EEF0FA"/>
                    </a:solidFill>
                  </a:tcPr>
                </a:tc>
              </a:tr>
              <a:tr h="384048">
                <a:tc>
                  <a:txBody>
                    <a:bodyPr/>
                    <a:lstStyle/>
                    <a:p>
                      <a:r>
                        <a:rPr sz="1100" b="1" i="0">
                          <a:solidFill>
                            <a:srgbClr val="243782"/>
                          </a:solidFill>
                          <a:latin typeface="Encode Sans Expanded"/>
                        </a:rPr>
                        <a:t>Patagonia</a:t>
                      </a:r>
                    </a:p>
                  </a:txBody>
                  <a:tcPr marL="91440" marR="91440" anchor="ctr">
                    <a:solidFill>
                      <a:srgbClr val="FFFFFF"/>
                    </a:solidFill>
                  </a:tcPr>
                </a:tc>
                <a:tc>
                  <a:txBody>
                    <a:bodyPr/>
                    <a:lstStyle/>
                    <a:p>
                      <a:r>
                        <a:rPr sz="1100" b="0" i="0">
                          <a:solidFill>
                            <a:srgbClr val="272B35"/>
                          </a:solidFill>
                          <a:latin typeface="Encode Sans ExpandedLight"/>
                        </a:rPr>
                        <a:t>Purpose + “Work in Progress”</a:t>
                      </a:r>
                    </a:p>
                  </a:txBody>
                  <a:tcPr marL="91440" marR="91440" anchor="ctr">
                    <a:solidFill>
                      <a:srgbClr val="FFFFFF"/>
                    </a:solidFill>
                  </a:tcPr>
                </a:tc>
                <a:tc>
                  <a:txBody>
                    <a:bodyPr/>
                    <a:lstStyle/>
                    <a:p>
                      <a:r>
                        <a:rPr sz="1100" b="0" i="0">
                          <a:solidFill>
                            <a:srgbClr val="272B35"/>
                          </a:solidFill>
                          <a:latin typeface="Encode Sans ExpandedLight"/>
                        </a:rPr>
                        <a:t>Since 2022</a:t>
                      </a:r>
                    </a:p>
                  </a:txBody>
                  <a:tcPr marL="91440" marR="91440" anchor="ctr">
                    <a:solidFill>
                      <a:srgbClr val="FFFFFF"/>
                    </a:solidFill>
                  </a:tcPr>
                </a:tc>
                <a:tc>
                  <a:txBody>
                    <a:bodyPr/>
                    <a:lstStyle/>
                    <a:p>
                      <a:r>
                        <a:rPr sz="1100" b="0" i="0">
                          <a:solidFill>
                            <a:srgbClr val="272B35"/>
                          </a:solidFill>
                          <a:latin typeface="Encode Sans ExpandedLight"/>
                        </a:rPr>
                        <a:t>The company is the act</a:t>
                      </a:r>
                    </a:p>
                  </a:txBody>
                  <a:tcPr marL="91440" marR="91440" anchor="ctr">
                    <a:solidFill>
                      <a:srgbClr val="FFFFFF"/>
                    </a:solidFill>
                  </a:tcPr>
                </a:tc>
                <a:tc>
                  <a:txBody>
                    <a:bodyPr/>
                    <a:lstStyle/>
                    <a:p>
                      <a:r>
                        <a:rPr sz="1100" b="0" i="0">
                          <a:solidFill>
                            <a:srgbClr val="272B35"/>
                          </a:solidFill>
                          <a:latin typeface="Encode Sans ExpandedLight"/>
                        </a:rPr>
                        <a:t>Top: credibility</a:t>
                      </a:r>
                    </a:p>
                  </a:txBody>
                  <a:tcPr marL="91440" marR="91440" anchor="ctr">
                    <a:solidFill>
                      <a:srgbClr val="FFFFFF"/>
                    </a:solidFill>
                  </a:tcPr>
                </a:tc>
              </a:tr>
              <a:tr h="384048">
                <a:tc>
                  <a:txBody>
                    <a:bodyPr/>
                    <a:lstStyle/>
                    <a:p>
                      <a:r>
                        <a:rPr sz="1100" b="1" i="0">
                          <a:solidFill>
                            <a:srgbClr val="243782"/>
                          </a:solidFill>
                          <a:latin typeface="Encode Sans Expanded"/>
                        </a:rPr>
                        <a:t>BYD</a:t>
                      </a:r>
                    </a:p>
                  </a:txBody>
                  <a:tcPr marL="91440" marR="91440" anchor="ctr">
                    <a:solidFill>
                      <a:srgbClr val="EEF0FA"/>
                    </a:solidFill>
                  </a:tcPr>
                </a:tc>
                <a:tc>
                  <a:txBody>
                    <a:bodyPr/>
                    <a:lstStyle/>
                    <a:p>
                      <a:r>
                        <a:rPr sz="1100" b="0" i="0">
                          <a:solidFill>
                            <a:srgbClr val="272B35"/>
                          </a:solidFill>
                          <a:latin typeface="Encode Sans ExpandedLight"/>
                        </a:rPr>
                        <a:t>“Cool the Earth by 1°C”</a:t>
                      </a:r>
                    </a:p>
                  </a:txBody>
                  <a:tcPr marL="91440" marR="91440" anchor="ctr">
                    <a:solidFill>
                      <a:srgbClr val="EEF0FA"/>
                    </a:solidFill>
                  </a:tcPr>
                </a:tc>
                <a:tc>
                  <a:txBody>
                    <a:bodyPr/>
                    <a:lstStyle/>
                    <a:p>
                      <a:r>
                        <a:rPr sz="1100" b="0" i="0">
                          <a:solidFill>
                            <a:srgbClr val="272B35"/>
                          </a:solidFill>
                          <a:latin typeface="Encode Sans ExpandedLight"/>
                        </a:rPr>
                        <a:t>~2017</a:t>
                      </a:r>
                    </a:p>
                  </a:txBody>
                  <a:tcPr marL="91440" marR="91440" anchor="ctr">
                    <a:solidFill>
                      <a:srgbClr val="EEF0FA"/>
                    </a:solidFill>
                  </a:tcPr>
                </a:tc>
                <a:tc>
                  <a:txBody>
                    <a:bodyPr/>
                    <a:lstStyle/>
                    <a:p>
                      <a:r>
                        <a:rPr sz="1100" b="0" i="0">
                          <a:solidFill>
                            <a:srgbClr val="272B35"/>
                          </a:solidFill>
                          <a:latin typeface="Encode Sans ExpandedLight"/>
                        </a:rPr>
                        <a:t>EV product</a:t>
                      </a:r>
                    </a:p>
                  </a:txBody>
                  <a:tcPr marL="91440" marR="91440" anchor="ctr">
                    <a:solidFill>
                      <a:srgbClr val="EEF0FA"/>
                    </a:solidFill>
                  </a:tcPr>
                </a:tc>
                <a:tc>
                  <a:txBody>
                    <a:bodyPr/>
                    <a:lstStyle/>
                    <a:p>
                      <a:r>
                        <a:rPr sz="1100" b="0" i="0">
                          <a:solidFill>
                            <a:srgbClr val="272B35"/>
                          </a:solidFill>
                          <a:latin typeface="Encode Sans ExpandedLight"/>
                        </a:rPr>
                        <a:t>Solid: memorable</a:t>
                      </a:r>
                    </a:p>
                  </a:txBody>
                  <a:tcPr marL="91440" marR="91440" anchor="ctr">
                    <a:solidFill>
                      <a:srgbClr val="EEF0FA"/>
                    </a:solidFill>
                  </a:tcPr>
                </a:tc>
              </a:tr>
              <a:tr h="384048">
                <a:tc>
                  <a:txBody>
                    <a:bodyPr/>
                    <a:lstStyle/>
                    <a:p>
                      <a:r>
                        <a:rPr sz="1100" b="1" i="0">
                          <a:solidFill>
                            <a:srgbClr val="243782"/>
                          </a:solidFill>
                          <a:latin typeface="Encode Sans Expanded"/>
                        </a:rPr>
                        <a:t>Stellantis</a:t>
                      </a:r>
                    </a:p>
                  </a:txBody>
                  <a:tcPr marL="91440" marR="91440" anchor="ctr">
                    <a:solidFill>
                      <a:srgbClr val="FCE6DE"/>
                    </a:solidFill>
                  </a:tcPr>
                </a:tc>
                <a:tc>
                  <a:txBody>
                    <a:bodyPr/>
                    <a:lstStyle/>
                    <a:p>
                      <a:r>
                        <a:rPr sz="1100" b="0" i="0">
                          <a:solidFill>
                            <a:srgbClr val="272B35"/>
                          </a:solidFill>
                          <a:latin typeface="Encode Sans ExpandedLight"/>
                        </a:rPr>
                        <a:t>None</a:t>
                      </a:r>
                    </a:p>
                  </a:txBody>
                  <a:tcPr marL="91440" marR="91440" anchor="ctr">
                    <a:solidFill>
                      <a:srgbClr val="FCE6DE"/>
                    </a:solidFill>
                  </a:tcPr>
                </a:tc>
                <a:tc>
                  <a:txBody>
                    <a:bodyPr/>
                    <a:lstStyle/>
                    <a:p>
                      <a:r>
                        <a:rPr sz="1100" b="0" i="0">
                          <a:solidFill>
                            <a:srgbClr val="272B35"/>
                          </a:solidFill>
                          <a:latin typeface="Encode Sans ExpandedLight"/>
                        </a:rPr>
                        <a:t>n/a</a:t>
                      </a:r>
                    </a:p>
                  </a:txBody>
                  <a:tcPr marL="91440" marR="91440" anchor="ctr">
                    <a:solidFill>
                      <a:srgbClr val="FCE6DE"/>
                    </a:solidFill>
                  </a:tcPr>
                </a:tc>
                <a:tc>
                  <a:txBody>
                    <a:bodyPr/>
                    <a:lstStyle/>
                    <a:p>
                      <a:r>
                        <a:rPr sz="1100" b="0" i="0">
                          <a:solidFill>
                            <a:srgbClr val="272B35"/>
                          </a:solidFill>
                          <a:latin typeface="Encode Sans ExpandedLight"/>
                        </a:rPr>
                        <a:t>FaSTLAne with no story</a:t>
                      </a:r>
                    </a:p>
                  </a:txBody>
                  <a:tcPr marL="91440" marR="91440" anchor="ctr">
                    <a:solidFill>
                      <a:srgbClr val="FCE6DE"/>
                    </a:solidFill>
                  </a:tcPr>
                </a:tc>
                <a:tc>
                  <a:txBody>
                    <a:bodyPr/>
                    <a:lstStyle/>
                    <a:p>
                      <a:r>
                        <a:rPr sz="1100" b="0" i="0">
                          <a:solidFill>
                            <a:srgbClr val="272B35"/>
                          </a:solidFill>
                          <a:latin typeface="Encode Sans ExpandedLight"/>
                        </a:rPr>
                        <a:t>Generic, inconsistent</a:t>
                      </a:r>
                    </a:p>
                  </a:txBody>
                  <a:tcPr marL="91440" marR="91440" anchor="ctr">
                    <a:solidFill>
                      <a:srgbClr val="FCE6DE"/>
                    </a:solidFill>
                  </a:tcPr>
                </a:tc>
              </a:tr>
            </a:tbl>
          </a:graphicData>
        </a:graphic>
      </p:graphicFrame>
      <p:sp>
        <p:nvSpPr>
          <p:cNvPr id="8" name="Footnote"/>
          <p:cNvSpPr txBox="1"/>
          <p:nvPr/>
        </p:nvSpPr>
        <p:spPr>
          <a:xfrm>
            <a:off x="612648" y="6382512"/>
            <a:ext cx="10241280" cy="274320"/>
          </a:xfrm>
          <a:prstGeom prst="rect">
            <a:avLst/>
          </a:prstGeom>
          <a:noFill/>
        </p:spPr>
        <p:txBody>
          <a:bodyPr wrap="square" lIns="0" rIns="0" tIns="0" bIns="0" anchor="t">
            <a:spAutoFit/>
          </a:bodyPr>
          <a:lstStyle/>
          <a:p>
            <a:pPr algn="l">
              <a:spcAft>
                <a:spcPts val="0"/>
              </a:spcAft>
            </a:pPr>
            <a:r>
              <a:rPr sz="900" b="0" i="1">
                <a:solidFill>
                  <a:srgbClr val="5E6370"/>
                </a:solidFill>
                <a:latin typeface="Encode Sans ExpandedLight"/>
              </a:rPr>
              <a:t>Years and verdicts from secondary sources; launch years of VW, Microsoft, Schneider and BYD not verified. The Stellantis verdict is our inference.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What rankings and experts say</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1024128"/>
            <a:ext cx="10972800" cy="548640"/>
          </a:xfrm>
          <a:prstGeom prst="rect">
            <a:avLst/>
          </a:prstGeom>
          <a:noFill/>
        </p:spPr>
        <p:txBody>
          <a:bodyPr wrap="square" lIns="0" rIns="0" tIns="0" bIns="0" anchor="t">
            <a:spAutoFit/>
          </a:bodyPr>
          <a:lstStyle/>
          <a:p>
            <a:pPr algn="l">
              <a:spcAft>
                <a:spcPts val="0"/>
              </a:spcAft>
            </a:pPr>
            <a:r>
              <a:rPr sz="2200" b="1" i="0">
                <a:solidFill>
                  <a:srgbClr val="243782"/>
                </a:solidFill>
                <a:latin typeface="Encode Sans Expanded"/>
              </a:rPr>
              <a:t>Substance first, distinctiveness right after</a:t>
            </a:r>
          </a:p>
        </p:txBody>
      </p:sp>
      <p:sp>
        <p:nvSpPr>
          <p:cNvPr id="7" name="Y axis"/>
          <p:cNvSpPr txBox="1"/>
          <p:nvPr/>
        </p:nvSpPr>
        <p:spPr>
          <a:xfrm>
            <a:off x="612648" y="1691640"/>
            <a:ext cx="5852160" cy="274320"/>
          </a:xfrm>
          <a:prstGeom prst="rect">
            <a:avLst/>
          </a:prstGeom>
          <a:noFill/>
        </p:spPr>
        <p:txBody>
          <a:bodyPr wrap="square" lIns="0" rIns="0" tIns="0" bIns="0" anchor="t">
            <a:spAutoFit/>
          </a:bodyPr>
          <a:lstStyle/>
          <a:p>
            <a:pPr algn="l">
              <a:spcAft>
                <a:spcPts val="0"/>
              </a:spcAft>
            </a:pPr>
            <a:r>
              <a:rPr sz="1100" b="1" i="0">
                <a:solidFill>
                  <a:srgbClr val="243782"/>
                </a:solidFill>
                <a:latin typeface="Encode Sans Expanded"/>
              </a:rPr>
              <a:t>↑ Distinctiveness: a credible, authentic story</a:t>
            </a:r>
          </a:p>
        </p:txBody>
      </p:sp>
      <p:sp>
        <p:nvSpPr>
          <p:cNvPr id="8" name="Quadrant Slogan without depth"/>
          <p:cNvSpPr/>
          <p:nvPr/>
        </p:nvSpPr>
        <p:spPr>
          <a:xfrm>
            <a:off x="612648" y="2011680"/>
            <a:ext cx="2889504" cy="1883664"/>
          </a:xfrm>
          <a:prstGeom prst="rect">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Quadrant label Slogan without depth"/>
          <p:cNvSpPr txBox="1"/>
          <p:nvPr/>
        </p:nvSpPr>
        <p:spPr>
          <a:xfrm>
            <a:off x="722376" y="2103120"/>
            <a:ext cx="2651760" cy="274320"/>
          </a:xfrm>
          <a:prstGeom prst="rect">
            <a:avLst/>
          </a:prstGeom>
          <a:noFill/>
        </p:spPr>
        <p:txBody>
          <a:bodyPr wrap="square" lIns="0" rIns="0" tIns="0" bIns="0" anchor="t">
            <a:spAutoFit/>
          </a:bodyPr>
          <a:lstStyle/>
          <a:p>
            <a:pPr algn="l">
              <a:spcAft>
                <a:spcPts val="0"/>
              </a:spcAft>
            </a:pPr>
            <a:r>
              <a:rPr sz="1000" b="0" i="1">
                <a:solidFill>
                  <a:srgbClr val="5E6370"/>
                </a:solidFill>
                <a:latin typeface="Encode Sans ExpandedLight"/>
              </a:rPr>
              <a:t>Slogan without depth</a:t>
            </a:r>
          </a:p>
        </p:txBody>
      </p:sp>
      <p:sp>
        <p:nvSpPr>
          <p:cNvPr id="10" name="Quadrant Substance with a voice"/>
          <p:cNvSpPr/>
          <p:nvPr/>
        </p:nvSpPr>
        <p:spPr>
          <a:xfrm>
            <a:off x="3538728" y="2011680"/>
            <a:ext cx="2889504" cy="1883664"/>
          </a:xfrm>
          <a:prstGeom prst="rect">
            <a:avLst/>
          </a:prstGeom>
          <a:solidFill>
            <a:srgbClr val="E1E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adrant label Substance with a voice"/>
          <p:cNvSpPr txBox="1"/>
          <p:nvPr/>
        </p:nvSpPr>
        <p:spPr>
          <a:xfrm>
            <a:off x="3648456" y="2103120"/>
            <a:ext cx="2651760" cy="274320"/>
          </a:xfrm>
          <a:prstGeom prst="rect">
            <a:avLst/>
          </a:prstGeom>
          <a:noFill/>
        </p:spPr>
        <p:txBody>
          <a:bodyPr wrap="square" lIns="0" rIns="0" tIns="0" bIns="0" anchor="t">
            <a:spAutoFit/>
          </a:bodyPr>
          <a:lstStyle/>
          <a:p>
            <a:pPr algn="l">
              <a:spcAft>
                <a:spcPts val="0"/>
              </a:spcAft>
            </a:pPr>
            <a:r>
              <a:rPr sz="1000" b="0" i="1">
                <a:solidFill>
                  <a:srgbClr val="5E6370"/>
                </a:solidFill>
                <a:latin typeface="Encode Sans ExpandedLight"/>
              </a:rPr>
              <a:t>Substance with a voice</a:t>
            </a:r>
          </a:p>
        </p:txBody>
      </p:sp>
      <p:sp>
        <p:nvSpPr>
          <p:cNvPr id="12" name="Quadrant Neither"/>
          <p:cNvSpPr/>
          <p:nvPr/>
        </p:nvSpPr>
        <p:spPr>
          <a:xfrm>
            <a:off x="612648" y="3931920"/>
            <a:ext cx="2889504" cy="1883664"/>
          </a:xfrm>
          <a:prstGeom prst="rect">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Quadrant label Neither"/>
          <p:cNvSpPr txBox="1"/>
          <p:nvPr/>
        </p:nvSpPr>
        <p:spPr>
          <a:xfrm>
            <a:off x="722376" y="5486400"/>
            <a:ext cx="2651760" cy="274320"/>
          </a:xfrm>
          <a:prstGeom prst="rect">
            <a:avLst/>
          </a:prstGeom>
          <a:noFill/>
        </p:spPr>
        <p:txBody>
          <a:bodyPr wrap="square" lIns="0" rIns="0" tIns="0" bIns="0" anchor="t">
            <a:spAutoFit/>
          </a:bodyPr>
          <a:lstStyle/>
          <a:p>
            <a:pPr algn="l">
              <a:spcAft>
                <a:spcPts val="0"/>
              </a:spcAft>
            </a:pPr>
            <a:r>
              <a:rPr sz="1000" b="0" i="1">
                <a:solidFill>
                  <a:srgbClr val="5E6370"/>
                </a:solidFill>
                <a:latin typeface="Encode Sans ExpandedLight"/>
              </a:rPr>
              <a:t>Neither</a:t>
            </a:r>
          </a:p>
        </p:txBody>
      </p:sp>
      <p:sp>
        <p:nvSpPr>
          <p:cNvPr id="14" name="Quadrant Substance without a voice"/>
          <p:cNvSpPr/>
          <p:nvPr/>
        </p:nvSpPr>
        <p:spPr>
          <a:xfrm>
            <a:off x="3538728" y="3931920"/>
            <a:ext cx="2889504" cy="1883664"/>
          </a:xfrm>
          <a:prstGeom prst="rect">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Quadrant label Substance without a voice"/>
          <p:cNvSpPr txBox="1"/>
          <p:nvPr/>
        </p:nvSpPr>
        <p:spPr>
          <a:xfrm>
            <a:off x="3648456" y="5486400"/>
            <a:ext cx="2651760" cy="274320"/>
          </a:xfrm>
          <a:prstGeom prst="rect">
            <a:avLst/>
          </a:prstGeom>
          <a:noFill/>
        </p:spPr>
        <p:txBody>
          <a:bodyPr wrap="square" lIns="0" rIns="0" tIns="0" bIns="0" anchor="t">
            <a:spAutoFit/>
          </a:bodyPr>
          <a:lstStyle/>
          <a:p>
            <a:pPr algn="l">
              <a:spcAft>
                <a:spcPts val="0"/>
              </a:spcAft>
            </a:pPr>
            <a:r>
              <a:rPr sz="1000" b="0" i="1">
                <a:solidFill>
                  <a:srgbClr val="5E6370"/>
                </a:solidFill>
                <a:latin typeface="Encode Sans ExpandedLight"/>
              </a:rPr>
              <a:t>Substance without a voice</a:t>
            </a:r>
          </a:p>
        </p:txBody>
      </p:sp>
      <p:sp>
        <p:nvSpPr>
          <p:cNvPr id="16" name="Point BYD"/>
          <p:cNvSpPr/>
          <p:nvPr/>
        </p:nvSpPr>
        <p:spPr>
          <a:xfrm>
            <a:off x="932688" y="2697480"/>
            <a:ext cx="676656" cy="310896"/>
          </a:xfrm>
          <a:prstGeom prst="roundRect">
            <a:avLst>
              <a:gd name="adj" fmla="val 30000"/>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FFFFFF"/>
                </a:solidFill>
                <a:latin typeface="Encode Sans Expanded"/>
              </a:rPr>
              <a:t>BYD</a:t>
            </a:r>
          </a:p>
        </p:txBody>
      </p:sp>
      <p:sp>
        <p:nvSpPr>
          <p:cNvPr id="17" name="Point Patagonia"/>
          <p:cNvSpPr/>
          <p:nvPr/>
        </p:nvSpPr>
        <p:spPr>
          <a:xfrm>
            <a:off x="4864608" y="2423160"/>
            <a:ext cx="1389888" cy="310896"/>
          </a:xfrm>
          <a:prstGeom prst="roundRect">
            <a:avLst>
              <a:gd name="adj" fmla="val 30000"/>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FFFFFF"/>
                </a:solidFill>
                <a:latin typeface="Encode Sans Expanded"/>
              </a:rPr>
              <a:t>Patagonia</a:t>
            </a:r>
          </a:p>
        </p:txBody>
      </p:sp>
      <p:sp>
        <p:nvSpPr>
          <p:cNvPr id="18" name="Point Microsoft"/>
          <p:cNvSpPr/>
          <p:nvPr/>
        </p:nvSpPr>
        <p:spPr>
          <a:xfrm>
            <a:off x="3858768" y="2880360"/>
            <a:ext cx="1389888" cy="310896"/>
          </a:xfrm>
          <a:prstGeom prst="roundRect">
            <a:avLst>
              <a:gd name="adj" fmla="val 30000"/>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FFFFFF"/>
                </a:solidFill>
                <a:latin typeface="Encode Sans Expanded"/>
              </a:rPr>
              <a:t>Microsoft</a:t>
            </a:r>
          </a:p>
        </p:txBody>
      </p:sp>
      <p:sp>
        <p:nvSpPr>
          <p:cNvPr id="19" name="Point Toyota"/>
          <p:cNvSpPr/>
          <p:nvPr/>
        </p:nvSpPr>
        <p:spPr>
          <a:xfrm>
            <a:off x="4956048" y="3337560"/>
            <a:ext cx="1033271" cy="310896"/>
          </a:xfrm>
          <a:prstGeom prst="roundRect">
            <a:avLst>
              <a:gd name="adj" fmla="val 30000"/>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FFFFFF"/>
                </a:solidFill>
                <a:latin typeface="Encode Sans Expanded"/>
              </a:rPr>
              <a:t>Toyota</a:t>
            </a:r>
          </a:p>
        </p:txBody>
      </p:sp>
      <p:sp>
        <p:nvSpPr>
          <p:cNvPr id="20" name="Point Volkswagen"/>
          <p:cNvSpPr/>
          <p:nvPr/>
        </p:nvSpPr>
        <p:spPr>
          <a:xfrm>
            <a:off x="4590288" y="4343400"/>
            <a:ext cx="1508760" cy="310896"/>
          </a:xfrm>
          <a:prstGeom prst="roundRect">
            <a:avLst>
              <a:gd name="adj" fmla="val 30000"/>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FFFFFF"/>
                </a:solidFill>
                <a:latin typeface="Encode Sans Expanded"/>
              </a:rPr>
              <a:t>Volkswagen</a:t>
            </a:r>
          </a:p>
        </p:txBody>
      </p:sp>
      <p:sp>
        <p:nvSpPr>
          <p:cNvPr id="21" name="Point Mercedes-Benz"/>
          <p:cNvSpPr/>
          <p:nvPr/>
        </p:nvSpPr>
        <p:spPr>
          <a:xfrm>
            <a:off x="3813048" y="4846320"/>
            <a:ext cx="1865376" cy="310896"/>
          </a:xfrm>
          <a:prstGeom prst="roundRect">
            <a:avLst>
              <a:gd name="adj" fmla="val 30000"/>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FFFFFF"/>
                </a:solidFill>
                <a:latin typeface="Encode Sans Expanded"/>
              </a:rPr>
              <a:t>Mercedes-Benz</a:t>
            </a:r>
          </a:p>
        </p:txBody>
      </p:sp>
      <p:sp>
        <p:nvSpPr>
          <p:cNvPr id="22" name="Point Stellantis"/>
          <p:cNvSpPr/>
          <p:nvPr/>
        </p:nvSpPr>
        <p:spPr>
          <a:xfrm>
            <a:off x="932688" y="4617720"/>
            <a:ext cx="1508760" cy="310896"/>
          </a:xfrm>
          <a:prstGeom prst="roundRect">
            <a:avLst>
              <a:gd name="adj" fmla="val 30000"/>
            </a:avLst>
          </a:prstGeom>
          <a:solidFill>
            <a:srgbClr val="E94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FFFFFF"/>
                </a:solidFill>
                <a:latin typeface="Encode Sans Expanded"/>
              </a:rPr>
              <a:t>Stellantis</a:t>
            </a:r>
          </a:p>
        </p:txBody>
      </p:sp>
      <p:sp>
        <p:nvSpPr>
          <p:cNvPr id="23" name="X axis"/>
          <p:cNvSpPr txBox="1"/>
          <p:nvPr/>
        </p:nvSpPr>
        <p:spPr>
          <a:xfrm>
            <a:off x="612648" y="5925312"/>
            <a:ext cx="5852160" cy="274320"/>
          </a:xfrm>
          <a:prstGeom prst="rect">
            <a:avLst/>
          </a:prstGeom>
          <a:noFill/>
        </p:spPr>
        <p:txBody>
          <a:bodyPr wrap="square" lIns="0" rIns="0" tIns="0" bIns="0" anchor="t">
            <a:spAutoFit/>
          </a:bodyPr>
          <a:lstStyle/>
          <a:p>
            <a:pPr algn="l">
              <a:spcAft>
                <a:spcPts val="0"/>
              </a:spcAft>
            </a:pPr>
            <a:r>
              <a:rPr sz="1100" b="1" i="0">
                <a:solidFill>
                  <a:srgbClr val="243782"/>
                </a:solidFill>
                <a:latin typeface="Encode Sans Expanded"/>
              </a:rPr>
              <a:t>Substance → a concrete, structured, transparent journey</a:t>
            </a:r>
          </a:p>
        </p:txBody>
      </p:sp>
      <p:sp>
        <p:nvSpPr>
          <p:cNvPr id="24" name="Fact card 1"/>
          <p:cNvSpPr/>
          <p:nvPr/>
        </p:nvSpPr>
        <p:spPr>
          <a:xfrm>
            <a:off x="6812280" y="1691640"/>
            <a:ext cx="4754880" cy="13258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Fact text 1"/>
          <p:cNvSpPr txBox="1"/>
          <p:nvPr/>
        </p:nvSpPr>
        <p:spPr>
          <a:xfrm>
            <a:off x="7040880" y="1856232"/>
            <a:ext cx="4343400" cy="1051560"/>
          </a:xfrm>
          <a:prstGeom prst="rect">
            <a:avLst/>
          </a:prstGeom>
          <a:noFill/>
        </p:spPr>
        <p:txBody>
          <a:bodyPr wrap="square" lIns="0" rIns="0" tIns="0" bIns="0" anchor="t">
            <a:spAutoFit/>
          </a:bodyPr>
          <a:lstStyle/>
          <a:p>
            <a:pPr algn="l">
              <a:spcAft>
                <a:spcPts val="400"/>
              </a:spcAft>
            </a:pPr>
            <a:r>
              <a:rPr sz="1300" b="1" i="0">
                <a:solidFill>
                  <a:srgbClr val="243782"/>
                </a:solidFill>
                <a:latin typeface="Encode Sans Expanded"/>
              </a:rPr>
              <a:t>Lundquist</a:t>
            </a:r>
          </a:p>
          <a:p>
            <a:pPr algn="l">
              <a:spcAft>
                <a:spcPts val="0"/>
              </a:spcAft>
            </a:pPr>
            <a:r>
              <a:rPr sz="1100" b="0" i="0">
                <a:solidFill>
                  <a:srgbClr val="272B35"/>
                </a:solidFill>
                <a:latin typeface="Encode Sans ExpandedLight"/>
              </a:rPr>
              <a:t>The “CSRD paradox”: more mandatory reporting means more need to stand out. In 2025 it calls for a Sustainability Value Proposition.</a:t>
            </a:r>
          </a:p>
        </p:txBody>
      </p:sp>
      <p:sp>
        <p:nvSpPr>
          <p:cNvPr id="26" name="Fact card 2"/>
          <p:cNvSpPr/>
          <p:nvPr/>
        </p:nvSpPr>
        <p:spPr>
          <a:xfrm>
            <a:off x="6812280" y="3154680"/>
            <a:ext cx="4754880" cy="13258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Fact text 2"/>
          <p:cNvSpPr txBox="1"/>
          <p:nvPr/>
        </p:nvSpPr>
        <p:spPr>
          <a:xfrm>
            <a:off x="7040880" y="3319272"/>
            <a:ext cx="4343400" cy="1051560"/>
          </a:xfrm>
          <a:prstGeom prst="rect">
            <a:avLst/>
          </a:prstGeom>
          <a:noFill/>
        </p:spPr>
        <p:txBody>
          <a:bodyPr wrap="square" lIns="0" rIns="0" tIns="0" bIns="0" anchor="t">
            <a:spAutoFit/>
          </a:bodyPr>
          <a:lstStyle/>
          <a:p>
            <a:pPr algn="l">
              <a:spcAft>
                <a:spcPts val="400"/>
              </a:spcAft>
            </a:pPr>
            <a:r>
              <a:rPr sz="1300" b="1" i="0">
                <a:solidFill>
                  <a:srgbClr val="243782"/>
                </a:solidFill>
                <a:latin typeface="Encode Sans Expanded"/>
              </a:rPr>
              <a:t>Webranking 2025-26</a:t>
            </a:r>
          </a:p>
          <a:p>
            <a:pPr algn="l">
              <a:spcAft>
                <a:spcPts val="0"/>
              </a:spcAft>
            </a:pPr>
            <a:r>
              <a:rPr sz="1100" b="0" i="0">
                <a:solidFill>
                  <a:srgbClr val="272B35"/>
                </a:solidFill>
                <a:latin typeface="Encode Sans ExpandedLight"/>
              </a:rPr>
              <a:t>Poste Italiane first. Social sustainability lags environmental across the board: natural space for HR.</a:t>
            </a:r>
          </a:p>
        </p:txBody>
      </p:sp>
      <p:sp>
        <p:nvSpPr>
          <p:cNvPr id="28" name="Fact card 3"/>
          <p:cNvSpPr/>
          <p:nvPr/>
        </p:nvSpPr>
        <p:spPr>
          <a:xfrm>
            <a:off x="6812280" y="4617720"/>
            <a:ext cx="4754880" cy="13258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Fact text 3"/>
          <p:cNvSpPr txBox="1"/>
          <p:nvPr/>
        </p:nvSpPr>
        <p:spPr>
          <a:xfrm>
            <a:off x="7040880" y="4782312"/>
            <a:ext cx="4343400" cy="1051560"/>
          </a:xfrm>
          <a:prstGeom prst="rect">
            <a:avLst/>
          </a:prstGeom>
          <a:noFill/>
        </p:spPr>
        <p:txBody>
          <a:bodyPr wrap="square" lIns="0" rIns="0" tIns="0" bIns="0" anchor="t">
            <a:spAutoFit/>
          </a:bodyPr>
          <a:lstStyle/>
          <a:p>
            <a:pPr algn="l">
              <a:spcAft>
                <a:spcPts val="400"/>
              </a:spcAft>
            </a:pPr>
            <a:r>
              <a:rPr sz="1300" b="1" i="0">
                <a:solidFill>
                  <a:srgbClr val="243782"/>
                </a:solidFill>
                <a:latin typeface="Encode Sans Expanded"/>
              </a:rPr>
              <a:t>GlobeScan/ERM 2025</a:t>
            </a:r>
          </a:p>
          <a:p>
            <a:pPr algn="l">
              <a:spcAft>
                <a:spcPts val="0"/>
              </a:spcAft>
            </a:pPr>
            <a:r>
              <a:rPr sz="1100" b="0" i="0">
                <a:solidFill>
                  <a:srgbClr val="272B35"/>
                </a:solidFill>
                <a:latin typeface="Encode Sans ExpandedLight"/>
              </a:rPr>
              <a:t>Patagonia, IKEA, Unilever and Natura &amp;Co lead; no carmaker among the names cited.</a:t>
            </a:r>
          </a:p>
        </p:txBody>
      </p:sp>
      <p:sp>
        <p:nvSpPr>
          <p:cNvPr id="30" name="Footnote"/>
          <p:cNvSpPr txBox="1"/>
          <p:nvPr/>
        </p:nvSpPr>
        <p:spPr>
          <a:xfrm>
            <a:off x="612648" y="6382512"/>
            <a:ext cx="10241280" cy="274320"/>
          </a:xfrm>
          <a:prstGeom prst="rect">
            <a:avLst/>
          </a:prstGeom>
          <a:noFill/>
        </p:spPr>
        <p:txBody>
          <a:bodyPr wrap="square" lIns="0" rIns="0" tIns="0" bIns="0" anchor="t">
            <a:spAutoFit/>
          </a:bodyPr>
          <a:lstStyle/>
          <a:p>
            <a:pPr algn="l">
              <a:spcAft>
                <a:spcPts val="0"/>
              </a:spcAft>
            </a:pPr>
            <a:r>
              <a:rPr sz="900" b="0" i="1">
                <a:solidFill>
                  <a:srgbClr val="5E6370"/>
                </a:solidFill>
                <a:latin typeface="Encode Sans ExpandedLight"/>
              </a:rPr>
              <a:t>Axes from Lundquist; positioning of the cases is our qualitative reading, not a Lundquist score.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Context 2024-2026</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1024128"/>
            <a:ext cx="10972800" cy="548640"/>
          </a:xfrm>
          <a:prstGeom prst="rect">
            <a:avLst/>
          </a:prstGeom>
          <a:noFill/>
        </p:spPr>
        <p:txBody>
          <a:bodyPr wrap="square" lIns="0" rIns="0" tIns="0" bIns="0" anchor="t">
            <a:spAutoFit/>
          </a:bodyPr>
          <a:lstStyle/>
          <a:p>
            <a:pPr algn="l">
              <a:spcAft>
                <a:spcPts val="0"/>
              </a:spcAft>
            </a:pPr>
            <a:r>
              <a:rPr sz="2200" b="1" i="0">
                <a:solidFill>
                  <a:srgbClr val="243782"/>
                </a:solidFill>
                <a:latin typeface="Encode Sans Expanded"/>
              </a:rPr>
              <a:t>Between silence and empty promises, EmpCo asks for a public plan</a:t>
            </a:r>
          </a:p>
        </p:txBody>
      </p:sp>
      <p:sp>
        <p:nvSpPr>
          <p:cNvPr id="7" name="Column 1"/>
          <p:cNvSpPr/>
          <p:nvPr/>
        </p:nvSpPr>
        <p:spPr>
          <a:xfrm>
            <a:off x="612648" y="1737360"/>
            <a:ext cx="3520440" cy="329184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lumn 1 text"/>
          <p:cNvSpPr txBox="1"/>
          <p:nvPr/>
        </p:nvSpPr>
        <p:spPr>
          <a:xfrm>
            <a:off x="886968" y="2011680"/>
            <a:ext cx="2971800" cy="3291840"/>
          </a:xfrm>
          <a:prstGeom prst="rect">
            <a:avLst/>
          </a:prstGeom>
          <a:noFill/>
        </p:spPr>
        <p:txBody>
          <a:bodyPr wrap="square" lIns="0" rIns="0" tIns="0" bIns="0" anchor="t">
            <a:spAutoFit/>
          </a:bodyPr>
          <a:lstStyle/>
          <a:p>
            <a:pPr algn="l">
              <a:spcAft>
                <a:spcPts val="1200"/>
              </a:spcAft>
            </a:pPr>
            <a:r>
              <a:rPr sz="1600" b="1" i="0">
                <a:solidFill>
                  <a:srgbClr val="243782"/>
                </a:solidFill>
                <a:latin typeface="Encode Sans Expanded"/>
              </a:rPr>
              <a:t>Greenhushing</a:t>
            </a:r>
          </a:p>
          <a:p>
            <a:pPr algn="l" marL="164592" indent="-164592">
              <a:spcAft>
                <a:spcPts val="1200"/>
              </a:spcAft>
              <a:buChar char="•"/>
            </a:pPr>
            <a:r>
              <a:rPr sz="1400" b="0" i="0">
                <a:solidFill>
                  <a:srgbClr val="272B35"/>
                </a:solidFill>
                <a:latin typeface="Encode Sans ExpandedLight"/>
              </a:rPr>
              <a:t>85% of 75 large companies kept or expanded their programmes; only 16% said so (reported by HBR, second-hand).</a:t>
            </a:r>
          </a:p>
          <a:p>
            <a:pPr algn="l" marL="164592" indent="-164592">
              <a:spcAft>
                <a:spcPts val="1200"/>
              </a:spcAft>
              <a:buChar char="•"/>
            </a:pPr>
            <a:r>
              <a:rPr sz="1400" b="0" i="0">
                <a:solidFill>
                  <a:srgbClr val="272B35"/>
                </a:solidFill>
                <a:latin typeface="Encode Sans ExpandedLight"/>
              </a:rPr>
              <a:t>South Pole 2024: found in 9 sectors out of 14.</a:t>
            </a:r>
          </a:p>
        </p:txBody>
      </p:sp>
      <p:sp>
        <p:nvSpPr>
          <p:cNvPr id="9" name="Column 2"/>
          <p:cNvSpPr/>
          <p:nvPr/>
        </p:nvSpPr>
        <p:spPr>
          <a:xfrm>
            <a:off x="4334256" y="1737360"/>
            <a:ext cx="3520440" cy="329184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olumn 2 text"/>
          <p:cNvSpPr txBox="1"/>
          <p:nvPr/>
        </p:nvSpPr>
        <p:spPr>
          <a:xfrm>
            <a:off x="4608576" y="2011680"/>
            <a:ext cx="2971800" cy="3291840"/>
          </a:xfrm>
          <a:prstGeom prst="rect">
            <a:avLst/>
          </a:prstGeom>
          <a:noFill/>
        </p:spPr>
        <p:txBody>
          <a:bodyPr wrap="square" lIns="0" rIns="0" tIns="0" bIns="0" anchor="t">
            <a:spAutoFit/>
          </a:bodyPr>
          <a:lstStyle/>
          <a:p>
            <a:pPr algn="l">
              <a:spcAft>
                <a:spcPts val="1200"/>
              </a:spcAft>
            </a:pPr>
            <a:r>
              <a:rPr sz="1600" b="1" i="0">
                <a:solidFill>
                  <a:srgbClr val="243782"/>
                </a:solidFill>
                <a:latin typeface="Encode Sans Expanded"/>
              </a:rPr>
              <a:t>Say-do gap</a:t>
            </a:r>
          </a:p>
          <a:p>
            <a:pPr algn="l" marL="164592" indent="-164592">
              <a:spcAft>
                <a:spcPts val="1200"/>
              </a:spcAft>
              <a:buChar char="•"/>
            </a:pPr>
            <a:r>
              <a:rPr sz="1400" b="0" i="0">
                <a:solidFill>
                  <a:srgbClr val="272B35"/>
                </a:solidFill>
                <a:latin typeface="Encode Sans ExpandedLight"/>
              </a:rPr>
              <a:t>Marsh: be candid on status, targets and plan; silence attracts more criticism.</a:t>
            </a:r>
          </a:p>
          <a:p>
            <a:pPr algn="l" marL="164592" indent="-164592">
              <a:spcAft>
                <a:spcPts val="1200"/>
              </a:spcAft>
              <a:buChar char="•"/>
            </a:pPr>
            <a:r>
              <a:rPr sz="1400" b="0" i="0">
                <a:solidFill>
                  <a:srgbClr val="272B35"/>
                </a:solidFill>
                <a:latin typeface="Encode Sans ExpandedLight"/>
              </a:rPr>
              <a:t>Bain: CEOs are moving from moral value to business value.</a:t>
            </a:r>
          </a:p>
        </p:txBody>
      </p:sp>
      <p:sp>
        <p:nvSpPr>
          <p:cNvPr id="11" name="Column 3"/>
          <p:cNvSpPr/>
          <p:nvPr/>
        </p:nvSpPr>
        <p:spPr>
          <a:xfrm>
            <a:off x="8055864" y="1737360"/>
            <a:ext cx="3520440" cy="3291840"/>
          </a:xfrm>
          <a:prstGeom prst="roundRect">
            <a:avLst>
              <a:gd name="adj" fmla="val 5000"/>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olumn 3 text"/>
          <p:cNvSpPr txBox="1"/>
          <p:nvPr/>
        </p:nvSpPr>
        <p:spPr>
          <a:xfrm>
            <a:off x="8330184" y="2011680"/>
            <a:ext cx="2971800" cy="3291840"/>
          </a:xfrm>
          <a:prstGeom prst="rect">
            <a:avLst/>
          </a:prstGeom>
          <a:noFill/>
        </p:spPr>
        <p:txBody>
          <a:bodyPr wrap="square" lIns="0" rIns="0" tIns="0" bIns="0" anchor="t">
            <a:spAutoFit/>
          </a:bodyPr>
          <a:lstStyle/>
          <a:p>
            <a:pPr algn="l">
              <a:spcAft>
                <a:spcPts val="1200"/>
              </a:spcAft>
            </a:pPr>
            <a:r>
              <a:rPr sz="1600" b="1" i="0">
                <a:solidFill>
                  <a:srgbClr val="FFFFFF"/>
                </a:solidFill>
                <a:latin typeface="Encode Sans Expanded"/>
              </a:rPr>
              <a:t>EmpCo, from 27 Sept 2026</a:t>
            </a:r>
          </a:p>
          <a:p>
            <a:pPr algn="l" marL="164592" indent="-164592">
              <a:spcAft>
                <a:spcPts val="1200"/>
              </a:spcAft>
              <a:buChar char="•"/>
            </a:pPr>
            <a:r>
              <a:rPr sz="1400" b="0" i="0">
                <a:solidFill>
                  <a:srgbClr val="FFFFFF"/>
                </a:solidFill>
                <a:latin typeface="Encode Sans ExpandedLight"/>
              </a:rPr>
              <a:t>“Net zero by 2050” needs a public plan with targets, resources and governance.</a:t>
            </a:r>
          </a:p>
          <a:p>
            <a:pPr algn="l" marL="164592" indent="-164592">
              <a:spcAft>
                <a:spcPts val="1200"/>
              </a:spcAft>
              <a:buChar char="•"/>
            </a:pPr>
            <a:r>
              <a:rPr sz="1400" b="0" i="0">
                <a:solidFill>
                  <a:srgbClr val="FFFFFF"/>
                </a:solidFill>
                <a:latin typeface="Encode Sans ExpandedLight"/>
              </a:rPr>
              <a:t>The plan must be reviewed by an independent expert, with public results.</a:t>
            </a:r>
          </a:p>
        </p:txBody>
      </p:sp>
      <p:sp>
        <p:nvSpPr>
          <p:cNvPr id="13" name="Caveat"/>
          <p:cNvSpPr txBox="1"/>
          <p:nvPr/>
        </p:nvSpPr>
        <p:spPr>
          <a:xfrm>
            <a:off x="612648" y="5257800"/>
            <a:ext cx="10972800" cy="548640"/>
          </a:xfrm>
          <a:prstGeom prst="rect">
            <a:avLst/>
          </a:prstGeom>
          <a:noFill/>
        </p:spPr>
        <p:txBody>
          <a:bodyPr wrap="square" lIns="0" rIns="0" tIns="0" bIns="0" anchor="t">
            <a:spAutoFit/>
          </a:bodyPr>
          <a:lstStyle/>
          <a:p>
            <a:pPr algn="l">
              <a:spcAft>
                <a:spcPts val="0"/>
              </a:spcAft>
            </a:pPr>
            <a:r>
              <a:rPr sz="1100" b="0" i="0">
                <a:solidFill>
                  <a:srgbClr val="5E6370"/>
                </a:solidFill>
                <a:latin typeface="Encode Sans ExpandedLight"/>
              </a:rPr>
              <a:t>To verify: fines (consultancy sources), transposition in 7 of 27 Member States by March 2026, applicability to corporate hubs. The CSRD Omnibus (December 2025) keeps Stellantis in scope.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Stellantis today · The facts</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1024128"/>
            <a:ext cx="10972800" cy="548640"/>
          </a:xfrm>
          <a:prstGeom prst="rect">
            <a:avLst/>
          </a:prstGeom>
          <a:noFill/>
        </p:spPr>
        <p:txBody>
          <a:bodyPr wrap="square" lIns="0" rIns="0" tIns="0" bIns="0" anchor="t">
            <a:spAutoFit/>
          </a:bodyPr>
          <a:lstStyle/>
          <a:p>
            <a:pPr algn="l">
              <a:spcAft>
                <a:spcPts val="0"/>
              </a:spcAft>
            </a:pPr>
            <a:r>
              <a:rPr sz="2200" b="1" i="0">
                <a:solidFill>
                  <a:srgbClr val="243782"/>
                </a:solidFill>
                <a:latin typeface="Encode Sans Expanded"/>
              </a:rPr>
              <a:t>Plenty of content, no story</a:t>
            </a:r>
          </a:p>
        </p:txBody>
      </p:sp>
      <p:sp>
        <p:nvSpPr>
          <p:cNvPr id="7" name="Stat 1"/>
          <p:cNvSpPr/>
          <p:nvPr/>
        </p:nvSpPr>
        <p:spPr>
          <a:xfrm>
            <a:off x="612648" y="1783080"/>
            <a:ext cx="2606040" cy="237744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tat 1 text"/>
          <p:cNvSpPr txBox="1"/>
          <p:nvPr/>
        </p:nvSpPr>
        <p:spPr>
          <a:xfrm>
            <a:off x="841248" y="2011680"/>
            <a:ext cx="2194560" cy="2286000"/>
          </a:xfrm>
          <a:prstGeom prst="rect">
            <a:avLst/>
          </a:prstGeom>
          <a:noFill/>
        </p:spPr>
        <p:txBody>
          <a:bodyPr wrap="square" lIns="0" rIns="0" tIns="0" bIns="0" anchor="t">
            <a:spAutoFit/>
          </a:bodyPr>
          <a:lstStyle/>
          <a:p>
            <a:pPr algn="l">
              <a:spcAft>
                <a:spcPts val="1000"/>
              </a:spcAft>
            </a:pPr>
            <a:r>
              <a:rPr sz="2800" b="1" i="0">
                <a:solidFill>
                  <a:srgbClr val="243782"/>
                </a:solidFill>
                <a:latin typeface="Encode Sans Expanded"/>
              </a:rPr>
              <a:t>2050</a:t>
            </a:r>
          </a:p>
          <a:p>
            <a:pPr algn="l">
              <a:spcAft>
                <a:spcPts val="0"/>
              </a:spcAft>
            </a:pPr>
            <a:r>
              <a:rPr sz="1300" b="0" i="0">
                <a:solidFill>
                  <a:srgbClr val="272B35"/>
                </a:solidFill>
                <a:latin typeface="Encode Sans ExpandedLight"/>
              </a:rPr>
              <a:t>Net zero moved from 2038, yet pages with both years are still online, Brazil included</a:t>
            </a:r>
          </a:p>
        </p:txBody>
      </p:sp>
      <p:sp>
        <p:nvSpPr>
          <p:cNvPr id="9" name="Stat 2"/>
          <p:cNvSpPr/>
          <p:nvPr/>
        </p:nvSpPr>
        <p:spPr>
          <a:xfrm>
            <a:off x="3401568" y="1783080"/>
            <a:ext cx="2606040" cy="237744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Stat 2 text"/>
          <p:cNvSpPr txBox="1"/>
          <p:nvPr/>
        </p:nvSpPr>
        <p:spPr>
          <a:xfrm>
            <a:off x="3630168" y="2011680"/>
            <a:ext cx="2194560" cy="2286000"/>
          </a:xfrm>
          <a:prstGeom prst="rect">
            <a:avLst/>
          </a:prstGeom>
          <a:noFill/>
        </p:spPr>
        <p:txBody>
          <a:bodyPr wrap="square" lIns="0" rIns="0" tIns="0" bIns="0" anchor="t">
            <a:spAutoFit/>
          </a:bodyPr>
          <a:lstStyle/>
          <a:p>
            <a:pPr algn="l">
              <a:spcAft>
                <a:spcPts val="1000"/>
              </a:spcAft>
            </a:pPr>
            <a:r>
              <a:rPr sz="2800" b="1" i="0">
                <a:solidFill>
                  <a:srgbClr val="243782"/>
                </a:solidFill>
                <a:latin typeface="Encode Sans Expanded"/>
              </a:rPr>
              <a:t>−43%</a:t>
            </a:r>
          </a:p>
          <a:p>
            <a:pPr algn="l">
              <a:spcAft>
                <a:spcPts val="0"/>
              </a:spcAft>
            </a:pPr>
            <a:r>
              <a:rPr sz="1300" b="0" i="0">
                <a:solidFill>
                  <a:srgbClr val="272B35"/>
                </a:solidFill>
                <a:latin typeface="Encode Sans ExpandedLight"/>
              </a:rPr>
              <a:t>Scope 1-2 in 2025 vs 2021 (−26% Scope 1-3): proof points that do not make a story today</a:t>
            </a:r>
          </a:p>
        </p:txBody>
      </p:sp>
      <p:sp>
        <p:nvSpPr>
          <p:cNvPr id="11" name="Stat 3"/>
          <p:cNvSpPr/>
          <p:nvPr/>
        </p:nvSpPr>
        <p:spPr>
          <a:xfrm>
            <a:off x="6190488" y="1783080"/>
            <a:ext cx="2606040" cy="237744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tat 3 text"/>
          <p:cNvSpPr txBox="1"/>
          <p:nvPr/>
        </p:nvSpPr>
        <p:spPr>
          <a:xfrm>
            <a:off x="6419088" y="2011680"/>
            <a:ext cx="2194560" cy="2286000"/>
          </a:xfrm>
          <a:prstGeom prst="rect">
            <a:avLst/>
          </a:prstGeom>
          <a:noFill/>
        </p:spPr>
        <p:txBody>
          <a:bodyPr wrap="square" lIns="0" rIns="0" tIns="0" bIns="0" anchor="t">
            <a:spAutoFit/>
          </a:bodyPr>
          <a:lstStyle/>
          <a:p>
            <a:pPr algn="l">
              <a:spcAft>
                <a:spcPts val="1000"/>
              </a:spcAft>
            </a:pPr>
            <a:r>
              <a:rPr sz="2800" b="1" i="0">
                <a:solidFill>
                  <a:srgbClr val="243782"/>
                </a:solidFill>
                <a:latin typeface="Encode Sans Expanded"/>
              </a:rPr>
              <a:t>€60bn</a:t>
            </a:r>
          </a:p>
          <a:p>
            <a:pPr algn="l">
              <a:spcAft>
                <a:spcPts val="0"/>
              </a:spcAft>
            </a:pPr>
            <a:r>
              <a:rPr sz="1300" b="0" i="0">
                <a:solidFill>
                  <a:srgbClr val="272B35"/>
                </a:solidFill>
                <a:latin typeface="Encode Sans ExpandedLight"/>
              </a:rPr>
              <a:t>FaSTLAne 2030 “to accelerate growth and profit”: no decarbonisation target in the announcements</a:t>
            </a:r>
          </a:p>
        </p:txBody>
      </p:sp>
      <p:sp>
        <p:nvSpPr>
          <p:cNvPr id="13" name="Stat 4"/>
          <p:cNvSpPr/>
          <p:nvPr/>
        </p:nvSpPr>
        <p:spPr>
          <a:xfrm>
            <a:off x="8979407" y="1783080"/>
            <a:ext cx="2606040" cy="2377440"/>
          </a:xfrm>
          <a:prstGeom prst="roundRect">
            <a:avLst>
              <a:gd name="adj" fmla="val 5000"/>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tat 4 text"/>
          <p:cNvSpPr txBox="1"/>
          <p:nvPr/>
        </p:nvSpPr>
        <p:spPr>
          <a:xfrm>
            <a:off x="9208007" y="2011680"/>
            <a:ext cx="2194560" cy="2286000"/>
          </a:xfrm>
          <a:prstGeom prst="rect">
            <a:avLst/>
          </a:prstGeom>
          <a:noFill/>
        </p:spPr>
        <p:txBody>
          <a:bodyPr wrap="square" lIns="0" rIns="0" tIns="0" bIns="0" anchor="t">
            <a:spAutoFit/>
          </a:bodyPr>
          <a:lstStyle/>
          <a:p>
            <a:pPr algn="l">
              <a:spcAft>
                <a:spcPts val="1000"/>
              </a:spcAft>
            </a:pPr>
            <a:r>
              <a:rPr sz="2800" b="1" i="0">
                <a:solidFill>
                  <a:srgbClr val="E94E24"/>
                </a:solidFill>
                <a:latin typeface="Encode Sans Expanded"/>
              </a:rPr>
              <a:t>32nd → 96th</a:t>
            </a:r>
          </a:p>
          <a:p>
            <a:pPr algn="l">
              <a:spcAft>
                <a:spcPts val="0"/>
              </a:spcAft>
            </a:pPr>
            <a:r>
              <a:rPr sz="1300" b="0" i="0">
                <a:solidFill>
                  <a:srgbClr val="FFFFFF"/>
                </a:solidFill>
                <a:latin typeface="Encode Sans ExpandedLight"/>
              </a:rPr>
              <a:t>Reputation Manager Italy, H1 to Q4 2025; Lead the Charge from 5th to 9th</a:t>
            </a:r>
          </a:p>
        </p:txBody>
      </p:sp>
      <p:sp>
        <p:nvSpPr>
          <p:cNvPr id="15" name="Hub note"/>
          <p:cNvSpPr txBox="1"/>
          <p:nvPr/>
        </p:nvSpPr>
        <p:spPr>
          <a:xfrm>
            <a:off x="612648" y="4480560"/>
            <a:ext cx="10972800" cy="914400"/>
          </a:xfrm>
          <a:prstGeom prst="rect">
            <a:avLst/>
          </a:prstGeom>
          <a:noFill/>
        </p:spPr>
        <p:txBody>
          <a:bodyPr wrap="square" lIns="0" rIns="0" tIns="0" bIns="0" anchor="t">
            <a:spAutoFit/>
          </a:bodyPr>
          <a:lstStyle/>
          <a:p>
            <a:pPr algn="l">
              <a:spcAft>
                <a:spcPts val="0"/>
              </a:spcAft>
            </a:pPr>
            <a:r>
              <a:rPr sz="1400" b="0" i="0">
                <a:solidFill>
                  <a:srgbClr val="272B35"/>
                </a:solidFill>
                <a:latin typeface="Encode Sans ExpandedLight"/>
              </a:rPr>
              <a:t>The hub is organised by stakeholder (customers, employees, host countries, suppliers, planet) and by a three-area net zero strategy. The press filled the narrative gap with one word: </a:t>
            </a:r>
            <a:r>
              <a:rPr sz="1400" b="1" i="0">
                <a:solidFill>
                  <a:srgbClr val="E94E24"/>
                </a:solidFill>
                <a:latin typeface="Encode Sans Expanded"/>
              </a:rPr>
              <a:t>“delay”.</a:t>
            </a:r>
          </a:p>
        </p:txBody>
      </p:sp>
      <p:sp>
        <p:nvSpPr>
          <p:cNvPr id="16" name="Footnote"/>
          <p:cNvSpPr txBox="1"/>
          <p:nvPr/>
        </p:nvSpPr>
        <p:spPr>
          <a:xfrm>
            <a:off x="612648" y="6382512"/>
            <a:ext cx="10241280" cy="274320"/>
          </a:xfrm>
          <a:prstGeom prst="rect">
            <a:avLst/>
          </a:prstGeom>
          <a:noFill/>
        </p:spPr>
        <p:txBody>
          <a:bodyPr wrap="square" lIns="0" rIns="0" tIns="0" bIns="0" anchor="t">
            <a:spAutoFit/>
          </a:bodyPr>
          <a:lstStyle/>
          <a:p>
            <a:pPr algn="l">
              <a:spcAft>
                <a:spcPts val="0"/>
              </a:spcAft>
            </a:pPr>
            <a:r>
              <a:rPr sz="900" b="0" i="1">
                <a:solidFill>
                  <a:srgbClr val="5E6370"/>
                </a:solidFill>
                <a:latin typeface="Encode Sans ExpandedLight"/>
              </a:rPr>
              <a:t>Sources: Stellantis, MarketScreener, ClubAlfa, Milano Finanza, Primaonline, Lead the Charge. stellantis.com could not be opened directly.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Stellantis today · The diagnosis</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1024128"/>
            <a:ext cx="10972800" cy="548640"/>
          </a:xfrm>
          <a:prstGeom prst="rect">
            <a:avLst/>
          </a:prstGeom>
          <a:noFill/>
        </p:spPr>
        <p:txBody>
          <a:bodyPr wrap="square" lIns="0" rIns="0" tIns="0" bIns="0" anchor="t">
            <a:spAutoFit/>
          </a:bodyPr>
          <a:lstStyle/>
          <a:p>
            <a:pPr algn="l">
              <a:spcAft>
                <a:spcPts val="0"/>
              </a:spcAft>
            </a:pPr>
            <a:r>
              <a:rPr sz="2200" b="1" i="0">
                <a:solidFill>
                  <a:srgbClr val="243782"/>
                </a:solidFill>
                <a:latin typeface="Encode Sans Expanded"/>
              </a:rPr>
              <a:t>Six storytelling gaps (our inference)</a:t>
            </a:r>
          </a:p>
        </p:txBody>
      </p:sp>
      <p:sp>
        <p:nvSpPr>
          <p:cNvPr id="7" name="Gap 1"/>
          <p:cNvSpPr/>
          <p:nvPr/>
        </p:nvSpPr>
        <p:spPr>
          <a:xfrm>
            <a:off x="612648" y="1691640"/>
            <a:ext cx="3520440" cy="173736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Gap 1 text"/>
          <p:cNvSpPr txBox="1"/>
          <p:nvPr/>
        </p:nvSpPr>
        <p:spPr>
          <a:xfrm>
            <a:off x="841248" y="1874520"/>
            <a:ext cx="3063240" cy="1417320"/>
          </a:xfrm>
          <a:prstGeom prst="rect">
            <a:avLst/>
          </a:prstGeom>
          <a:noFill/>
        </p:spPr>
        <p:txBody>
          <a:bodyPr wrap="square" lIns="0" rIns="0" tIns="0" bIns="0" anchor="t">
            <a:spAutoFit/>
          </a:bodyPr>
          <a:lstStyle/>
          <a:p>
            <a:pPr algn="l">
              <a:spcAft>
                <a:spcPts val="600"/>
              </a:spcAft>
            </a:pPr>
            <a:r>
              <a:rPr sz="1800" b="1" i="0">
                <a:solidFill>
                  <a:srgbClr val="E94E24"/>
                </a:solidFill>
                <a:latin typeface="Encode Sans Expanded"/>
              </a:rPr>
              <a:t>1  </a:t>
            </a:r>
            <a:r>
              <a:rPr sz="1400" b="1" i="0">
                <a:solidFill>
                  <a:srgbClr val="243782"/>
                </a:solidFill>
                <a:latin typeface="Encode Sans Expanded"/>
              </a:rPr>
              <a:t>No organising idea</a:t>
            </a:r>
          </a:p>
          <a:p>
            <a:pPr algn="l">
              <a:spcAft>
                <a:spcPts val="0"/>
              </a:spcAft>
            </a:pPr>
            <a:r>
              <a:rPr sz="1300" b="0" i="0">
                <a:solidFill>
                  <a:srgbClr val="272B35"/>
                </a:solidFill>
                <a:latin typeface="Encode Sans ExpandedLight"/>
              </a:rPr>
              <a:t>Stakeholder lists and technical pillars are not a story.</a:t>
            </a:r>
          </a:p>
        </p:txBody>
      </p:sp>
      <p:sp>
        <p:nvSpPr>
          <p:cNvPr id="9" name="Gap 2"/>
          <p:cNvSpPr/>
          <p:nvPr/>
        </p:nvSpPr>
        <p:spPr>
          <a:xfrm>
            <a:off x="4334256" y="1691640"/>
            <a:ext cx="3520440" cy="173736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Gap 2 text"/>
          <p:cNvSpPr txBox="1"/>
          <p:nvPr/>
        </p:nvSpPr>
        <p:spPr>
          <a:xfrm>
            <a:off x="4562856" y="1874520"/>
            <a:ext cx="3063240" cy="1417320"/>
          </a:xfrm>
          <a:prstGeom prst="rect">
            <a:avLst/>
          </a:prstGeom>
          <a:noFill/>
        </p:spPr>
        <p:txBody>
          <a:bodyPr wrap="square" lIns="0" rIns="0" tIns="0" bIns="0" anchor="t">
            <a:spAutoFit/>
          </a:bodyPr>
          <a:lstStyle/>
          <a:p>
            <a:pPr algn="l">
              <a:spcAft>
                <a:spcPts val="600"/>
              </a:spcAft>
            </a:pPr>
            <a:r>
              <a:rPr sz="1800" b="1" i="0">
                <a:solidFill>
                  <a:srgbClr val="E94E24"/>
                </a:solidFill>
                <a:latin typeface="Encode Sans Expanded"/>
              </a:rPr>
              <a:t>2  </a:t>
            </a:r>
            <a:r>
              <a:rPr sz="1400" b="1" i="0">
                <a:solidFill>
                  <a:srgbClr val="243782"/>
                </a:solidFill>
                <a:latin typeface="Encode Sans Expanded"/>
              </a:rPr>
              <a:t>Broken consistency</a:t>
            </a:r>
          </a:p>
          <a:p>
            <a:pPr algn="l">
              <a:spcAft>
                <a:spcPts val="0"/>
              </a:spcAft>
            </a:pPr>
            <a:r>
              <a:rPr sz="1300" b="0" i="0">
                <a:solidFill>
                  <a:srgbClr val="272B35"/>
                </a:solidFill>
                <a:latin typeface="Encode Sans ExpandedLight"/>
              </a:rPr>
              <a:t>Two net zero years online; local sites keep the old content.</a:t>
            </a:r>
          </a:p>
        </p:txBody>
      </p:sp>
      <p:sp>
        <p:nvSpPr>
          <p:cNvPr id="11" name="Gap 3"/>
          <p:cNvSpPr/>
          <p:nvPr/>
        </p:nvSpPr>
        <p:spPr>
          <a:xfrm>
            <a:off x="8055864" y="1691640"/>
            <a:ext cx="3520440" cy="173736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Gap 3 text"/>
          <p:cNvSpPr txBox="1"/>
          <p:nvPr/>
        </p:nvSpPr>
        <p:spPr>
          <a:xfrm>
            <a:off x="8284464" y="1874520"/>
            <a:ext cx="3063240" cy="1417320"/>
          </a:xfrm>
          <a:prstGeom prst="rect">
            <a:avLst/>
          </a:prstGeom>
          <a:noFill/>
        </p:spPr>
        <p:txBody>
          <a:bodyPr wrap="square" lIns="0" rIns="0" tIns="0" bIns="0" anchor="t">
            <a:spAutoFit/>
          </a:bodyPr>
          <a:lstStyle/>
          <a:p>
            <a:pPr algn="l">
              <a:spcAft>
                <a:spcPts val="600"/>
              </a:spcAft>
            </a:pPr>
            <a:r>
              <a:rPr sz="1800" b="1" i="0">
                <a:solidFill>
                  <a:srgbClr val="E94E24"/>
                </a:solidFill>
                <a:latin typeface="Encode Sans Expanded"/>
              </a:rPr>
              <a:t>3  </a:t>
            </a:r>
            <a:r>
              <a:rPr sz="1400" b="1" i="0">
                <a:solidFill>
                  <a:srgbClr val="243782"/>
                </a:solidFill>
                <a:latin typeface="Encode Sans Expanded"/>
              </a:rPr>
              <a:t>FaSTLAne disconnected</a:t>
            </a:r>
          </a:p>
          <a:p>
            <a:pPr algn="l">
              <a:spcAft>
                <a:spcPts val="0"/>
              </a:spcAft>
            </a:pPr>
            <a:r>
              <a:rPr sz="1300" b="0" i="0">
                <a:solidFill>
                  <a:srgbClr val="272B35"/>
                </a:solidFill>
                <a:latin typeface="Encode Sans ExpandedLight"/>
              </a:rPr>
              <a:t>It does not explain why a multi-energy plan can be sustainable.</a:t>
            </a:r>
          </a:p>
        </p:txBody>
      </p:sp>
      <p:sp>
        <p:nvSpPr>
          <p:cNvPr id="13" name="Gap 4"/>
          <p:cNvSpPr/>
          <p:nvPr/>
        </p:nvSpPr>
        <p:spPr>
          <a:xfrm>
            <a:off x="612648" y="3611880"/>
            <a:ext cx="3520440" cy="173736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Gap 4 text"/>
          <p:cNvSpPr txBox="1"/>
          <p:nvPr/>
        </p:nvSpPr>
        <p:spPr>
          <a:xfrm>
            <a:off x="841248" y="3794760"/>
            <a:ext cx="3063240" cy="1417320"/>
          </a:xfrm>
          <a:prstGeom prst="rect">
            <a:avLst/>
          </a:prstGeom>
          <a:noFill/>
        </p:spPr>
        <p:txBody>
          <a:bodyPr wrap="square" lIns="0" rIns="0" tIns="0" bIns="0" anchor="t">
            <a:spAutoFit/>
          </a:bodyPr>
          <a:lstStyle/>
          <a:p>
            <a:pPr algn="l">
              <a:spcAft>
                <a:spcPts val="600"/>
              </a:spcAft>
            </a:pPr>
            <a:r>
              <a:rPr sz="1800" b="1" i="0">
                <a:solidFill>
                  <a:srgbClr val="E94E24"/>
                </a:solidFill>
                <a:latin typeface="Encode Sans Expanded"/>
              </a:rPr>
              <a:t>4  </a:t>
            </a:r>
            <a:r>
              <a:rPr sz="1400" b="1" i="0">
                <a:solidFill>
                  <a:srgbClr val="243782"/>
                </a:solidFill>
                <a:latin typeface="Encode Sans Expanded"/>
              </a:rPr>
              <a:t>No “why”</a:t>
            </a:r>
          </a:p>
          <a:p>
            <a:pPr algn="l">
              <a:spcAft>
                <a:spcPts val="0"/>
              </a:spcAft>
            </a:pPr>
            <a:r>
              <a:rPr sz="1300" b="0" i="0">
                <a:solidFill>
                  <a:srgbClr val="272B35"/>
                </a:solidFill>
                <a:latin typeface="Encode Sans ExpandedLight"/>
              </a:rPr>
              <a:t>The reset is there; a first-person explanation is not.</a:t>
            </a:r>
          </a:p>
        </p:txBody>
      </p:sp>
      <p:sp>
        <p:nvSpPr>
          <p:cNvPr id="15" name="Gap 5"/>
          <p:cNvSpPr/>
          <p:nvPr/>
        </p:nvSpPr>
        <p:spPr>
          <a:xfrm>
            <a:off x="4334256" y="3611880"/>
            <a:ext cx="3520440" cy="173736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Gap 5 text"/>
          <p:cNvSpPr txBox="1"/>
          <p:nvPr/>
        </p:nvSpPr>
        <p:spPr>
          <a:xfrm>
            <a:off x="4562856" y="3794760"/>
            <a:ext cx="3063240" cy="1417320"/>
          </a:xfrm>
          <a:prstGeom prst="rect">
            <a:avLst/>
          </a:prstGeom>
          <a:noFill/>
        </p:spPr>
        <p:txBody>
          <a:bodyPr wrap="square" lIns="0" rIns="0" tIns="0" bIns="0" anchor="t">
            <a:spAutoFit/>
          </a:bodyPr>
          <a:lstStyle/>
          <a:p>
            <a:pPr algn="l">
              <a:spcAft>
                <a:spcPts val="600"/>
              </a:spcAft>
            </a:pPr>
            <a:r>
              <a:rPr sz="1800" b="1" i="0">
                <a:solidFill>
                  <a:srgbClr val="E94E24"/>
                </a:solidFill>
                <a:latin typeface="Encode Sans Expanded"/>
              </a:rPr>
              <a:t>5  </a:t>
            </a:r>
            <a:r>
              <a:rPr sz="1400" b="1" i="0">
                <a:solidFill>
                  <a:srgbClr val="243782"/>
                </a:solidFill>
                <a:latin typeface="Encode Sans Expanded"/>
              </a:rPr>
              <a:t>HR story underused</a:t>
            </a:r>
          </a:p>
          <a:p>
            <a:pPr algn="l">
              <a:spcAft>
                <a:spcPts val="0"/>
              </a:spcAft>
            </a:pPr>
            <a:r>
              <a:rPr sz="1300" b="0" i="0">
                <a:solidFill>
                  <a:srgbClr val="272B35"/>
                </a:solidFill>
                <a:latin typeface="Encode Sans ExpandedLight"/>
              </a:rPr>
              <a:t>Motor Citizens (6,000 colleagues, 23,000 hours in 2024) and Shares to Win stay on the margins.</a:t>
            </a:r>
          </a:p>
        </p:txBody>
      </p:sp>
      <p:sp>
        <p:nvSpPr>
          <p:cNvPr id="17" name="Gap 6"/>
          <p:cNvSpPr/>
          <p:nvPr/>
        </p:nvSpPr>
        <p:spPr>
          <a:xfrm>
            <a:off x="8055864" y="3611880"/>
            <a:ext cx="3520440" cy="173736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Gap 6 text"/>
          <p:cNvSpPr txBox="1"/>
          <p:nvPr/>
        </p:nvSpPr>
        <p:spPr>
          <a:xfrm>
            <a:off x="8284464" y="3794760"/>
            <a:ext cx="3063240" cy="1417320"/>
          </a:xfrm>
          <a:prstGeom prst="rect">
            <a:avLst/>
          </a:prstGeom>
          <a:noFill/>
        </p:spPr>
        <p:txBody>
          <a:bodyPr wrap="square" lIns="0" rIns="0" tIns="0" bIns="0" anchor="t">
            <a:spAutoFit/>
          </a:bodyPr>
          <a:lstStyle/>
          <a:p>
            <a:pPr algn="l">
              <a:spcAft>
                <a:spcPts val="600"/>
              </a:spcAft>
            </a:pPr>
            <a:r>
              <a:rPr sz="1800" b="1" i="0">
                <a:solidFill>
                  <a:srgbClr val="E94E24"/>
                </a:solidFill>
                <a:latin typeface="Encode Sans Expanded"/>
              </a:rPr>
              <a:t>6  </a:t>
            </a:r>
            <a:r>
              <a:rPr sz="1400" b="1" i="0">
                <a:solidFill>
                  <a:srgbClr val="243782"/>
                </a:solidFill>
                <a:latin typeface="Encode Sans Expanded"/>
              </a:rPr>
              <a:t>Reputation not helped</a:t>
            </a:r>
          </a:p>
          <a:p>
            <a:pPr algn="l">
              <a:spcAft>
                <a:spcPts val="0"/>
              </a:spcAft>
            </a:pPr>
            <a:r>
              <a:rPr sz="1300" b="0" i="0">
                <a:solidFill>
                  <a:srgbClr val="272B35"/>
                </a:solidFill>
                <a:latin typeface="Encode Sans ExpandedLight"/>
              </a:rPr>
              <a:t>Falling indices say sustainability is not an asset of the story today.</a:t>
            </a:r>
          </a:p>
        </p:txBody>
      </p:sp>
      <p:sp>
        <p:nvSpPr>
          <p:cNvPr id="19" name="EmpCo note"/>
          <p:cNvSpPr txBox="1"/>
          <p:nvPr/>
        </p:nvSpPr>
        <p:spPr>
          <a:xfrm>
            <a:off x="612648" y="5623560"/>
            <a:ext cx="10972800" cy="548640"/>
          </a:xfrm>
          <a:prstGeom prst="rect">
            <a:avLst/>
          </a:prstGeom>
          <a:noFill/>
        </p:spPr>
        <p:txBody>
          <a:bodyPr wrap="square" lIns="0" rIns="0" tIns="0" bIns="0" anchor="t">
            <a:spAutoFit/>
          </a:bodyPr>
          <a:lstStyle/>
          <a:p>
            <a:pPr algn="l">
              <a:spcAft>
                <a:spcPts val="0"/>
              </a:spcAft>
            </a:pPr>
            <a:r>
              <a:rPr sz="1300" b="1" i="0">
                <a:solidFill>
                  <a:srgbClr val="243782"/>
                </a:solidFill>
                <a:latin typeface="Encode Sans Expanded"/>
              </a:rPr>
              <a:t>EmpCo adds urgency: “net zero 2050” and SUSTAINera's “up to 80%/50%” claims need a public plan and specific proof.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Design principles</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1024128"/>
            <a:ext cx="10972800" cy="548640"/>
          </a:xfrm>
          <a:prstGeom prst="rect">
            <a:avLst/>
          </a:prstGeom>
          <a:noFill/>
        </p:spPr>
        <p:txBody>
          <a:bodyPr wrap="square" lIns="0" rIns="0" tIns="0" bIns="0" anchor="t">
            <a:spAutoFit/>
          </a:bodyPr>
          <a:lstStyle/>
          <a:p>
            <a:pPr algn="l">
              <a:spcAft>
                <a:spcPts val="0"/>
              </a:spcAft>
            </a:pPr>
            <a:r>
              <a:rPr sz="2200" b="1" i="0">
                <a:solidFill>
                  <a:srgbClr val="243782"/>
                </a:solidFill>
                <a:latin typeface="Encode Sans Expanded"/>
              </a:rPr>
              <a:t>Four principles for touchpoint-based communication</a:t>
            </a:r>
          </a:p>
        </p:txBody>
      </p:sp>
      <p:sp>
        <p:nvSpPr>
          <p:cNvPr id="7" name="Principle 01"/>
          <p:cNvSpPr/>
          <p:nvPr/>
        </p:nvSpPr>
        <p:spPr>
          <a:xfrm>
            <a:off x="612648" y="1783080"/>
            <a:ext cx="5394960" cy="17830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rinciple 01 badge"/>
          <p:cNvSpPr/>
          <p:nvPr/>
        </p:nvSpPr>
        <p:spPr>
          <a:xfrm>
            <a:off x="886968" y="2057400"/>
            <a:ext cx="685800" cy="685800"/>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800" b="1" i="0">
                <a:solidFill>
                  <a:srgbClr val="FFFFFF"/>
                </a:solidFill>
                <a:latin typeface="Encode Sans Expanded"/>
              </a:rPr>
              <a:t>01</a:t>
            </a:r>
          </a:p>
        </p:txBody>
      </p:sp>
      <p:sp>
        <p:nvSpPr>
          <p:cNvPr id="9" name="Principle 01 text"/>
          <p:cNvSpPr txBox="1"/>
          <p:nvPr/>
        </p:nvSpPr>
        <p:spPr>
          <a:xfrm>
            <a:off x="1801368" y="2057400"/>
            <a:ext cx="3977639" cy="1600200"/>
          </a:xfrm>
          <a:prstGeom prst="rect">
            <a:avLst/>
          </a:prstGeom>
          <a:noFill/>
        </p:spPr>
        <p:txBody>
          <a:bodyPr wrap="square" lIns="0" rIns="0" tIns="0" bIns="0" anchor="t">
            <a:spAutoFit/>
          </a:bodyPr>
          <a:lstStyle/>
          <a:p>
            <a:pPr algn="l">
              <a:spcAft>
                <a:spcPts val="600"/>
              </a:spcAft>
            </a:pPr>
            <a:r>
              <a:rPr sz="1600" b="1" i="0">
                <a:solidFill>
                  <a:srgbClr val="243782"/>
                </a:solidFill>
                <a:latin typeface="Encode Sans Expanded"/>
              </a:rPr>
              <a:t>Proof at the moment of choice</a:t>
            </a:r>
          </a:p>
          <a:p>
            <a:pPr algn="l">
              <a:spcAft>
                <a:spcPts val="0"/>
              </a:spcAft>
            </a:pPr>
            <a:r>
              <a:rPr sz="1400" b="0" i="0">
                <a:solidFill>
                  <a:srgbClr val="272B35"/>
                </a:solidFill>
                <a:latin typeface="Encode Sans ExpandedLight"/>
              </a:rPr>
              <a:t>Navigation, configurator, parts counter, energy contract (Google Maps, Back Market, Renault V2G).</a:t>
            </a:r>
          </a:p>
        </p:txBody>
      </p:sp>
      <p:sp>
        <p:nvSpPr>
          <p:cNvPr id="10" name="Principle 02"/>
          <p:cNvSpPr/>
          <p:nvPr/>
        </p:nvSpPr>
        <p:spPr>
          <a:xfrm>
            <a:off x="6190488" y="1783080"/>
            <a:ext cx="5394960" cy="17830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rinciple 02 badge"/>
          <p:cNvSpPr/>
          <p:nvPr/>
        </p:nvSpPr>
        <p:spPr>
          <a:xfrm>
            <a:off x="6464807" y="2057400"/>
            <a:ext cx="685800" cy="685800"/>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800" b="1" i="0">
                <a:solidFill>
                  <a:srgbClr val="FFFFFF"/>
                </a:solidFill>
                <a:latin typeface="Encode Sans Expanded"/>
              </a:rPr>
              <a:t>02</a:t>
            </a:r>
          </a:p>
        </p:txBody>
      </p:sp>
      <p:sp>
        <p:nvSpPr>
          <p:cNvPr id="12" name="Principle 02 text"/>
          <p:cNvSpPr txBox="1"/>
          <p:nvPr/>
        </p:nvSpPr>
        <p:spPr>
          <a:xfrm>
            <a:off x="7379208" y="2057400"/>
            <a:ext cx="3977639" cy="1600200"/>
          </a:xfrm>
          <a:prstGeom prst="rect">
            <a:avLst/>
          </a:prstGeom>
          <a:noFill/>
        </p:spPr>
        <p:txBody>
          <a:bodyPr wrap="square" lIns="0" rIns="0" tIns="0" bIns="0" anchor="t">
            <a:spAutoFit/>
          </a:bodyPr>
          <a:lstStyle/>
          <a:p>
            <a:pPr algn="l">
              <a:spcAft>
                <a:spcPts val="600"/>
              </a:spcAft>
            </a:pPr>
            <a:r>
              <a:rPr sz="1600" b="1" i="0">
                <a:solidFill>
                  <a:srgbClr val="243782"/>
                </a:solidFill>
                <a:latin typeface="Encode Sans Expanded"/>
              </a:rPr>
              <a:t>One programme, one object, one link</a:t>
            </a:r>
          </a:p>
          <a:p>
            <a:pPr algn="l">
              <a:spcAft>
                <a:spcPts val="0"/>
              </a:spcAft>
            </a:pPr>
            <a:r>
              <a:rPr sz="1400" b="0" i="0">
                <a:solidFill>
                  <a:srgbClr val="272B35"/>
                </a:solidFill>
                <a:latin typeface="Encode Sans ExpandedLight"/>
              </a:rPr>
              <a:t>Every commitment becomes an artefact with a QR code to verifiable data (Kia, Hyundai Motorstudio, L'Oréal).</a:t>
            </a:r>
          </a:p>
        </p:txBody>
      </p:sp>
      <p:sp>
        <p:nvSpPr>
          <p:cNvPr id="13" name="Principle 03"/>
          <p:cNvSpPr/>
          <p:nvPr/>
        </p:nvSpPr>
        <p:spPr>
          <a:xfrm>
            <a:off x="612648" y="3749039"/>
            <a:ext cx="5394960" cy="17830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rinciple 03 badge"/>
          <p:cNvSpPr/>
          <p:nvPr/>
        </p:nvSpPr>
        <p:spPr>
          <a:xfrm>
            <a:off x="886968" y="4023359"/>
            <a:ext cx="685800" cy="685800"/>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800" b="1" i="0">
                <a:solidFill>
                  <a:srgbClr val="FFFFFF"/>
                </a:solidFill>
                <a:latin typeface="Encode Sans Expanded"/>
              </a:rPr>
              <a:t>03</a:t>
            </a:r>
          </a:p>
        </p:txBody>
      </p:sp>
      <p:sp>
        <p:nvSpPr>
          <p:cNvPr id="15" name="Principle 03 text"/>
          <p:cNvSpPr txBox="1"/>
          <p:nvPr/>
        </p:nvSpPr>
        <p:spPr>
          <a:xfrm>
            <a:off x="1801368" y="4023359"/>
            <a:ext cx="3977639" cy="1600200"/>
          </a:xfrm>
          <a:prstGeom prst="rect">
            <a:avLst/>
          </a:prstGeom>
          <a:noFill/>
        </p:spPr>
        <p:txBody>
          <a:bodyPr wrap="square" lIns="0" rIns="0" tIns="0" bIns="0" anchor="t">
            <a:spAutoFit/>
          </a:bodyPr>
          <a:lstStyle/>
          <a:p>
            <a:pPr algn="l">
              <a:spcAft>
                <a:spcPts val="600"/>
              </a:spcAft>
            </a:pPr>
            <a:r>
              <a:rPr sz="1600" b="1" i="0">
                <a:solidFill>
                  <a:srgbClr val="243782"/>
                </a:solidFill>
                <a:latin typeface="Encode Sans Expanded"/>
              </a:rPr>
              <a:t>Euros, kilometres and kilos, not adjectives</a:t>
            </a:r>
          </a:p>
          <a:p>
            <a:pPr algn="l">
              <a:spcAft>
                <a:spcPts val="0"/>
              </a:spcAft>
            </a:pPr>
            <a:r>
              <a:rPr sz="1400" b="0" i="0">
                <a:solidFill>
                  <a:srgbClr val="272B35"/>
                </a:solidFill>
                <a:latin typeface="Encode Sans ExpandedLight"/>
              </a:rPr>
              <a:t>It holds under EmpCo, works for every FaSTLAne powertrain and does not depend on the net zero date.</a:t>
            </a:r>
          </a:p>
        </p:txBody>
      </p:sp>
      <p:sp>
        <p:nvSpPr>
          <p:cNvPr id="16" name="Principle 04"/>
          <p:cNvSpPr/>
          <p:nvPr/>
        </p:nvSpPr>
        <p:spPr>
          <a:xfrm>
            <a:off x="6190488" y="3749039"/>
            <a:ext cx="5394960" cy="17830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rinciple 04 badge"/>
          <p:cNvSpPr/>
          <p:nvPr/>
        </p:nvSpPr>
        <p:spPr>
          <a:xfrm>
            <a:off x="6464807" y="4023359"/>
            <a:ext cx="685800" cy="685800"/>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800" b="1" i="0">
                <a:solidFill>
                  <a:srgbClr val="FFFFFF"/>
                </a:solidFill>
                <a:latin typeface="Encode Sans Expanded"/>
              </a:rPr>
              <a:t>04</a:t>
            </a:r>
          </a:p>
        </p:txBody>
      </p:sp>
      <p:sp>
        <p:nvSpPr>
          <p:cNvPr id="18" name="Principle 04 text"/>
          <p:cNvSpPr txBox="1"/>
          <p:nvPr/>
        </p:nvSpPr>
        <p:spPr>
          <a:xfrm>
            <a:off x="7379208" y="4023359"/>
            <a:ext cx="3977639" cy="1600200"/>
          </a:xfrm>
          <a:prstGeom prst="rect">
            <a:avLst/>
          </a:prstGeom>
          <a:noFill/>
        </p:spPr>
        <p:txBody>
          <a:bodyPr wrap="square" lIns="0" rIns="0" tIns="0" bIns="0" anchor="t">
            <a:spAutoFit/>
          </a:bodyPr>
          <a:lstStyle/>
          <a:p>
            <a:pPr algn="l">
              <a:spcAft>
                <a:spcPts val="600"/>
              </a:spcAft>
            </a:pPr>
            <a:r>
              <a:rPr sz="1600" b="1" i="0">
                <a:solidFill>
                  <a:srgbClr val="243782"/>
                </a:solidFill>
                <a:latin typeface="Encode Sans Expanded"/>
              </a:rPr>
              <a:t>Long platform, local chapters, people</a:t>
            </a:r>
          </a:p>
          <a:p>
            <a:pPr algn="l">
              <a:spcAft>
                <a:spcPts val="0"/>
              </a:spcAft>
            </a:pPr>
            <a:r>
              <a:rPr sz="1400" b="0" i="0">
                <a:solidFill>
                  <a:srgbClr val="272B35"/>
                </a:solidFill>
                <a:latin typeface="Encode Sans ExpandedLight"/>
              </a:rPr>
              <a:t>A multi-year frame renewed by each brand and market, told by technicians and employees.</a:t>
            </a:r>
          </a:p>
        </p:txBody>
      </p:sp>
      <p:sp>
        <p:nvSpPr>
          <p:cNvPr id="19" name="Footnote"/>
          <p:cNvSpPr txBox="1"/>
          <p:nvPr/>
        </p:nvSpPr>
        <p:spPr>
          <a:xfrm>
            <a:off x="612648" y="6382512"/>
            <a:ext cx="10241280" cy="274320"/>
          </a:xfrm>
          <a:prstGeom prst="rect">
            <a:avLst/>
          </a:prstGeom>
          <a:noFill/>
        </p:spPr>
        <p:txBody>
          <a:bodyPr wrap="square" lIns="0" rIns="0" tIns="0" bIns="0" anchor="t">
            <a:spAutoFit/>
          </a:bodyPr>
          <a:lstStyle/>
          <a:p>
            <a:pPr algn="l">
              <a:spcAft>
                <a:spcPts val="0"/>
              </a:spcAft>
            </a:pPr>
            <a:r>
              <a:rPr sz="900" b="0" i="1">
                <a:solidFill>
                  <a:srgbClr val="5E6370"/>
                </a:solidFill>
                <a:latin typeface="Encode Sans ExpandedLight"/>
              </a:rPr>
              <a:t>From the companion benchmark on sustainability touchpoints.</a:t>
            </a:r>
          </a:p>
        </p:txBody>
      </p:sp>
    </p:spTree>
  </p:cSld>
  <p:clrMapOvr>
    <a:masterClrMapping/>
  </p:clrMapOvr>
</p:sld>
</file>

<file path=ppt/theme/theme1.xml><?xml version="1.0" encoding="utf-8"?>
<a:theme xmlns:a="http://schemas.openxmlformats.org/drawingml/2006/main" name="1_Stellantis - Chapter blue">
  <a:themeElements>
    <a:clrScheme name="Stellantis">
      <a:dk1>
        <a:srgbClr val="272B35"/>
      </a:dk1>
      <a:lt1>
        <a:sysClr val="window" lastClr="FFFFFF"/>
      </a:lt1>
      <a:dk2>
        <a:srgbClr val="243782"/>
      </a:dk2>
      <a:lt2>
        <a:srgbClr val="EEECE1"/>
      </a:lt2>
      <a:accent1>
        <a:srgbClr val="243782"/>
      </a:accent1>
      <a:accent2>
        <a:srgbClr val="E94E24"/>
      </a:accent2>
      <a:accent3>
        <a:srgbClr val="00ADA0"/>
      </a:accent3>
      <a:accent4>
        <a:srgbClr val="F7A600"/>
      </a:accent4>
      <a:accent5>
        <a:srgbClr val="272B35"/>
      </a:accent5>
      <a:accent6>
        <a:srgbClr val="00DDCD"/>
      </a:accent6>
      <a:hlink>
        <a:srgbClr val="243782"/>
      </a:hlink>
      <a:folHlink>
        <a:srgbClr val="272B35"/>
      </a:folHlink>
    </a:clrScheme>
    <a:fontScheme name="Stellantis PowerPoint">
      <a:majorFont>
        <a:latin typeface="Encode Sans ExpandedSemiBold"/>
        <a:ea typeface=""/>
        <a:cs typeface=""/>
      </a:majorFont>
      <a:minorFont>
        <a:latin typeface="Encode Sans Expanded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ellantis MAJ Template PowerPoint 16-9 v6.potx" id="{6D4861F8-6CFD-4766-879B-EB53A8634C9E}" vid="{29660903-2CB7-4750-896F-355319F97F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ada0a2f-b917-4d51-b0d0-d418a10c8b23}" enabled="1" method="Standard" siteId="{12a3af23-a769-4654-847f-958f3d479f4a}" contentBits="0" removed="0"/>
</clbl:labelList>
</file>

<file path=docProps/app.xml><?xml version="1.0" encoding="utf-8"?>
<Properties xmlns="http://schemas.openxmlformats.org/officeDocument/2006/extended-properties" xmlns:vt="http://schemas.openxmlformats.org/officeDocument/2006/docPropsVTypes">
  <TotalTime>3</TotalTime>
  <Words>88</Words>
  <Application>Microsoft Macintosh PowerPoint</Application>
  <PresentationFormat>Widescreen</PresentationFormat>
  <Paragraphs>56</Paragraphs>
  <Slides>6</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vt:i4>
      </vt:variant>
    </vt:vector>
  </HeadingPairs>
  <TitlesOfParts>
    <vt:vector size="19" baseType="lpstr">
      <vt:lpstr>Aptos</vt:lpstr>
      <vt:lpstr>Arial</vt:lpstr>
      <vt:lpstr>Calibri</vt:lpstr>
      <vt:lpstr>Encode Sans</vt:lpstr>
      <vt:lpstr>Encode Sans Expanded</vt:lpstr>
      <vt:lpstr>Encode Sans Expanded Expanded</vt:lpstr>
      <vt:lpstr>Encode Sans Expanded Expanded L</vt:lpstr>
      <vt:lpstr>Encode Sans Expanded Expanded S</vt:lpstr>
      <vt:lpstr>Encode Sans Expanded Light</vt:lpstr>
      <vt:lpstr>Encode Sans ExpandedLight</vt:lpstr>
      <vt:lpstr>Encode Sans ExpandedSemiBold</vt:lpstr>
      <vt:lpstr>Work Sans SemiBold</vt:lpstr>
      <vt:lpstr>1_Stellantis - Chapter blue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Belluardo,Gabriele,ES-Esplugues Llobregat</dc:creator>
  <cp:lastModifiedBy>Belluardo,Gabriele,ES-Esplugues Llobregat</cp:lastModifiedBy>
  <cp:revision>1</cp:revision>
  <dcterms:created xsi:type="dcterms:W3CDTF">2026-10-14T10:14:03Z</dcterms:created>
  <dcterms:modified xsi:type="dcterms:W3CDTF">2026-10-14T10:17:26Z</dcterms:modified>
</cp:coreProperties>
</file>